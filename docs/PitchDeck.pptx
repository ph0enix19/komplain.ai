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 type="screen4x3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AU" sz="1300" b="0" i="0" u="none" strike="noStrike" kern="1200">
                <a:solidFill>
                  <a:srgbClr val="000000"/>
                </a:solidFill>
                <a:latin typeface="Arial" charset="0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 charset="0"/>
              </a:rPr>
              <a:t>Before vs After</a:t>
            </a:r>
            <a:endParaRPr sz="1300" b="0" i="0" u="none" strike="noStrike">
              <a:solidFill>
                <a:srgbClr val="000000"/>
              </a:solidFill>
              <a:latin typeface="Arial" charset="0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 Process (min)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AU" sz="1200" b="0" i="0" u="none" strike="noStrike" kern="1200">
                    <a:solidFill>
                      <a:srgbClr val="000000"/>
                    </a:solidFill>
                    <a:latin typeface="Arial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Resolution Time</c:v>
                </c:pt>
                <c:pt idx="1">
                  <c:v>Bilingual Reply</c:v>
                </c:pt>
                <c:pt idx="2">
                  <c:v>Auto-Resolved %</c:v>
                </c:pt>
                <c:pt idx="3">
                  <c:v>Avg Confidence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4</c:v>
                </c:pt>
                <c:pt idx="2">
                  <c:v>60</c:v>
                </c:pt>
                <c:pt idx="3">
                  <c:v>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Komplain.ai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AU" sz="1200" b="0" i="0" u="none" strike="noStrike" kern="1200">
                    <a:solidFill>
                      <a:srgbClr val="000000"/>
                    </a:solidFill>
                    <a:latin typeface="Arial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Resolution Time</c:v>
                </c:pt>
                <c:pt idx="1">
                  <c:v>Bilingual Reply</c:v>
                </c:pt>
                <c:pt idx="2">
                  <c:v>Auto-Resolved %</c:v>
                </c:pt>
                <c:pt idx="3">
                  <c:v>Avg Confidence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0.75</c:v>
                </c:pt>
                <c:pt idx="1">
                  <c:v>0.5</c:v>
                </c:pt>
                <c:pt idx="2">
                  <c:v>87</c:v>
                </c:pt>
                <c:pt idx="3">
                  <c:v>0.87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AU" sz="1200" b="0" i="0" u="none" strike="noStrike" kern="1200">
                <a:solidFill>
                  <a:srgbClr val="374151"/>
                </a:solidFill>
                <a:latin typeface="Arial" charset="0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AU" sz="1200" b="0" i="0" u="none" strike="noStrike" kern="1200">
                <a:solidFill>
                  <a:srgbClr val="374151"/>
                </a:solidFill>
                <a:latin typeface="Arial" charset="0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AU" sz="1000" kern="120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</c:chart>
  <c:spPr>
    <a:solidFill>
      <a:srgbClr val="F8FAFC"/>
    </a:solidFill>
    <a:ln>
      <a:noFill/>
    </a:ln>
    <a:effectLst/>
  </c:spPr>
  <c:txPr>
    <a:bodyPr/>
    <a:lstStyle/>
    <a:p>
      <a:pPr>
        <a:defRPr lang="en-AU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8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3.png"/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62D4A"/>
          </a:solidFill>
        </p:spPr>
      </p:sp>
      <p:sp>
        <p:nvSpPr>
          <p:cNvPr id="4" name="Shape 2"/>
          <p:cNvSpPr/>
          <p:nvPr/>
        </p:nvSpPr>
        <p:spPr>
          <a:xfrm>
            <a:off x="6583680" y="45720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38912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45720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438912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45720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438912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45720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438912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539496"/>
            <a:ext cx="16459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4471416"/>
            <a:ext cx="16459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0075" y="1303020"/>
            <a:ext cx="1188720" cy="11887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264275" y="2491740"/>
            <a:ext cx="25603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D9488"/>
                </a:solidFill>
              </a:rPr>
              <a:t>AI SYSTEMS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kern="0" spc="100" dirty="0">
                <a:solidFill>
                  <a:srgbClr val="0D9488"/>
                </a:solidFill>
              </a:rPr>
              <a:t>AGENTIC WORKFLOW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kern="0" spc="100" dirty="0">
                <a:solidFill>
                  <a:srgbClr val="0D9488"/>
                </a:solidFill>
              </a:rPr>
              <a:t>AUTOMATION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7200" y="640080"/>
            <a:ext cx="49377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Arial Black" pitchFamily="34" charset="0"/>
                <a:ea typeface="Arial Black" pitchFamily="34" charset="0"/>
                <a:cs typeface="Arial Black" pitchFamily="34" charset="0"/>
              </a:rPr>
              <a:t>KOMPLAIN</a:t>
            </a:r>
            <a:endParaRPr lang="en-US" sz="6800" dirty="0"/>
          </a:p>
        </p:txBody>
      </p:sp>
      <p:sp>
        <p:nvSpPr>
          <p:cNvPr id="17" name="Text 14"/>
          <p:cNvSpPr/>
          <p:nvPr/>
        </p:nvSpPr>
        <p:spPr>
          <a:xfrm>
            <a:off x="5120640" y="621665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0D9488"/>
                </a:solidFill>
                <a:latin typeface="Arial Black" pitchFamily="34" charset="0"/>
                <a:ea typeface="Arial Black" pitchFamily="34" charset="0"/>
                <a:cs typeface="Arial Black" pitchFamily="34" charset="0"/>
              </a:rPr>
              <a:t>.ai</a:t>
            </a:r>
            <a:endParaRPr lang="en-US" sz="6800" dirty="0"/>
          </a:p>
        </p:txBody>
      </p:sp>
      <p:sp>
        <p:nvSpPr>
          <p:cNvPr id="18" name="Text 15"/>
          <p:cNvSpPr/>
          <p:nvPr/>
        </p:nvSpPr>
        <p:spPr>
          <a:xfrm>
            <a:off x="457200" y="169164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CFBF1"/>
                </a:solidFill>
              </a:rPr>
              <a:t>Agentic Customer Complaint Resolution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457200" y="2240280"/>
            <a:ext cx="53035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2377440"/>
            <a:ext cx="5486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From raw complaint text to approved bilingual resolution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in under 45 seconds — powered by ILMU GLM-5.1.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7200" y="324612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</p:spPr>
      </p:sp>
      <p:sp>
        <p:nvSpPr>
          <p:cNvPr id="22" name="Text 19"/>
          <p:cNvSpPr/>
          <p:nvPr/>
        </p:nvSpPr>
        <p:spPr>
          <a:xfrm>
            <a:off x="457200" y="3246120"/>
            <a:ext cx="1280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GLM-5.1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1874520" y="324612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3B82F6"/>
          </a:solidFill>
        </p:spPr>
      </p:sp>
      <p:sp>
        <p:nvSpPr>
          <p:cNvPr id="24" name="Text 21"/>
          <p:cNvSpPr/>
          <p:nvPr/>
        </p:nvSpPr>
        <p:spPr>
          <a:xfrm>
            <a:off x="1874520" y="3246120"/>
            <a:ext cx="1280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FastAPI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291840" y="324612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8B5CF6"/>
          </a:solidFill>
        </p:spPr>
      </p:sp>
      <p:sp>
        <p:nvSpPr>
          <p:cNvPr id="26" name="Text 23"/>
          <p:cNvSpPr/>
          <p:nvPr/>
        </p:nvSpPr>
        <p:spPr>
          <a:xfrm>
            <a:off x="3291840" y="3246120"/>
            <a:ext cx="1280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React 18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709160" y="324612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F59E0B"/>
          </a:solidFill>
        </p:spPr>
      </p:sp>
      <p:sp>
        <p:nvSpPr>
          <p:cNvPr id="28" name="Text 25"/>
          <p:cNvSpPr/>
          <p:nvPr/>
        </p:nvSpPr>
        <p:spPr>
          <a:xfrm>
            <a:off x="4709160" y="3246120"/>
            <a:ext cx="1280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Bilingual EN/BM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Hackathon Submission  ·  github.com/Ph0enix19/Komplain.ai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0"/>
                <a:cs typeface="Arial Black" pitchFamily="34" charset="0"/>
              </a:rPr>
              <a:t>THE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CFBF1"/>
                </a:solidFill>
              </a:rPr>
              <a:t>E-commerce support teams are drowning in unstructured complaints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1600200"/>
          </a:xfrm>
          <a:prstGeom prst="rect">
            <a:avLst/>
          </a:prstGeom>
          <a:solidFill>
            <a:srgbClr val="FEF3C7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73152" cy="1600200"/>
          </a:xfrm>
          <a:prstGeom prst="rect">
            <a:avLst/>
          </a:prstGeom>
          <a:solidFill>
            <a:srgbClr val="1E3A5F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26187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1207008"/>
            <a:ext cx="3383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Fragmented Triage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38912" y="1645920"/>
            <a:ext cx="384048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</a:rPr>
              <a:t>Agents manually categorise &amp; route — no standardised system, inconsistent outcomes, missed escalations.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4206240" cy="1600200"/>
          </a:xfrm>
          <a:prstGeom prst="rect">
            <a:avLst/>
          </a:prstGeom>
          <a:solidFill>
            <a:srgbClr val="FEE2E2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97280"/>
            <a:ext cx="73152" cy="1600200"/>
          </a:xfrm>
          <a:prstGeom prst="rect">
            <a:avLst/>
          </a:prstGeom>
          <a:solidFill>
            <a:srgbClr val="1E3A5F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26187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13248" y="1207008"/>
            <a:ext cx="3383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5–15 Min Per Case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919472" y="1645920"/>
            <a:ext cx="384048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</a:rPr>
              <a:t>Manual lookup, deliberation, and bilingual response writing causes SLA breaches during peak volumes.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74320" y="2834640"/>
            <a:ext cx="4206240" cy="1600200"/>
          </a:xfrm>
          <a:prstGeom prst="rect">
            <a:avLst/>
          </a:prstGeom>
          <a:solidFill>
            <a:srgbClr val="EDE9FE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2834640"/>
            <a:ext cx="73152" cy="1600200"/>
          </a:xfrm>
          <a:prstGeom prst="rect">
            <a:avLst/>
          </a:prstGeom>
          <a:solidFill>
            <a:srgbClr val="1E3A5F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999232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2688" y="2944368"/>
            <a:ext cx="3383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No Audit Trail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38912" y="3383280"/>
            <a:ext cx="384048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</a:rPr>
              <a:t>Resolution decisions are undocumented. Supervisors have no visibility into why a refund was issued.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2834640"/>
            <a:ext cx="4206240" cy="1600200"/>
          </a:xfrm>
          <a:prstGeom prst="rect">
            <a:avLst/>
          </a:prstGeom>
          <a:solidFill>
            <a:srgbClr val="DBEAFE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2834640"/>
            <a:ext cx="73152" cy="1600200"/>
          </a:xfrm>
          <a:prstGeom prst="rect">
            <a:avLst/>
          </a:prstGeom>
          <a:solidFill>
            <a:srgbClr val="1E3A5F"/>
          </a:solidFill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999232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13248" y="2944368"/>
            <a:ext cx="3383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Unstructured Inputs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919472" y="3383280"/>
            <a:ext cx="384048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</a:rPr>
              <a:t>Complaints arrive in Manglish, BM, and English — rigid keyword-matching systems misclassify or reject them.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26" name="Text 2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Current average: 8–15 minutes per complaint  ·  Target: under 45 seconds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766E"/>
          </a:solidFill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0"/>
                <a:cs typeface="Arial Black" pitchFamily="34" charset="0"/>
              </a:rPr>
              <a:t>THE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CFBF1"/>
                </a:solidFill>
              </a:rPr>
              <a:t>A 5-agent agentic pipeline powered by ILMU GLM-5.1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11827"/>
                </a:solidFill>
              </a:rPr>
              <a:t>Komplain.ai is an AI copilot for e-commerce support teams that converts raw, unstructured customer messages into structured, auditable, bilingual support outcomes — keeping a human supervisor in the loop for final approval.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2743200" cy="2926080"/>
          </a:xfrm>
          <a:prstGeom prst="rect">
            <a:avLst/>
          </a:prstGeom>
          <a:solidFill>
            <a:srgbClr val="0D9488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0574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69748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Intelligent Triage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" y="3200400"/>
            <a:ext cx="1828800" cy="0"/>
          </a:xfrm>
          <a:prstGeom prst="line">
            <a:avLst/>
          </a:prstGeom>
          <a:noFill/>
          <a:ln w="12700">
            <a:solidFill>
              <a:srgbClr val="CCFB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3291840"/>
            <a:ext cx="24688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CCFBF1"/>
                </a:solidFill>
              </a:rPr>
              <a:t>GLM-5.1 extracts structured fields from free-text in English, BM &amp; Manglish without preprocessing.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1920240"/>
            <a:ext cx="2743200" cy="2926080"/>
          </a:xfrm>
          <a:prstGeom prst="rect">
            <a:avLst/>
          </a:prstGeom>
          <a:solidFill>
            <a:srgbClr val="1E3A5F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05740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46120" y="269748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Adaptive Decisions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3703320" y="3200400"/>
            <a:ext cx="1828800" cy="0"/>
          </a:xfrm>
          <a:prstGeom prst="line">
            <a:avLst/>
          </a:prstGeom>
          <a:noFill/>
          <a:ln w="12700">
            <a:solidFill>
              <a:srgbClr val="CCFBF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383280" y="3291840"/>
            <a:ext cx="24688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CCFBF1"/>
                </a:solidFill>
              </a:rPr>
              <a:t>Policy-based REFUND / RESHIP / CLARIFY / REVIEW decisions with confidence scoring &amp; rationale.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743200" cy="2926080"/>
          </a:xfrm>
          <a:prstGeom prst="rect">
            <a:avLst/>
          </a:prstGeom>
          <a:solidFill>
            <a:srgbClr val="0F766E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205740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269748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Bilingual Output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675120" y="3200400"/>
            <a:ext cx="1828800" cy="0"/>
          </a:xfrm>
          <a:prstGeom prst="line">
            <a:avLst/>
          </a:prstGeom>
          <a:noFill/>
          <a:ln w="12700">
            <a:solidFill>
              <a:srgbClr val="CCFBF1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355080" y="3291840"/>
            <a:ext cx="24688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CCFBF1"/>
                </a:solidFill>
              </a:rPr>
              <a:t>Culturally-appropriate EN + BM customer replies generated simultaneously — not translated.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0"/>
                <a:cs typeface="Arial Black" pitchFamily="34" charset="0"/>
              </a:rPr>
              <a:t>HOW IT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CFBF1"/>
                </a:solidFill>
              </a:rPr>
              <a:t>5-Agent Sequential Pipeline — GLM is the Reasoning Engine at Every Step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627632" cy="3474720"/>
          </a:xfrm>
          <a:prstGeom prst="rect">
            <a:avLst/>
          </a:prstGeom>
          <a:solidFill>
            <a:srgbClr val="0F766E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960120"/>
            <a:ext cx="457200" cy="45720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7" name="Text 5"/>
          <p:cNvSpPr/>
          <p:nvPr/>
        </p:nvSpPr>
        <p:spPr>
          <a:xfrm>
            <a:off x="859536" y="9601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5087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2057400"/>
            <a:ext cx="162763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INTAKE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468880"/>
            <a:ext cx="1261872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2560320"/>
            <a:ext cx="1444752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CCFBF1"/>
                </a:solidFill>
              </a:rPr>
              <a:t>Extracts order ID, complaint type, language, sentiment from raw text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4114800"/>
            <a:ext cx="1078992" cy="25603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3" name="Text 10"/>
          <p:cNvSpPr/>
          <p:nvPr/>
        </p:nvSpPr>
        <p:spPr>
          <a:xfrm>
            <a:off x="548640" y="4114800"/>
            <a:ext cx="107899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</a:rPr>
              <a:t>GLM-DRIVEN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1901952" y="274320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084832" y="1005840"/>
            <a:ext cx="1627632" cy="347472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670048" y="960120"/>
            <a:ext cx="457200" cy="45720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7" name="Text 14"/>
          <p:cNvSpPr/>
          <p:nvPr/>
        </p:nvSpPr>
        <p:spPr>
          <a:xfrm>
            <a:off x="2670048" y="9601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150876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084832" y="2057400"/>
            <a:ext cx="162763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CONTEXT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67712" y="2468880"/>
            <a:ext cx="126187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176272" y="2560320"/>
            <a:ext cx="1444752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Looks up order in DB; GLM synthesises contextual notes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2359152" y="4114800"/>
            <a:ext cx="1078992" cy="256032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23" name="Text 19"/>
          <p:cNvSpPr/>
          <p:nvPr/>
        </p:nvSpPr>
        <p:spPr>
          <a:xfrm>
            <a:off x="2359152" y="4114800"/>
            <a:ext cx="107899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94A3B8"/>
                </a:solidFill>
              </a:rPr>
              <a:t>RULE-BASED</a:t>
            </a:r>
            <a:endParaRPr lang="en-US" sz="700" dirty="0"/>
          </a:p>
        </p:txBody>
      </p:sp>
      <p:sp>
        <p:nvSpPr>
          <p:cNvPr id="24" name="Shape 20"/>
          <p:cNvSpPr/>
          <p:nvPr/>
        </p:nvSpPr>
        <p:spPr>
          <a:xfrm>
            <a:off x="3712464" y="274320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895344" y="1005840"/>
            <a:ext cx="1627632" cy="3474720"/>
          </a:xfrm>
          <a:prstGeom prst="rect">
            <a:avLst/>
          </a:prstGeom>
          <a:solidFill>
            <a:srgbClr val="0F766E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480560" y="960120"/>
            <a:ext cx="457200" cy="45720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27" name="Text 23"/>
          <p:cNvSpPr/>
          <p:nvPr/>
        </p:nvSpPr>
        <p:spPr>
          <a:xfrm>
            <a:off x="4480560" y="9601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508760"/>
            <a:ext cx="457200" cy="4572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895344" y="2057400"/>
            <a:ext cx="162763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REASONING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4078224" y="2468880"/>
            <a:ext cx="1261872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986784" y="2560320"/>
            <a:ext cx="1444752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CCFBF1"/>
                </a:solidFill>
              </a:rPr>
              <a:t>Evaluates complaint + policy → REFUND / RESHIP / CLARIFY / REVIEW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4169664" y="4114800"/>
            <a:ext cx="1078992" cy="25603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3" name="Text 28"/>
          <p:cNvSpPr/>
          <p:nvPr/>
        </p:nvSpPr>
        <p:spPr>
          <a:xfrm>
            <a:off x="4169664" y="4114800"/>
            <a:ext cx="107899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</a:rPr>
              <a:t>GLM-DRIVEN</a:t>
            </a:r>
            <a:endParaRPr lang="en-US" sz="700" dirty="0"/>
          </a:p>
        </p:txBody>
      </p:sp>
      <p:sp>
        <p:nvSpPr>
          <p:cNvPr id="34" name="Shape 29"/>
          <p:cNvSpPr/>
          <p:nvPr/>
        </p:nvSpPr>
        <p:spPr>
          <a:xfrm>
            <a:off x="5522976" y="274320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705856" y="1005840"/>
            <a:ext cx="1627632" cy="3474720"/>
          </a:xfrm>
          <a:prstGeom prst="rect">
            <a:avLst/>
          </a:prstGeom>
          <a:solidFill>
            <a:srgbClr val="0F766E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6291072" y="960120"/>
            <a:ext cx="457200" cy="45720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37" name="Text 32"/>
          <p:cNvSpPr/>
          <p:nvPr/>
        </p:nvSpPr>
        <p:spPr>
          <a:xfrm>
            <a:off x="6291072" y="9601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508760"/>
            <a:ext cx="457200" cy="45720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705856" y="2057400"/>
            <a:ext cx="162763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RESPONSE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5888736" y="2468880"/>
            <a:ext cx="1261872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797296" y="2560320"/>
            <a:ext cx="1444752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CCFBF1"/>
                </a:solidFill>
              </a:rPr>
              <a:t>Drafts bilingual EN + BM customer reply aligned to decision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5980176" y="4114800"/>
            <a:ext cx="1078992" cy="25603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43" name="Text 37"/>
          <p:cNvSpPr/>
          <p:nvPr/>
        </p:nvSpPr>
        <p:spPr>
          <a:xfrm>
            <a:off x="5980176" y="4114800"/>
            <a:ext cx="107899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</a:rPr>
              <a:t>GLM-DRIVEN</a:t>
            </a:r>
            <a:endParaRPr lang="en-US" sz="700" dirty="0"/>
          </a:p>
        </p:txBody>
      </p:sp>
      <p:sp>
        <p:nvSpPr>
          <p:cNvPr id="44" name="Shape 38"/>
          <p:cNvSpPr/>
          <p:nvPr/>
        </p:nvSpPr>
        <p:spPr>
          <a:xfrm>
            <a:off x="7333488" y="274320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7516368" y="1005840"/>
            <a:ext cx="1627632" cy="3474720"/>
          </a:xfrm>
          <a:prstGeom prst="rect">
            <a:avLst/>
          </a:prstGeom>
          <a:solidFill>
            <a:srgbClr val="0F766E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8101584" y="960120"/>
            <a:ext cx="457200" cy="45720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47" name="Text 41"/>
          <p:cNvSpPr/>
          <p:nvPr/>
        </p:nvSpPr>
        <p:spPr>
          <a:xfrm>
            <a:off x="8101584" y="9601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1584" y="1508760"/>
            <a:ext cx="457200" cy="457200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7516368" y="2057400"/>
            <a:ext cx="162763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SUPERVISOR</a:t>
            </a:r>
            <a:endParaRPr lang="en-US" sz="1100" dirty="0"/>
          </a:p>
        </p:txBody>
      </p:sp>
      <p:sp>
        <p:nvSpPr>
          <p:cNvPr id="50" name="Shape 43"/>
          <p:cNvSpPr/>
          <p:nvPr/>
        </p:nvSpPr>
        <p:spPr>
          <a:xfrm>
            <a:off x="7699248" y="2468880"/>
            <a:ext cx="1261872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7607808" y="2560320"/>
            <a:ext cx="1444752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CCFBF1"/>
                </a:solidFill>
              </a:rPr>
              <a:t>Independent validation; confidence flag; escalation priority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7790688" y="4114800"/>
            <a:ext cx="1078992" cy="25603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53" name="Text 46"/>
          <p:cNvSpPr/>
          <p:nvPr/>
        </p:nvSpPr>
        <p:spPr>
          <a:xfrm>
            <a:off x="7790688" y="4114800"/>
            <a:ext cx="107899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</a:rPr>
              <a:t>GLM-DRIVEN</a:t>
            </a:r>
            <a:endParaRPr lang="en-US" sz="700" dirty="0"/>
          </a:p>
        </p:txBody>
      </p:sp>
      <p:sp>
        <p:nvSpPr>
          <p:cNvPr id="54" name="Shape 4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5" name="Text 4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Human-in-the-Loop: Every GLM resolution requires explicit supervisor approval before any reply is dispatched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0"/>
                <a:cs typeface="Arial Black" pitchFamily="34" charset="0"/>
              </a:rPr>
              <a:t>LIVE DEMO SCENARIO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CFBF1"/>
                </a:solidFill>
              </a:rPr>
              <a:t>KM-1042 · Manglish complaint · PROCESSING order · 1 day overdue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777240"/>
          </a:xfrm>
          <a:prstGeom prst="rect">
            <a:avLst/>
          </a:prstGeom>
          <a:solidFill>
            <a:srgbClr val="FEF9C3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73152" cy="7772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7" name="Text 5"/>
          <p:cNvSpPr/>
          <p:nvPr/>
        </p:nvSpPr>
        <p:spPr>
          <a:xfrm>
            <a:off x="457200" y="1115568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374151"/>
                </a:solidFill>
              </a:rPr>
              <a:t>Customer Message: "Hi, my order dah tiga hari tak sampai lagi. I track tapi cakap still processing. Order KM-1042. Boleh refund ke? Very disappointed lah."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320040" cy="320040"/>
          </a:xfrm>
          <a:prstGeom prst="ellipse">
            <a:avLst/>
          </a:prstGeom>
          <a:solidFill>
            <a:srgbClr val="1E3A5F"/>
          </a:solidFill>
        </p:spPr>
      </p:sp>
      <p:sp>
        <p:nvSpPr>
          <p:cNvPr id="9" name="Text 7"/>
          <p:cNvSpPr/>
          <p:nvPr/>
        </p:nvSpPr>
        <p:spPr>
          <a:xfrm>
            <a:off x="658368" y="1965960"/>
            <a:ext cx="10058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09:14:00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1965960"/>
            <a:ext cx="2377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Complaint Submitted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1965960"/>
            <a:ext cx="4754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B5563"/>
                </a:solidFill>
              </a:rPr>
              <a:t>Aishah pastes message into dashboard → pipeline fires instantly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4340" y="2331720"/>
            <a:ext cx="0" cy="22860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320040" cy="320040"/>
          </a:xfrm>
          <a:prstGeom prst="ellipse">
            <a:avLst/>
          </a:prstGeom>
          <a:solidFill>
            <a:srgbClr val="0F766E"/>
          </a:solidFill>
        </p:spPr>
      </p:sp>
      <p:sp>
        <p:nvSpPr>
          <p:cNvPr id="14" name="Text 12"/>
          <p:cNvSpPr/>
          <p:nvPr/>
        </p:nvSpPr>
        <p:spPr>
          <a:xfrm>
            <a:off x="658368" y="2532888"/>
            <a:ext cx="10058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09:14:02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91640" y="2532888"/>
            <a:ext cx="2377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Intake Agent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0" y="2532888"/>
            <a:ext cx="4754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B5563"/>
                </a:solidFill>
              </a:rPr>
              <a:t>Language: Manglish · order_id: KM-1042 · type: DELAYED_DELIVERY · sentiment: negative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4340" y="2898648"/>
            <a:ext cx="0" cy="22860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145536"/>
            <a:ext cx="320040" cy="320040"/>
          </a:xfrm>
          <a:prstGeom prst="ellipse">
            <a:avLst/>
          </a:prstGeom>
          <a:solidFill>
            <a:srgbClr val="0369A1"/>
          </a:solidFill>
        </p:spPr>
      </p:sp>
      <p:sp>
        <p:nvSpPr>
          <p:cNvPr id="19" name="Text 17"/>
          <p:cNvSpPr/>
          <p:nvPr/>
        </p:nvSpPr>
        <p:spPr>
          <a:xfrm>
            <a:off x="658368" y="3099816"/>
            <a:ext cx="10058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09:14:04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91640" y="3099816"/>
            <a:ext cx="2377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Context Agent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3099816"/>
            <a:ext cx="4754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B5563"/>
                </a:solidFill>
              </a:rPr>
              <a:t>Order found · Status: PROCESSING · Ordered 3 days ago · Est. delivery: yesterday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4340" y="3465576"/>
            <a:ext cx="0" cy="22860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712464"/>
            <a:ext cx="320040" cy="32004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24" name="Text 22"/>
          <p:cNvSpPr/>
          <p:nvPr/>
        </p:nvSpPr>
        <p:spPr>
          <a:xfrm>
            <a:off x="658368" y="3666744"/>
            <a:ext cx="10058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09:14:08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91640" y="3666744"/>
            <a:ext cx="2377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Reasoning Agent — GLM Decides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0" y="3666744"/>
            <a:ext cx="4754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B5563"/>
                </a:solidFill>
              </a:rPr>
              <a:t>REFUND · Confidence: 0.82 · Rationale: 1 day overdue, PROCESSING status, policy met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4340" y="4032504"/>
            <a:ext cx="0" cy="22860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279392"/>
            <a:ext cx="320040" cy="32004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29" name="Text 27"/>
          <p:cNvSpPr/>
          <p:nvPr/>
        </p:nvSpPr>
        <p:spPr>
          <a:xfrm>
            <a:off x="658368" y="4233672"/>
            <a:ext cx="10058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09:14:18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691640" y="4233672"/>
            <a:ext cx="2377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Supervisor Approves (edited timeline to 3–5 days)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0" y="4233672"/>
            <a:ext cx="4754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B5563"/>
                </a:solidFill>
              </a:rPr>
              <a:t>Edit applied → Approve clicked → case status: resolved · Total time: 4 minutes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766E"/>
          </a:solidFill>
        </p:spPr>
      </p:sp>
      <p:sp>
        <p:nvSpPr>
          <p:cNvPr id="33" name="Text 3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12 minutes (manual avg) → 4 minutes (Komplain.ai)  ·  Approved bilingual reply ready to send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766E"/>
          </a:solidFill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0"/>
                <a:cs typeface="Arial Black" pitchFamily="34" charset="0"/>
              </a:rPr>
              <a:t>WHY KOMPLAIN.AI WINS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CFBF1"/>
                </a:solidFill>
              </a:rPr>
              <a:t>Three moments of genuine AI adaptivity — not rule-based logic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846320" cy="39319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6187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18872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Manglish-Native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1508760"/>
            <a:ext cx="4114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GLM-5.1 processes code-switched BM+EN text natively — zero preprocessing, zero error.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93392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192024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Evidence-Based Decisions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68680" y="2240280"/>
            <a:ext cx="4114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REFUND/RESHIP outcomes emerge from GLM reasoning over context — not hardcoded branching.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24912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" y="265176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Bilingual by Design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68680" y="2971800"/>
            <a:ext cx="4114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EN + BM replies generated simultaneously from semantic intent, not translated after the fact.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56432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8680" y="338328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Human-in-the-Loop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868680" y="3703320"/>
            <a:ext cx="4114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GLM recommends; supervisor approves. AI is never the final decision maker.</a:t>
            </a:r>
            <a:endParaRPr lang="en-US" sz="10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187952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68680" y="411480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Fully Auditable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868680" y="4434840"/>
            <a:ext cx="4114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Every decision has a GLM rationale + agent event log. Opaque AI is structurally impossible.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303520" y="1097280"/>
            <a:ext cx="1737360" cy="1828800"/>
          </a:xfrm>
          <a:prstGeom prst="rect">
            <a:avLst/>
          </a:prstGeom>
          <a:solidFill>
            <a:srgbClr val="0D9488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5303520" y="1417320"/>
            <a:ext cx="17373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0"/>
                <a:cs typeface="Arial Black" pitchFamily="34" charset="0"/>
              </a:rPr>
              <a:t>&lt; 45s</a:t>
            </a:r>
            <a:endParaRPr lang="en-US" sz="3200" dirty="0"/>
          </a:p>
        </p:txBody>
      </p:sp>
      <p:sp>
        <p:nvSpPr>
          <p:cNvPr id="23" name="Text 16"/>
          <p:cNvSpPr/>
          <p:nvPr/>
        </p:nvSpPr>
        <p:spPr>
          <a:xfrm>
            <a:off x="5303520" y="2103120"/>
            <a:ext cx="1737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Resolution time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5303520" y="2468880"/>
            <a:ext cx="1737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CFBF1"/>
                </a:solidFill>
              </a:rPr>
              <a:t>vs 8–15 min manual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7132320" y="1097280"/>
            <a:ext cx="1737360" cy="1828800"/>
          </a:xfrm>
          <a:prstGeom prst="rect">
            <a:avLst/>
          </a:prstGeom>
          <a:solidFill>
            <a:srgbClr val="1E3A5F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7132320" y="1417320"/>
            <a:ext cx="17373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0"/>
                <a:cs typeface="Arial Black" pitchFamily="34" charset="0"/>
              </a:rPr>
              <a:t>≥ 80%</a:t>
            </a:r>
            <a:endParaRPr lang="en-US" sz="3200" dirty="0"/>
          </a:p>
        </p:txBody>
      </p:sp>
      <p:sp>
        <p:nvSpPr>
          <p:cNvPr id="27" name="Text 20"/>
          <p:cNvSpPr/>
          <p:nvPr/>
        </p:nvSpPr>
        <p:spPr>
          <a:xfrm>
            <a:off x="7132320" y="2103120"/>
            <a:ext cx="1737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Auto-resolved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7132320" y="2468880"/>
            <a:ext cx="1737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CFBF1"/>
                </a:solidFill>
              </a:rPr>
              <a:t>no human REVIEW needed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5303520" y="3108960"/>
            <a:ext cx="1737360" cy="1828800"/>
          </a:xfrm>
          <a:prstGeom prst="rect">
            <a:avLst/>
          </a:prstGeom>
          <a:solidFill>
            <a:srgbClr val="0F766E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5303520" y="3429000"/>
            <a:ext cx="17373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0"/>
                <a:cs typeface="Arial Black" pitchFamily="34" charset="0"/>
              </a:rPr>
              <a:t>0.87</a:t>
            </a:r>
            <a:endParaRPr lang="en-US" sz="3200" dirty="0"/>
          </a:p>
        </p:txBody>
      </p:sp>
      <p:sp>
        <p:nvSpPr>
          <p:cNvPr id="31" name="Text 24"/>
          <p:cNvSpPr/>
          <p:nvPr/>
        </p:nvSpPr>
        <p:spPr>
          <a:xfrm>
            <a:off x="5303520" y="4114800"/>
            <a:ext cx="1737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Avg confidence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5303520" y="4480560"/>
            <a:ext cx="1737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CFBF1"/>
                </a:solidFill>
              </a:rPr>
              <a:t>target: ≥ 0.75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7132320" y="3108960"/>
            <a:ext cx="1737360" cy="1828800"/>
          </a:xfrm>
          <a:prstGeom prst="rect">
            <a:avLst/>
          </a:prstGeom>
          <a:solidFill>
            <a:srgbClr val="F59E0B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Text 27"/>
          <p:cNvSpPr/>
          <p:nvPr/>
        </p:nvSpPr>
        <p:spPr>
          <a:xfrm>
            <a:off x="7132320" y="3429000"/>
            <a:ext cx="17373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0"/>
                <a:cs typeface="Arial Black" pitchFamily="34" charset="0"/>
              </a:rPr>
              <a:t>5-step</a:t>
            </a:r>
            <a:endParaRPr lang="en-US" sz="3200" dirty="0"/>
          </a:p>
        </p:txBody>
      </p:sp>
      <p:sp>
        <p:nvSpPr>
          <p:cNvPr id="35" name="Text 28"/>
          <p:cNvSpPr/>
          <p:nvPr/>
        </p:nvSpPr>
        <p:spPr>
          <a:xfrm>
            <a:off x="7132320" y="4114800"/>
            <a:ext cx="1737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 pipeline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7132320" y="4480560"/>
            <a:ext cx="1737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CFBF1"/>
                </a:solidFill>
              </a:rPr>
              <a:t>fully auditable trace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0"/>
                <a:cs typeface="Arial Black" pitchFamily="34" charset="0"/>
              </a:rPr>
              <a:t>ARCHITECTURE &amp; TECH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FBF1"/>
                </a:solidFill>
              </a:rPr>
              <a:t>Three-layer architecture · Sequential multi-agent pipeline · Typed outputs via Pydantic v2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3566160"/>
          </a:xfrm>
          <a:prstGeom prst="rect">
            <a:avLst/>
          </a:prstGeom>
          <a:solidFill>
            <a:srgbClr val="0F172A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43200" cy="502920"/>
          </a:xfrm>
          <a:prstGeom prst="rect">
            <a:avLst/>
          </a:prstGeom>
          <a:solidFill>
            <a:srgbClr val="8B5CF6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9728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051560"/>
            <a:ext cx="2103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" y="1783080"/>
            <a:ext cx="164592" cy="164592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10" name="Text 7"/>
          <p:cNvSpPr/>
          <p:nvPr/>
        </p:nvSpPr>
        <p:spPr>
          <a:xfrm>
            <a:off x="676656" y="1691640"/>
            <a:ext cx="22128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React 18 (UMD + Babel Standalone)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8912" y="2313432"/>
            <a:ext cx="164592" cy="164592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12" name="Text 9"/>
          <p:cNvSpPr/>
          <p:nvPr/>
        </p:nvSpPr>
        <p:spPr>
          <a:xfrm>
            <a:off x="676656" y="2221992"/>
            <a:ext cx="22128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No build step — static site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8912" y="2843784"/>
            <a:ext cx="164592" cy="164592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14" name="Text 11"/>
          <p:cNvSpPr/>
          <p:nvPr/>
        </p:nvSpPr>
        <p:spPr>
          <a:xfrm>
            <a:off x="676656" y="2752344"/>
            <a:ext cx="22128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Hosted on Netlify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38912" y="3374136"/>
            <a:ext cx="164592" cy="164592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16" name="Text 13"/>
          <p:cNvSpPr/>
          <p:nvPr/>
        </p:nvSpPr>
        <p:spPr>
          <a:xfrm>
            <a:off x="676656" y="3282696"/>
            <a:ext cx="22128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Real-time agent trace panel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38912" y="3904488"/>
            <a:ext cx="164592" cy="164592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18" name="Text 15"/>
          <p:cNvSpPr/>
          <p:nvPr/>
        </p:nvSpPr>
        <p:spPr>
          <a:xfrm>
            <a:off x="676656" y="3813048"/>
            <a:ext cx="22128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Light/dark + tone modes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46120" y="1051560"/>
            <a:ext cx="2743200" cy="3566160"/>
          </a:xfrm>
          <a:prstGeom prst="rect">
            <a:avLst/>
          </a:prstGeom>
          <a:solidFill>
            <a:srgbClr val="0F172A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46120" y="1051560"/>
            <a:ext cx="2743200" cy="502920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097280"/>
            <a:ext cx="347472" cy="34747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794760" y="1051560"/>
            <a:ext cx="2103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3410712" y="1783080"/>
            <a:ext cx="164592" cy="164592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24" name="Text 20"/>
          <p:cNvSpPr/>
          <p:nvPr/>
        </p:nvSpPr>
        <p:spPr>
          <a:xfrm>
            <a:off x="3648456" y="1691640"/>
            <a:ext cx="22128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FastAPI + Uvicorn (Python 3.13)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410712" y="2313432"/>
            <a:ext cx="164592" cy="164592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26" name="Text 22"/>
          <p:cNvSpPr/>
          <p:nvPr/>
        </p:nvSpPr>
        <p:spPr>
          <a:xfrm>
            <a:off x="3648456" y="2221992"/>
            <a:ext cx="22128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5-agent pipeline orchestrator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410712" y="2843784"/>
            <a:ext cx="164592" cy="164592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28" name="Text 24"/>
          <p:cNvSpPr/>
          <p:nvPr/>
        </p:nvSpPr>
        <p:spPr>
          <a:xfrm>
            <a:off x="3648456" y="2752344"/>
            <a:ext cx="22128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Pydantic v2 typed schemas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3410712" y="3374136"/>
            <a:ext cx="164592" cy="164592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30" name="Text 26"/>
          <p:cNvSpPr/>
          <p:nvPr/>
        </p:nvSpPr>
        <p:spPr>
          <a:xfrm>
            <a:off x="3648456" y="3282696"/>
            <a:ext cx="22128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JSON flat-file storage (MVP)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3410712" y="3904488"/>
            <a:ext cx="164592" cy="164592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32" name="Text 28"/>
          <p:cNvSpPr/>
          <p:nvPr/>
        </p:nvSpPr>
        <p:spPr>
          <a:xfrm>
            <a:off x="3648456" y="3813048"/>
            <a:ext cx="22128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Hosted on Render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6217920" y="1051560"/>
            <a:ext cx="2743200" cy="3566160"/>
          </a:xfrm>
          <a:prstGeom prst="rect">
            <a:avLst/>
          </a:prstGeom>
          <a:solidFill>
            <a:srgbClr val="0F172A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6217920" y="1051560"/>
            <a:ext cx="2743200" cy="502920"/>
          </a:xfrm>
          <a:prstGeom prst="rect">
            <a:avLst/>
          </a:prstGeom>
          <a:solidFill>
            <a:srgbClr val="F59E0B"/>
          </a:solidFill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097280"/>
            <a:ext cx="347472" cy="34747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766560" y="1051560"/>
            <a:ext cx="2103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LLM ENGINE</a:t>
            </a:r>
            <a:endParaRPr lang="en-US" sz="1300" dirty="0"/>
          </a:p>
        </p:txBody>
      </p:sp>
      <p:sp>
        <p:nvSpPr>
          <p:cNvPr id="37" name="Shape 32"/>
          <p:cNvSpPr/>
          <p:nvPr/>
        </p:nvSpPr>
        <p:spPr>
          <a:xfrm>
            <a:off x="6382512" y="1783080"/>
            <a:ext cx="164592" cy="164592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8" name="Text 33"/>
          <p:cNvSpPr/>
          <p:nvPr/>
        </p:nvSpPr>
        <p:spPr>
          <a:xfrm>
            <a:off x="6620256" y="1691640"/>
            <a:ext cx="22128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ILMU GLM-5.1 (OpenAI-compat.)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6382512" y="2313432"/>
            <a:ext cx="164592" cy="164592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40" name="Text 35"/>
          <p:cNvSpPr/>
          <p:nvPr/>
        </p:nvSpPr>
        <p:spPr>
          <a:xfrm>
            <a:off x="6620256" y="2221992"/>
            <a:ext cx="22128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JSON mode enforced on all calls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6382512" y="2843784"/>
            <a:ext cx="164592" cy="164592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42" name="Text 37"/>
          <p:cNvSpPr/>
          <p:nvPr/>
        </p:nvSpPr>
        <p:spPr>
          <a:xfrm>
            <a:off x="6620256" y="2752344"/>
            <a:ext cx="22128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3-layer output validation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6382512" y="3374136"/>
            <a:ext cx="164592" cy="164592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44" name="Text 39"/>
          <p:cNvSpPr/>
          <p:nvPr/>
        </p:nvSpPr>
        <p:spPr>
          <a:xfrm>
            <a:off x="6620256" y="3282696"/>
            <a:ext cx="22128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180s configurable timeout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6382512" y="3904488"/>
            <a:ext cx="164592" cy="164592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46" name="Text 41"/>
          <p:cNvSpPr/>
          <p:nvPr/>
        </p:nvSpPr>
        <p:spPr>
          <a:xfrm>
            <a:off x="6620256" y="3813048"/>
            <a:ext cx="22128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Bilingual in a single API call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7F1D1D"/>
          </a:solidFill>
        </p:spPr>
      </p:sp>
      <p:sp>
        <p:nvSpPr>
          <p:cNvPr id="48" name="Text 43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A5A5"/>
                </a:solidFill>
              </a:rPr>
              <a:t>GLM Removal Test: If ILMU_API_KEY is unset → RuntimeError at first agent call → HTTP 500. No fallback. No heuristics. GLM is load-bearing.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0"/>
                <a:cs typeface="Arial Black" pitchFamily="34" charset="0"/>
              </a:rPr>
              <a:t>RESULTS &amp; IMPACT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CFBF1"/>
                </a:solidFill>
              </a:rPr>
              <a:t>Measured against baseline manual process · All 66 QA test cases: PASS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5156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394960" y="1051560"/>
            <a:ext cx="3474720" cy="3474720"/>
          </a:xfrm>
          <a:prstGeom prst="rect">
            <a:avLst/>
          </a:prstGeom>
          <a:solidFill>
            <a:srgbClr val="F8FAFC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394960" y="1097280"/>
            <a:ext cx="3474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</a:rPr>
              <a:t>QA Checklist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0020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06440" y="1572768"/>
            <a:ext cx="2971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End-to-end pipeline &lt; 30s (avg 23s observed)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93852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06440" y="1911096"/>
            <a:ext cx="2971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SSE first event &lt; 2s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276856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806440" y="2249424"/>
            <a:ext cx="2971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Decision confidence avg 0.87 (target ≥ 0.75)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615184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806440" y="2587752"/>
            <a:ext cx="2971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GLM removal causes verifiable system failure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953512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806440" y="2926080"/>
            <a:ext cx="2971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Manglish processed natively — no preprocessing</a:t>
            </a:r>
            <a:endParaRPr lang="en-US" sz="9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291840"/>
            <a:ext cx="256032" cy="25603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806440" y="3264408"/>
            <a:ext cx="2971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Both EN + BM replies in single GLM API call</a:t>
            </a:r>
            <a:endParaRPr lang="en-US" sz="9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630168"/>
            <a:ext cx="256032" cy="256032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806440" y="3602736"/>
            <a:ext cx="2971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Zero API keys in public GitHub repo</a:t>
            </a:r>
            <a:endParaRPr lang="en-US" sz="95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968496"/>
            <a:ext cx="256032" cy="256032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806440" y="3941064"/>
            <a:ext cx="2971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FIFO 5-record cap enforced &amp; event log pruned</a:t>
            </a:r>
            <a:endParaRPr lang="en-US" sz="95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306824"/>
            <a:ext cx="256032" cy="256032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806440" y="4279392"/>
            <a:ext cx="2971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100% of 66 QA test cases: PASS</a:t>
            </a:r>
            <a:endParaRPr lang="en-US" sz="950" dirty="0"/>
          </a:p>
        </p:txBody>
      </p:sp>
      <p:sp>
        <p:nvSpPr>
          <p:cNvPr id="26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766E"/>
          </a:solidFill>
        </p:spPr>
      </p:sp>
      <p:sp>
        <p:nvSpPr>
          <p:cNvPr id="27" name="Text 1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Production-ready architecture: PostgreSQL migration path · JWT auth · Redis rate limiting · Multi-tenant support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F766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7200"/>
            <a:ext cx="57607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0"/>
                <a:cs typeface="Arial Black" pitchFamily="34" charset="0"/>
              </a:rPr>
              <a:t>KOMPLAIN.AI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457200" y="1371600"/>
            <a:ext cx="5760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D9488"/>
                </a:solidFill>
              </a:rPr>
              <a:t>Agentic Complaint Resolution · ILMU GLM-5.1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874520"/>
            <a:ext cx="54864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011680"/>
            <a:ext cx="5760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FBF1"/>
                </a:solidFill>
              </a:rPr>
              <a:t>What we built: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423160"/>
            <a:ext cx="5760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</a:rPr>
              <a:t>▸  5-agent GLM-powered pipeline that resolves complaints in &lt; 45 seconds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834640"/>
            <a:ext cx="5760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</a:rPr>
              <a:t>▸  Bilingual EN + BM outputs generated simultaneously — culturally appropriate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246120"/>
            <a:ext cx="5760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</a:rPr>
              <a:t>▸  Full audit trail: rationale, confidence score, and event log for every case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3657600"/>
            <a:ext cx="5760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</a:rPr>
              <a:t>▸  Human-in-the-loop design: supervisor approves before any reply is sent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92240" y="2926080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FBF1"/>
                </a:solidFill>
              </a:rPr>
              <a:t>📂 REPO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92240" y="3273552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github.com/Ph0enix19/Komplain.ai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675120" y="3657600"/>
            <a:ext cx="2011680" cy="0"/>
          </a:xfrm>
          <a:prstGeom prst="line">
            <a:avLst/>
          </a:prstGeom>
          <a:noFill/>
          <a:ln w="9525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92240" y="3749040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FBF1"/>
                </a:solidFill>
              </a:rPr>
              <a:t>🌐 LIVE DEMO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92240" y="4096512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komplain-ai.netlify.app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19" name="Text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AI Systems &amp; Agentic Workflow Automation  ·  Hackathon Submission  ·  26 April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/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Arial</vt:lpstr>
      <vt:lpstr>SimSun</vt:lpstr>
      <vt:lpstr>Wingdings</vt:lpstr>
      <vt:lpstr>Arial Black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Komplain.ai — Preliminary Pitch</dc:title>
  <dc:creator>Komplain.ai Team</dc:creator>
  <dc:subject>PptxGenJS Presentation</dc:subject>
  <cp:lastModifiedBy>iPhone</cp:lastModifiedBy>
  <cp:revision>1</cp:revision>
  <dcterms:created xsi:type="dcterms:W3CDTF">1900-01-01T00:00:00Z</dcterms:created>
  <dcterms:modified xsi:type="dcterms:W3CDTF">1900-01-01T00:00:00Z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7DAF66F56B4B01DB30EAEC695456B391_32</vt:lpwstr>
  </property>
  <property fmtid="{D5CDD505-2E9C-101B-9397-08002B2CF9AE}" pid="3" name="KSOProductBuildVer">
    <vt:lpwstr>3081-26.3.1</vt:lpwstr>
  </property>
</Properties>
</file>