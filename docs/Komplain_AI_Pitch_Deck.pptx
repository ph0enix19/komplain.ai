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ial Bold" panose="020B0704020202020204" pitchFamily="34" charset="0"/>
      <p:regular r:id="rId15"/>
      <p:bold r:id="rId16"/>
    </p:embeddedFont>
    <p:embeddedFont>
      <p:font typeface="Arial Bold Italics" panose="020B0604020202020204" charset="0"/>
      <p:regular r:id="rId17"/>
    </p:embeddedFont>
    <p:embeddedFont>
      <p:font typeface="Arial Italics" panose="020B0604020202020204" charset="0"/>
      <p:regular r:id="rId18"/>
    </p:embeddedFont>
    <p:embeddedFont>
      <p:font typeface="Glacial Indifference"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2" d="100"/>
          <a:sy n="72" d="100"/>
        </p:scale>
        <p:origin x="140" y="8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03.05.2026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afternoon judges. We're team Komplain.ai. For the next ten minutes I'll show you an AI complaint resolution copilot we built for Malaysian e-commerce SMEs — fully deployed, fully tested, and honest about what's MVP versus what's production-ready.</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problem. A Malaysian seller running Shopee, Lazada, TikTok Shop and WhatsApp gets a constant stream of complaints — code-switched between English and Bahasa Malaysia, often messy 'Manglish'. Manual replies are slow, inconsistent across staff, emotionally risky, and — most importantly for a marketplace dispute — completely unauditable. There's no log of why a refund was issued.</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Komplain.ai turns a raw complaint — in any language mix — into a structured, auditable, bilingual resolution in under five seconds. The decision space is deliberately small and policy-bounded: refund, reship, escalate, or dismiss. And critically, a human supervisor approves every reply before it sends. We are not replacing the seller. We are giving them a copilot.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Under the hood is a five-agent pipeline. Intake parses the complaint and detects language. Context looks up the order. Reasoning evaluates against policy and outputs the decision. Response drafts the bilingual reply. Supervisor independently validates everything and assigns a confidence score. Every step is logged with input tokens, output tokens, and latency — that audit trail is the product.</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Architecture. React 18 UMD on Netlify — no build step, deploys in seconds. FastAPI on Render. JSON storage for the MVP, with a documented Postgres migration path. Provider-agnostic LLM client running on Groq today, with a switch path to GLM. GitHub Actions runs lint, tests, and security on every push. Secrets live in dashboard environment variables, never in the repo.</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Quality assurance. Thirty pytest tests covering API endpoints, the LLM client's JSON parsing and fallback, every agent's logic, and storage FIFO behaviour. A Postman collection covers the full API surface. Ruff lint, pip-audit, and detect-secrets run in CI. We track our defect log openly — including the security job currently set to non-blocking, which we'll explain on the next slide.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Production engineering. Every complaint shows the seller exactly what it cost — total latency, total tokens, and ringgit cost using our published formula. The provider-agnostic client means we can switch from Groq to GLM in one environment variable. Secrets are scanned in CI. This is what cost discipline looks like at the MVP stage.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Validation and feasibility. Problem-solution fit: every Malaysian SME seller we've spoken to has the same pain — placeholder for our actual interview quotes. Technical fit: the system already runs end-to-end on free-tier infrastructure. The roadmap from MVP to production is concrete: Postgres, auth, rate limiting, marketplace webhooks, frontend tests — three months, fundable.</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close. Komplain.ai is not a slide-ware demo. It's a deployed, tested, telemetered system that resolves a real Malaysian SME pain with a defensible architecture and an honest defect log. We're not replacing sellers — we're giving them a reliable AI copilot to resolve complaints faster, fairer, and with evidence. Thank you.</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Here's the actual user journey. Step one, paste the complaint and order ID. Step two, watch each agent run live with real latency and token telemetry. Step three, review the decision, the policy reasoning, and the bilingual reply. Step four, edit if needed and approve. The whole loop is under thirty seconds.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4.jpe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image" Target="../media/image9.png"/><Relationship Id="rId7"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png"/><Relationship Id="rId11" Type="http://schemas.openxmlformats.org/officeDocument/2006/relationships/image" Target="../media/image13.png"/><Relationship Id="rId5" Type="http://schemas.openxmlformats.org/officeDocument/2006/relationships/image" Target="../media/image1.png"/><Relationship Id="rId10"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gradFill rotWithShape="1">
              <a:gsLst>
                <a:gs pos="0">
                  <a:srgbClr val="0B615B">
                    <a:alpha val="100000"/>
                  </a:srgbClr>
                </a:gs>
                <a:gs pos="54000">
                  <a:srgbClr val="5D775D">
                    <a:alpha val="100000"/>
                  </a:srgbClr>
                </a:gs>
                <a:gs pos="100000">
                  <a:srgbClr val="8E7045">
                    <a:alpha val="100000"/>
                  </a:srgbClr>
                </a:gs>
              </a:gsLst>
              <a:lin ang="0"/>
            </a:gradFill>
          </p:spPr>
          <p:txBody>
            <a:bodyPr/>
            <a:lstStyle/>
            <a:p>
              <a:endParaRPr lang="en-US"/>
            </a:p>
          </p:txBody>
        </p:sp>
      </p:grpSp>
      <p:sp>
        <p:nvSpPr>
          <p:cNvPr id="4" name="Freeform 4"/>
          <p:cNvSpPr/>
          <p:nvPr/>
        </p:nvSpPr>
        <p:spPr>
          <a:xfrm>
            <a:off x="6038522" y="5576762"/>
            <a:ext cx="958283" cy="958283"/>
          </a:xfrm>
          <a:custGeom>
            <a:avLst/>
            <a:gdLst/>
            <a:ahLst/>
            <a:cxnLst/>
            <a:rect l="l" t="t" r="r" b="b"/>
            <a:pathLst>
              <a:path w="958283" h="958283">
                <a:moveTo>
                  <a:pt x="0" y="0"/>
                </a:moveTo>
                <a:lnTo>
                  <a:pt x="958283" y="0"/>
                </a:lnTo>
                <a:lnTo>
                  <a:pt x="958283" y="958284"/>
                </a:lnTo>
                <a:lnTo>
                  <a:pt x="0" y="958284"/>
                </a:lnTo>
                <a:lnTo>
                  <a:pt x="0" y="0"/>
                </a:lnTo>
                <a:close/>
              </a:path>
            </a:pathLst>
          </a:custGeom>
          <a:blipFill>
            <a:blip r:embed="rId3"/>
            <a:stretch>
              <a:fillRect/>
            </a:stretch>
          </a:blipFill>
        </p:spPr>
        <p:txBody>
          <a:bodyPr/>
          <a:lstStyle/>
          <a:p>
            <a:endParaRPr lang="en-US"/>
          </a:p>
        </p:txBody>
      </p:sp>
      <p:grpSp>
        <p:nvGrpSpPr>
          <p:cNvPr id="5" name="Group 5"/>
          <p:cNvGrpSpPr/>
          <p:nvPr/>
        </p:nvGrpSpPr>
        <p:grpSpPr>
          <a:xfrm>
            <a:off x="0" y="0"/>
            <a:ext cx="18288000" cy="550922"/>
            <a:chOff x="0" y="0"/>
            <a:chExt cx="24384000" cy="734563"/>
          </a:xfrm>
        </p:grpSpPr>
        <p:grpSp>
          <p:nvGrpSpPr>
            <p:cNvPr id="6" name="Group 6"/>
            <p:cNvGrpSpPr/>
            <p:nvPr/>
          </p:nvGrpSpPr>
          <p:grpSpPr>
            <a:xfrm>
              <a:off x="0" y="0"/>
              <a:ext cx="24384000" cy="734563"/>
              <a:chOff x="0" y="0"/>
              <a:chExt cx="4816593" cy="145099"/>
            </a:xfrm>
          </p:grpSpPr>
          <p:sp>
            <p:nvSpPr>
              <p:cNvPr id="7" name="Freeform 7"/>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8" name="TextBox 8"/>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9" name="Freeform 9"/>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10" name="Freeform 10"/>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11" name="Freeform 11"/>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
        <p:nvSpPr>
          <p:cNvPr id="12" name="TextBox 12"/>
          <p:cNvSpPr txBox="1"/>
          <p:nvPr/>
        </p:nvSpPr>
        <p:spPr>
          <a:xfrm>
            <a:off x="787403" y="5454403"/>
            <a:ext cx="5041550" cy="1155377"/>
          </a:xfrm>
          <a:prstGeom prst="rect">
            <a:avLst/>
          </a:prstGeom>
        </p:spPr>
        <p:txBody>
          <a:bodyPr lIns="0" tIns="0" rIns="0" bIns="0" rtlCol="0" anchor="t">
            <a:spAutoFit/>
          </a:bodyPr>
          <a:lstStyle/>
          <a:p>
            <a:pPr algn="l">
              <a:lnSpc>
                <a:spcPts val="8812"/>
              </a:lnSpc>
            </a:pPr>
            <a:r>
              <a:rPr lang="en-US" sz="7200" b="1" spc="-179">
                <a:solidFill>
                  <a:srgbClr val="F5F8F7"/>
                </a:solidFill>
                <a:latin typeface="Arial Bold"/>
                <a:ea typeface="Arial Bold"/>
                <a:cs typeface="Arial Bold"/>
                <a:sym typeface="Arial Bold"/>
              </a:rPr>
              <a:t>Komplain.ai</a:t>
            </a:r>
          </a:p>
        </p:txBody>
      </p:sp>
      <p:sp>
        <p:nvSpPr>
          <p:cNvPr id="13" name="TextBox 13"/>
          <p:cNvSpPr txBox="1"/>
          <p:nvPr/>
        </p:nvSpPr>
        <p:spPr>
          <a:xfrm>
            <a:off x="13475808" y="802005"/>
            <a:ext cx="4147052" cy="24384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UM HACKATHON 2026 · FINAL ROUND</a:t>
            </a:r>
          </a:p>
        </p:txBody>
      </p:sp>
      <p:sp>
        <p:nvSpPr>
          <p:cNvPr id="14" name="TextBox 14"/>
          <p:cNvSpPr txBox="1"/>
          <p:nvPr/>
        </p:nvSpPr>
        <p:spPr>
          <a:xfrm>
            <a:off x="787403" y="5124450"/>
            <a:ext cx="17216123" cy="285750"/>
          </a:xfrm>
          <a:prstGeom prst="rect">
            <a:avLst/>
          </a:prstGeom>
        </p:spPr>
        <p:txBody>
          <a:bodyPr lIns="0" tIns="0" rIns="0" bIns="0" rtlCol="0" anchor="t">
            <a:spAutoFit/>
          </a:bodyPr>
          <a:lstStyle/>
          <a:p>
            <a:pPr algn="l">
              <a:lnSpc>
                <a:spcPts val="1980"/>
              </a:lnSpc>
            </a:pPr>
            <a:r>
              <a:rPr lang="en-US" sz="1650" b="1" spc="132">
                <a:solidFill>
                  <a:srgbClr val="FFFFFF"/>
                </a:solidFill>
                <a:latin typeface="Arial Bold"/>
                <a:ea typeface="Arial Bold"/>
                <a:cs typeface="Arial Bold"/>
                <a:sym typeface="Arial Bold"/>
              </a:rPr>
              <a:t>AI SYSTEMS &amp; AGENTIC WORKFLOW AUTOMATION</a:t>
            </a:r>
          </a:p>
        </p:txBody>
      </p:sp>
      <p:sp>
        <p:nvSpPr>
          <p:cNvPr id="15" name="TextBox 15"/>
          <p:cNvSpPr txBox="1"/>
          <p:nvPr/>
        </p:nvSpPr>
        <p:spPr>
          <a:xfrm>
            <a:off x="787403" y="6817519"/>
            <a:ext cx="12703178" cy="933450"/>
          </a:xfrm>
          <a:prstGeom prst="rect">
            <a:avLst/>
          </a:prstGeom>
        </p:spPr>
        <p:txBody>
          <a:bodyPr lIns="0" tIns="0" rIns="0" bIns="0" rtlCol="0" anchor="t">
            <a:spAutoFit/>
          </a:bodyPr>
          <a:lstStyle/>
          <a:p>
            <a:pPr algn="l">
              <a:lnSpc>
                <a:spcPts val="3663"/>
              </a:lnSpc>
            </a:pPr>
            <a:r>
              <a:rPr lang="en-US" sz="3052" i="1" spc="-33">
                <a:solidFill>
                  <a:srgbClr val="D9E5E1"/>
                </a:solidFill>
                <a:latin typeface="Arial Italics"/>
                <a:ea typeface="Arial Italics"/>
                <a:cs typeface="Arial Italics"/>
                <a:sym typeface="Arial Italics"/>
              </a:rPr>
              <a:t>From a Manglish complaint to an approved bilingual resolution in under 10 seconds — with the receipts.</a:t>
            </a:r>
          </a:p>
        </p:txBody>
      </p:sp>
      <p:sp>
        <p:nvSpPr>
          <p:cNvPr id="16" name="TextBox 16"/>
          <p:cNvSpPr txBox="1"/>
          <p:nvPr/>
        </p:nvSpPr>
        <p:spPr>
          <a:xfrm>
            <a:off x="787402" y="8474869"/>
            <a:ext cx="888997" cy="230832"/>
          </a:xfrm>
          <a:prstGeom prst="rect">
            <a:avLst/>
          </a:prstGeom>
        </p:spPr>
        <p:txBody>
          <a:bodyPr wrap="square" lIns="0" tIns="0" rIns="0" bIns="0" rtlCol="0" anchor="t">
            <a:spAutoFit/>
          </a:bodyPr>
          <a:lstStyle/>
          <a:p>
            <a:pPr algn="l">
              <a:lnSpc>
                <a:spcPts val="1800"/>
              </a:lnSpc>
            </a:pPr>
            <a:r>
              <a:rPr lang="en-US" sz="1500" spc="120" dirty="0">
                <a:solidFill>
                  <a:srgbClr val="EA580C"/>
                </a:solidFill>
                <a:latin typeface="Arial"/>
                <a:ea typeface="Arial"/>
                <a:cs typeface="Arial"/>
                <a:sym typeface="Arial"/>
              </a:rPr>
              <a:t>TEAM</a:t>
            </a:r>
          </a:p>
        </p:txBody>
      </p:sp>
      <p:sp>
        <p:nvSpPr>
          <p:cNvPr id="17" name="TextBox 17"/>
          <p:cNvSpPr txBox="1"/>
          <p:nvPr/>
        </p:nvSpPr>
        <p:spPr>
          <a:xfrm>
            <a:off x="787403" y="8796814"/>
            <a:ext cx="963692" cy="323850"/>
          </a:xfrm>
          <a:prstGeom prst="rect">
            <a:avLst/>
          </a:prstGeom>
        </p:spPr>
        <p:txBody>
          <a:bodyPr lIns="0" tIns="0" rIns="0" bIns="0" rtlCol="0" anchor="t">
            <a:spAutoFit/>
          </a:bodyPr>
          <a:lstStyle/>
          <a:p>
            <a:pPr algn="l">
              <a:lnSpc>
                <a:spcPts val="2520"/>
              </a:lnSpc>
            </a:pPr>
            <a:r>
              <a:rPr lang="en-US" sz="2100">
                <a:solidFill>
                  <a:srgbClr val="F5F8F7"/>
                </a:solidFill>
                <a:latin typeface="Arial"/>
                <a:ea typeface="Arial"/>
                <a:cs typeface="Arial"/>
                <a:sym typeface="Arial"/>
              </a:rPr>
              <a:t>as - 178</a:t>
            </a:r>
          </a:p>
        </p:txBody>
      </p:sp>
      <p:sp>
        <p:nvSpPr>
          <p:cNvPr id="18" name="TextBox 18"/>
          <p:cNvSpPr txBox="1"/>
          <p:nvPr/>
        </p:nvSpPr>
        <p:spPr>
          <a:xfrm>
            <a:off x="3588382" y="8474869"/>
            <a:ext cx="2661218" cy="229867"/>
          </a:xfrm>
          <a:prstGeom prst="rect">
            <a:avLst/>
          </a:prstGeom>
        </p:spPr>
        <p:txBody>
          <a:bodyPr lIns="0" tIns="0" rIns="0" bIns="0" rtlCol="0" anchor="t">
            <a:spAutoFit/>
          </a:bodyPr>
          <a:lstStyle/>
          <a:p>
            <a:pPr algn="l">
              <a:lnSpc>
                <a:spcPts val="1800"/>
              </a:lnSpc>
            </a:pPr>
            <a:r>
              <a:rPr lang="en-US" sz="1500" spc="120">
                <a:solidFill>
                  <a:srgbClr val="EA580C"/>
                </a:solidFill>
                <a:latin typeface="Arial"/>
                <a:ea typeface="Arial"/>
                <a:cs typeface="Arial"/>
                <a:sym typeface="Arial"/>
              </a:rPr>
              <a:t>LIVE DEMO</a:t>
            </a:r>
          </a:p>
        </p:txBody>
      </p:sp>
      <p:sp>
        <p:nvSpPr>
          <p:cNvPr id="19" name="TextBox 19"/>
          <p:cNvSpPr txBox="1"/>
          <p:nvPr/>
        </p:nvSpPr>
        <p:spPr>
          <a:xfrm>
            <a:off x="3588382" y="8774592"/>
            <a:ext cx="2661218" cy="514350"/>
          </a:xfrm>
          <a:prstGeom prst="rect">
            <a:avLst/>
          </a:prstGeom>
        </p:spPr>
        <p:txBody>
          <a:bodyPr lIns="0" tIns="0" rIns="0" bIns="0" rtlCol="0" anchor="t">
            <a:spAutoFit/>
          </a:bodyPr>
          <a:lstStyle/>
          <a:p>
            <a:pPr algn="l">
              <a:lnSpc>
                <a:spcPts val="1960"/>
              </a:lnSpc>
            </a:pPr>
            <a:r>
              <a:rPr lang="en-US" sz="1634">
                <a:solidFill>
                  <a:srgbClr val="F5F8F7"/>
                </a:solidFill>
                <a:latin typeface="Arial"/>
                <a:ea typeface="Arial"/>
                <a:cs typeface="Arial"/>
                <a:sym typeface="Arial"/>
              </a:rPr>
              <a:t>https://komplain-test-xi2r.vercel.app/</a:t>
            </a:r>
          </a:p>
        </p:txBody>
      </p:sp>
      <p:sp>
        <p:nvSpPr>
          <p:cNvPr id="20" name="TextBox 20"/>
          <p:cNvSpPr txBox="1"/>
          <p:nvPr/>
        </p:nvSpPr>
        <p:spPr>
          <a:xfrm>
            <a:off x="6754816" y="8474869"/>
            <a:ext cx="4391997" cy="229867"/>
          </a:xfrm>
          <a:prstGeom prst="rect">
            <a:avLst/>
          </a:prstGeom>
        </p:spPr>
        <p:txBody>
          <a:bodyPr lIns="0" tIns="0" rIns="0" bIns="0" rtlCol="0" anchor="t">
            <a:spAutoFit/>
          </a:bodyPr>
          <a:lstStyle/>
          <a:p>
            <a:pPr algn="l">
              <a:lnSpc>
                <a:spcPts val="1800"/>
              </a:lnSpc>
            </a:pPr>
            <a:r>
              <a:rPr lang="en-US" sz="1500" spc="120">
                <a:solidFill>
                  <a:srgbClr val="EA580C"/>
                </a:solidFill>
                <a:latin typeface="Arial"/>
                <a:ea typeface="Arial"/>
                <a:cs typeface="Arial"/>
                <a:sym typeface="Arial"/>
              </a:rPr>
              <a:t>REPO</a:t>
            </a:r>
          </a:p>
        </p:txBody>
      </p:sp>
      <p:sp>
        <p:nvSpPr>
          <p:cNvPr id="21" name="TextBox 21"/>
          <p:cNvSpPr txBox="1"/>
          <p:nvPr/>
        </p:nvSpPr>
        <p:spPr>
          <a:xfrm>
            <a:off x="6754816" y="8784117"/>
            <a:ext cx="4150519" cy="323850"/>
          </a:xfrm>
          <a:prstGeom prst="rect">
            <a:avLst/>
          </a:prstGeom>
        </p:spPr>
        <p:txBody>
          <a:bodyPr lIns="0" tIns="0" rIns="0" bIns="0" rtlCol="0" anchor="t">
            <a:spAutoFit/>
          </a:bodyPr>
          <a:lstStyle/>
          <a:p>
            <a:pPr algn="l">
              <a:lnSpc>
                <a:spcPts val="2520"/>
              </a:lnSpc>
            </a:pPr>
            <a:r>
              <a:rPr lang="en-US" sz="2100">
                <a:solidFill>
                  <a:srgbClr val="F5F8F7"/>
                </a:solidFill>
                <a:latin typeface="Arial"/>
                <a:ea typeface="Arial"/>
                <a:cs typeface="Arial"/>
                <a:sym typeface="Arial"/>
              </a:rPr>
              <a:t>github.com/Ph0enix19/Komplain.AI</a:t>
            </a:r>
          </a:p>
        </p:txBody>
      </p:sp>
      <p:sp>
        <p:nvSpPr>
          <p:cNvPr id="22" name="TextBox 22"/>
          <p:cNvSpPr txBox="1"/>
          <p:nvPr/>
        </p:nvSpPr>
        <p:spPr>
          <a:xfrm>
            <a:off x="11601612" y="8474869"/>
            <a:ext cx="1196340" cy="229867"/>
          </a:xfrm>
          <a:prstGeom prst="rect">
            <a:avLst/>
          </a:prstGeom>
        </p:spPr>
        <p:txBody>
          <a:bodyPr lIns="0" tIns="0" rIns="0" bIns="0" rtlCol="0" anchor="t">
            <a:spAutoFit/>
          </a:bodyPr>
          <a:lstStyle/>
          <a:p>
            <a:pPr algn="l">
              <a:lnSpc>
                <a:spcPts val="1800"/>
              </a:lnSpc>
            </a:pPr>
            <a:r>
              <a:rPr lang="en-US" sz="1500" spc="120">
                <a:solidFill>
                  <a:srgbClr val="EA580C"/>
                </a:solidFill>
                <a:latin typeface="Arial"/>
                <a:ea typeface="Arial"/>
                <a:cs typeface="Arial"/>
                <a:sym typeface="Arial"/>
              </a:rPr>
              <a:t>DATE</a:t>
            </a:r>
          </a:p>
        </p:txBody>
      </p:sp>
      <p:sp>
        <p:nvSpPr>
          <p:cNvPr id="23" name="TextBox 23"/>
          <p:cNvSpPr txBox="1"/>
          <p:nvPr/>
        </p:nvSpPr>
        <p:spPr>
          <a:xfrm>
            <a:off x="11601612" y="8784117"/>
            <a:ext cx="1790700" cy="323850"/>
          </a:xfrm>
          <a:prstGeom prst="rect">
            <a:avLst/>
          </a:prstGeom>
        </p:spPr>
        <p:txBody>
          <a:bodyPr lIns="0" tIns="0" rIns="0" bIns="0" rtlCol="0" anchor="t">
            <a:spAutoFit/>
          </a:bodyPr>
          <a:lstStyle/>
          <a:p>
            <a:pPr algn="l">
              <a:lnSpc>
                <a:spcPts val="2520"/>
              </a:lnSpc>
            </a:pPr>
            <a:r>
              <a:rPr lang="en-US" sz="2100">
                <a:solidFill>
                  <a:srgbClr val="F5F8F7"/>
                </a:solidFill>
                <a:latin typeface="Arial"/>
                <a:ea typeface="Arial"/>
                <a:cs typeface="Arial"/>
                <a:sym typeface="Arial"/>
              </a:rPr>
              <a:t>May 3rd of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path path="circle">
                <a:fillToRect r="100000" b="100000"/>
              </a:path>
              <a:tileRect l="-100000" t="-10000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952500" y="1333500"/>
            <a:ext cx="16383000" cy="9525"/>
            <a:chOff x="0" y="0"/>
            <a:chExt cx="21844000" cy="12700"/>
          </a:xfrm>
        </p:grpSpPr>
        <p:sp>
          <p:nvSpPr>
            <p:cNvPr id="6" name="Freeform 6"/>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D9E5E1"/>
            </a:solidFill>
          </p:spPr>
          <p:txBody>
            <a:bodyPr/>
            <a:lstStyle/>
            <a:p>
              <a:endParaRPr lang="en-US"/>
            </a:p>
          </p:txBody>
        </p:sp>
      </p:grpSp>
      <p:grpSp>
        <p:nvGrpSpPr>
          <p:cNvPr id="7" name="Group 7"/>
          <p:cNvGrpSpPr/>
          <p:nvPr/>
        </p:nvGrpSpPr>
        <p:grpSpPr>
          <a:xfrm>
            <a:off x="9620250" y="3018591"/>
            <a:ext cx="7024422" cy="8672"/>
            <a:chOff x="0" y="0"/>
            <a:chExt cx="10287000" cy="12700"/>
          </a:xfrm>
        </p:grpSpPr>
        <p:sp>
          <p:nvSpPr>
            <p:cNvPr id="8" name="Freeform 8"/>
            <p:cNvSpPr/>
            <p:nvPr/>
          </p:nvSpPr>
          <p:spPr>
            <a:xfrm>
              <a:off x="0" y="0"/>
              <a:ext cx="10287000" cy="12700"/>
            </a:xfrm>
            <a:custGeom>
              <a:avLst/>
              <a:gdLst/>
              <a:ahLst/>
              <a:cxnLst/>
              <a:rect l="l" t="t" r="r" b="b"/>
              <a:pathLst>
                <a:path w="10287000" h="12700">
                  <a:moveTo>
                    <a:pt x="0" y="0"/>
                  </a:moveTo>
                  <a:lnTo>
                    <a:pt x="10287000" y="0"/>
                  </a:lnTo>
                  <a:lnTo>
                    <a:pt x="10287000" y="12700"/>
                  </a:lnTo>
                  <a:lnTo>
                    <a:pt x="0" y="12700"/>
                  </a:lnTo>
                  <a:close/>
                </a:path>
              </a:pathLst>
            </a:custGeom>
            <a:solidFill>
              <a:srgbClr val="D9E5E1"/>
            </a:solidFill>
          </p:spPr>
          <p:txBody>
            <a:bodyPr/>
            <a:lstStyle/>
            <a:p>
              <a:endParaRPr lang="en-US"/>
            </a:p>
          </p:txBody>
        </p:sp>
      </p:grpSp>
      <p:grpSp>
        <p:nvGrpSpPr>
          <p:cNvPr id="9" name="Group 9"/>
          <p:cNvGrpSpPr/>
          <p:nvPr/>
        </p:nvGrpSpPr>
        <p:grpSpPr>
          <a:xfrm>
            <a:off x="9620250" y="4382144"/>
            <a:ext cx="7024422" cy="8672"/>
            <a:chOff x="0" y="0"/>
            <a:chExt cx="10287000" cy="12700"/>
          </a:xfrm>
        </p:grpSpPr>
        <p:sp>
          <p:nvSpPr>
            <p:cNvPr id="10" name="Freeform 10"/>
            <p:cNvSpPr/>
            <p:nvPr/>
          </p:nvSpPr>
          <p:spPr>
            <a:xfrm>
              <a:off x="0" y="0"/>
              <a:ext cx="10287000" cy="12700"/>
            </a:xfrm>
            <a:custGeom>
              <a:avLst/>
              <a:gdLst/>
              <a:ahLst/>
              <a:cxnLst/>
              <a:rect l="l" t="t" r="r" b="b"/>
              <a:pathLst>
                <a:path w="10287000" h="12700">
                  <a:moveTo>
                    <a:pt x="0" y="0"/>
                  </a:moveTo>
                  <a:lnTo>
                    <a:pt x="10287000" y="0"/>
                  </a:lnTo>
                  <a:lnTo>
                    <a:pt x="10287000" y="12700"/>
                  </a:lnTo>
                  <a:lnTo>
                    <a:pt x="0" y="12700"/>
                  </a:lnTo>
                  <a:close/>
                </a:path>
              </a:pathLst>
            </a:custGeom>
            <a:solidFill>
              <a:srgbClr val="D9E5E1"/>
            </a:solidFill>
          </p:spPr>
          <p:txBody>
            <a:bodyPr/>
            <a:lstStyle/>
            <a:p>
              <a:endParaRPr lang="en-US"/>
            </a:p>
          </p:txBody>
        </p:sp>
      </p:grpSp>
      <p:grpSp>
        <p:nvGrpSpPr>
          <p:cNvPr id="11" name="Group 11"/>
          <p:cNvGrpSpPr/>
          <p:nvPr/>
        </p:nvGrpSpPr>
        <p:grpSpPr>
          <a:xfrm>
            <a:off x="9643379" y="5794538"/>
            <a:ext cx="7024422" cy="8672"/>
            <a:chOff x="0" y="0"/>
            <a:chExt cx="10287000" cy="12700"/>
          </a:xfrm>
        </p:grpSpPr>
        <p:sp>
          <p:nvSpPr>
            <p:cNvPr id="12" name="Freeform 12"/>
            <p:cNvSpPr/>
            <p:nvPr/>
          </p:nvSpPr>
          <p:spPr>
            <a:xfrm>
              <a:off x="0" y="0"/>
              <a:ext cx="10287000" cy="12700"/>
            </a:xfrm>
            <a:custGeom>
              <a:avLst/>
              <a:gdLst/>
              <a:ahLst/>
              <a:cxnLst/>
              <a:rect l="l" t="t" r="r" b="b"/>
              <a:pathLst>
                <a:path w="10287000" h="12700">
                  <a:moveTo>
                    <a:pt x="0" y="0"/>
                  </a:moveTo>
                  <a:lnTo>
                    <a:pt x="10287000" y="0"/>
                  </a:lnTo>
                  <a:lnTo>
                    <a:pt x="10287000" y="12700"/>
                  </a:lnTo>
                  <a:lnTo>
                    <a:pt x="0" y="12700"/>
                  </a:lnTo>
                  <a:close/>
                </a:path>
              </a:pathLst>
            </a:custGeom>
            <a:solidFill>
              <a:srgbClr val="D9E5E1"/>
            </a:solidFill>
          </p:spPr>
          <p:txBody>
            <a:bodyPr/>
            <a:lstStyle/>
            <a:p>
              <a:endParaRPr lang="en-US"/>
            </a:p>
          </p:txBody>
        </p:sp>
      </p:grpSp>
      <p:grpSp>
        <p:nvGrpSpPr>
          <p:cNvPr id="13" name="Group 13"/>
          <p:cNvGrpSpPr/>
          <p:nvPr/>
        </p:nvGrpSpPr>
        <p:grpSpPr>
          <a:xfrm>
            <a:off x="787403" y="617597"/>
            <a:ext cx="2111216" cy="631706"/>
            <a:chOff x="0" y="0"/>
            <a:chExt cx="2814955" cy="842275"/>
          </a:xfrm>
        </p:grpSpPr>
        <p:sp>
          <p:nvSpPr>
            <p:cNvPr id="14" name="Freeform 14"/>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15" name="TextBox 15"/>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16" name="Group 16"/>
          <p:cNvGrpSpPr/>
          <p:nvPr/>
        </p:nvGrpSpPr>
        <p:grpSpPr>
          <a:xfrm>
            <a:off x="0" y="0"/>
            <a:ext cx="18288000" cy="550922"/>
            <a:chOff x="0" y="0"/>
            <a:chExt cx="24384000" cy="734563"/>
          </a:xfrm>
        </p:grpSpPr>
        <p:grpSp>
          <p:nvGrpSpPr>
            <p:cNvPr id="17" name="Group 17"/>
            <p:cNvGrpSpPr/>
            <p:nvPr/>
          </p:nvGrpSpPr>
          <p:grpSpPr>
            <a:xfrm>
              <a:off x="0" y="0"/>
              <a:ext cx="24384000" cy="734563"/>
              <a:chOff x="0" y="0"/>
              <a:chExt cx="4816593" cy="145099"/>
            </a:xfrm>
          </p:grpSpPr>
          <p:sp>
            <p:nvSpPr>
              <p:cNvPr id="18" name="Freeform 18"/>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19" name="TextBox 19"/>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20" name="Freeform 20"/>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21" name="Freeform 21"/>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22" name="Freeform 22"/>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
        <p:nvSpPr>
          <p:cNvPr id="23" name="Freeform 23"/>
          <p:cNvSpPr/>
          <p:nvPr/>
        </p:nvSpPr>
        <p:spPr>
          <a:xfrm>
            <a:off x="9620250" y="5338398"/>
            <a:ext cx="6962985" cy="3919902"/>
          </a:xfrm>
          <a:custGeom>
            <a:avLst/>
            <a:gdLst/>
            <a:ahLst/>
            <a:cxnLst/>
            <a:rect l="l" t="t" r="r" b="b"/>
            <a:pathLst>
              <a:path w="6962985" h="3919902">
                <a:moveTo>
                  <a:pt x="0" y="0"/>
                </a:moveTo>
                <a:lnTo>
                  <a:pt x="6962985" y="0"/>
                </a:lnTo>
                <a:lnTo>
                  <a:pt x="6962985" y="3919902"/>
                </a:lnTo>
                <a:lnTo>
                  <a:pt x="0" y="3919902"/>
                </a:lnTo>
                <a:lnTo>
                  <a:pt x="0" y="0"/>
                </a:lnTo>
                <a:close/>
              </a:path>
            </a:pathLst>
          </a:custGeom>
          <a:blipFill>
            <a:blip r:embed="rId7"/>
            <a:stretch>
              <a:fillRect/>
            </a:stretch>
          </a:blipFill>
          <a:ln w="38100" cap="sq">
            <a:solidFill>
              <a:srgbClr val="FFFFFF"/>
            </a:solidFill>
            <a:prstDash val="solid"/>
            <a:miter/>
          </a:ln>
        </p:spPr>
        <p:txBody>
          <a:bodyPr/>
          <a:lstStyle/>
          <a:p>
            <a:endParaRPr lang="en-US"/>
          </a:p>
        </p:txBody>
      </p:sp>
      <p:grpSp>
        <p:nvGrpSpPr>
          <p:cNvPr id="24" name="Group 24"/>
          <p:cNvGrpSpPr/>
          <p:nvPr/>
        </p:nvGrpSpPr>
        <p:grpSpPr>
          <a:xfrm>
            <a:off x="16583235" y="5338398"/>
            <a:ext cx="676065" cy="3919902"/>
            <a:chOff x="0" y="0"/>
            <a:chExt cx="178058" cy="1032402"/>
          </a:xfrm>
        </p:grpSpPr>
        <p:sp>
          <p:nvSpPr>
            <p:cNvPr id="25" name="Freeform 25"/>
            <p:cNvSpPr/>
            <p:nvPr/>
          </p:nvSpPr>
          <p:spPr>
            <a:xfrm>
              <a:off x="0" y="0"/>
              <a:ext cx="178058" cy="1032402"/>
            </a:xfrm>
            <a:custGeom>
              <a:avLst/>
              <a:gdLst/>
              <a:ahLst/>
              <a:cxnLst/>
              <a:rect l="l" t="t" r="r" b="b"/>
              <a:pathLst>
                <a:path w="178058" h="1032402">
                  <a:moveTo>
                    <a:pt x="0" y="0"/>
                  </a:moveTo>
                  <a:lnTo>
                    <a:pt x="178058" y="0"/>
                  </a:lnTo>
                  <a:lnTo>
                    <a:pt x="178058" y="1032402"/>
                  </a:lnTo>
                  <a:lnTo>
                    <a:pt x="0" y="1032402"/>
                  </a:lnTo>
                  <a:close/>
                </a:path>
              </a:pathLst>
            </a:custGeom>
            <a:solidFill>
              <a:srgbClr val="FFFFFF"/>
            </a:solidFill>
          </p:spPr>
          <p:txBody>
            <a:bodyPr/>
            <a:lstStyle/>
            <a:p>
              <a:endParaRPr lang="en-US"/>
            </a:p>
          </p:txBody>
        </p:sp>
        <p:sp>
          <p:nvSpPr>
            <p:cNvPr id="26" name="TextBox 26"/>
            <p:cNvSpPr txBox="1"/>
            <p:nvPr/>
          </p:nvSpPr>
          <p:spPr>
            <a:xfrm>
              <a:off x="0" y="-57150"/>
              <a:ext cx="178058" cy="1089552"/>
            </a:xfrm>
            <a:prstGeom prst="rect">
              <a:avLst/>
            </a:prstGeom>
          </p:spPr>
          <p:txBody>
            <a:bodyPr lIns="50800" tIns="50800" rIns="50800" bIns="50800" rtlCol="0" anchor="ctr"/>
            <a:lstStyle/>
            <a:p>
              <a:pPr algn="ctr">
                <a:lnSpc>
                  <a:spcPts val="2510"/>
                </a:lnSpc>
              </a:pPr>
              <a:endParaRPr/>
            </a:p>
          </p:txBody>
        </p:sp>
      </p:grpSp>
      <p:sp>
        <p:nvSpPr>
          <p:cNvPr id="27" name="TextBox 27"/>
          <p:cNvSpPr txBox="1"/>
          <p:nvPr/>
        </p:nvSpPr>
        <p:spPr>
          <a:xfrm>
            <a:off x="9643379" y="1670685"/>
            <a:ext cx="7188906" cy="261870"/>
          </a:xfrm>
          <a:prstGeom prst="rect">
            <a:avLst/>
          </a:prstGeom>
        </p:spPr>
        <p:txBody>
          <a:bodyPr lIns="0" tIns="0" rIns="0" bIns="0" rtlCol="0" anchor="t">
            <a:spAutoFit/>
          </a:bodyPr>
          <a:lstStyle/>
          <a:p>
            <a:pPr algn="l">
              <a:lnSpc>
                <a:spcPts val="1802"/>
              </a:lnSpc>
            </a:pPr>
            <a:r>
              <a:rPr lang="en-US" sz="1502" b="1" spc="120">
                <a:solidFill>
                  <a:srgbClr val="EA580C"/>
                </a:solidFill>
                <a:latin typeface="Arial Bold"/>
                <a:ea typeface="Arial Bold"/>
                <a:cs typeface="Arial Bold"/>
                <a:sym typeface="Arial Bold"/>
              </a:rPr>
              <a:t>01</a:t>
            </a:r>
          </a:p>
        </p:txBody>
      </p:sp>
      <p:sp>
        <p:nvSpPr>
          <p:cNvPr id="28" name="TextBox 28"/>
          <p:cNvSpPr txBox="1"/>
          <p:nvPr/>
        </p:nvSpPr>
        <p:spPr>
          <a:xfrm>
            <a:off x="9643379" y="2046474"/>
            <a:ext cx="7188906" cy="344541"/>
          </a:xfrm>
          <a:prstGeom prst="rect">
            <a:avLst/>
          </a:prstGeom>
        </p:spPr>
        <p:txBody>
          <a:bodyPr lIns="0" tIns="0" rIns="0" bIns="0" rtlCol="0" anchor="t">
            <a:spAutoFit/>
          </a:bodyPr>
          <a:lstStyle/>
          <a:p>
            <a:pPr algn="l">
              <a:lnSpc>
                <a:spcPts val="2622"/>
              </a:lnSpc>
            </a:pPr>
            <a:r>
              <a:rPr lang="en-US" sz="2185" b="1" spc="-21">
                <a:solidFill>
                  <a:srgbClr val="0B1F23"/>
                </a:solidFill>
                <a:latin typeface="Arial Bold"/>
                <a:ea typeface="Arial Bold"/>
                <a:cs typeface="Arial Bold"/>
                <a:sym typeface="Arial Bold"/>
              </a:rPr>
              <a:t>Volume</a:t>
            </a:r>
          </a:p>
        </p:txBody>
      </p:sp>
      <p:sp>
        <p:nvSpPr>
          <p:cNvPr id="29" name="TextBox 29"/>
          <p:cNvSpPr txBox="1"/>
          <p:nvPr/>
        </p:nvSpPr>
        <p:spPr>
          <a:xfrm>
            <a:off x="9643379" y="2447793"/>
            <a:ext cx="3489082" cy="641603"/>
          </a:xfrm>
          <a:prstGeom prst="rect">
            <a:avLst/>
          </a:prstGeom>
        </p:spPr>
        <p:txBody>
          <a:bodyPr lIns="0" tIns="0" rIns="0" bIns="0" rtlCol="0" anchor="t">
            <a:spAutoFit/>
          </a:bodyPr>
          <a:lstStyle/>
          <a:p>
            <a:pPr algn="l">
              <a:lnSpc>
                <a:spcPts val="2571"/>
              </a:lnSpc>
            </a:pPr>
            <a:r>
              <a:rPr lang="en-US" sz="1642">
                <a:solidFill>
                  <a:srgbClr val="526664"/>
                </a:solidFill>
                <a:latin typeface="Arial"/>
                <a:ea typeface="Arial"/>
                <a:cs typeface="Arial"/>
                <a:sym typeface="Arial"/>
              </a:rPr>
              <a:t>Five marketplaces, one inbox per channel, no unified queue.</a:t>
            </a:r>
          </a:p>
        </p:txBody>
      </p:sp>
      <p:sp>
        <p:nvSpPr>
          <p:cNvPr id="30" name="TextBox 30"/>
          <p:cNvSpPr txBox="1"/>
          <p:nvPr/>
        </p:nvSpPr>
        <p:spPr>
          <a:xfrm>
            <a:off x="13477875" y="1663556"/>
            <a:ext cx="7188906" cy="261870"/>
          </a:xfrm>
          <a:prstGeom prst="rect">
            <a:avLst/>
          </a:prstGeom>
        </p:spPr>
        <p:txBody>
          <a:bodyPr lIns="0" tIns="0" rIns="0" bIns="0" rtlCol="0" anchor="t">
            <a:spAutoFit/>
          </a:bodyPr>
          <a:lstStyle/>
          <a:p>
            <a:pPr algn="l">
              <a:lnSpc>
                <a:spcPts val="1802"/>
              </a:lnSpc>
            </a:pPr>
            <a:r>
              <a:rPr lang="en-US" sz="1502" b="1" spc="120">
                <a:solidFill>
                  <a:srgbClr val="EA580C"/>
                </a:solidFill>
                <a:latin typeface="Arial Bold"/>
                <a:ea typeface="Arial Bold"/>
                <a:cs typeface="Arial Bold"/>
                <a:sym typeface="Arial Bold"/>
              </a:rPr>
              <a:t>02</a:t>
            </a:r>
          </a:p>
        </p:txBody>
      </p:sp>
      <p:sp>
        <p:nvSpPr>
          <p:cNvPr id="31" name="TextBox 31"/>
          <p:cNvSpPr txBox="1"/>
          <p:nvPr/>
        </p:nvSpPr>
        <p:spPr>
          <a:xfrm>
            <a:off x="13477875" y="2039354"/>
            <a:ext cx="7188906" cy="344541"/>
          </a:xfrm>
          <a:prstGeom prst="rect">
            <a:avLst/>
          </a:prstGeom>
        </p:spPr>
        <p:txBody>
          <a:bodyPr lIns="0" tIns="0" rIns="0" bIns="0" rtlCol="0" anchor="t">
            <a:spAutoFit/>
          </a:bodyPr>
          <a:lstStyle/>
          <a:p>
            <a:pPr algn="l">
              <a:lnSpc>
                <a:spcPts val="2622"/>
              </a:lnSpc>
            </a:pPr>
            <a:r>
              <a:rPr lang="en-US" sz="2185" b="1" spc="-21">
                <a:solidFill>
                  <a:srgbClr val="0B1F23"/>
                </a:solidFill>
                <a:latin typeface="Arial Bold"/>
                <a:ea typeface="Arial Bold"/>
                <a:cs typeface="Arial Bold"/>
                <a:sym typeface="Arial Bold"/>
              </a:rPr>
              <a:t>Language</a:t>
            </a:r>
          </a:p>
        </p:txBody>
      </p:sp>
      <p:sp>
        <p:nvSpPr>
          <p:cNvPr id="32" name="TextBox 32"/>
          <p:cNvSpPr txBox="1"/>
          <p:nvPr/>
        </p:nvSpPr>
        <p:spPr>
          <a:xfrm>
            <a:off x="13477875" y="2440665"/>
            <a:ext cx="3781425" cy="641603"/>
          </a:xfrm>
          <a:prstGeom prst="rect">
            <a:avLst/>
          </a:prstGeom>
        </p:spPr>
        <p:txBody>
          <a:bodyPr lIns="0" tIns="0" rIns="0" bIns="0" rtlCol="0" anchor="t">
            <a:spAutoFit/>
          </a:bodyPr>
          <a:lstStyle/>
          <a:p>
            <a:pPr algn="l">
              <a:lnSpc>
                <a:spcPts val="2571"/>
              </a:lnSpc>
            </a:pPr>
            <a:r>
              <a:rPr lang="en-US" sz="1642">
                <a:solidFill>
                  <a:srgbClr val="526664"/>
                </a:solidFill>
                <a:latin typeface="Arial"/>
                <a:ea typeface="Arial"/>
                <a:cs typeface="Arial"/>
                <a:sym typeface="Arial"/>
              </a:rPr>
              <a:t>English, Bahasa Malaysia, and Manglish in the same message.</a:t>
            </a:r>
          </a:p>
        </p:txBody>
      </p:sp>
      <p:sp>
        <p:nvSpPr>
          <p:cNvPr id="33" name="TextBox 33"/>
          <p:cNvSpPr txBox="1"/>
          <p:nvPr/>
        </p:nvSpPr>
        <p:spPr>
          <a:xfrm>
            <a:off x="9643379" y="3337046"/>
            <a:ext cx="7188906" cy="261870"/>
          </a:xfrm>
          <a:prstGeom prst="rect">
            <a:avLst/>
          </a:prstGeom>
        </p:spPr>
        <p:txBody>
          <a:bodyPr lIns="0" tIns="0" rIns="0" bIns="0" rtlCol="0" anchor="t">
            <a:spAutoFit/>
          </a:bodyPr>
          <a:lstStyle/>
          <a:p>
            <a:pPr algn="l">
              <a:lnSpc>
                <a:spcPts val="1802"/>
              </a:lnSpc>
            </a:pPr>
            <a:r>
              <a:rPr lang="en-US" sz="1502" b="1" spc="120">
                <a:solidFill>
                  <a:srgbClr val="EA580C"/>
                </a:solidFill>
                <a:latin typeface="Arial Bold"/>
                <a:ea typeface="Arial Bold"/>
                <a:cs typeface="Arial Bold"/>
                <a:sym typeface="Arial Bold"/>
              </a:rPr>
              <a:t>03</a:t>
            </a:r>
          </a:p>
        </p:txBody>
      </p:sp>
      <p:sp>
        <p:nvSpPr>
          <p:cNvPr id="34" name="TextBox 34"/>
          <p:cNvSpPr txBox="1"/>
          <p:nvPr/>
        </p:nvSpPr>
        <p:spPr>
          <a:xfrm>
            <a:off x="9643379" y="3712835"/>
            <a:ext cx="7188906" cy="344541"/>
          </a:xfrm>
          <a:prstGeom prst="rect">
            <a:avLst/>
          </a:prstGeom>
        </p:spPr>
        <p:txBody>
          <a:bodyPr lIns="0" tIns="0" rIns="0" bIns="0" rtlCol="0" anchor="t">
            <a:spAutoFit/>
          </a:bodyPr>
          <a:lstStyle/>
          <a:p>
            <a:pPr algn="l">
              <a:lnSpc>
                <a:spcPts val="2622"/>
              </a:lnSpc>
            </a:pPr>
            <a:r>
              <a:rPr lang="en-US" sz="2185" b="1" spc="-21">
                <a:solidFill>
                  <a:srgbClr val="0B1F23"/>
                </a:solidFill>
                <a:latin typeface="Arial Bold"/>
                <a:ea typeface="Arial Bold"/>
                <a:cs typeface="Arial Bold"/>
                <a:sym typeface="Arial Bold"/>
              </a:rPr>
              <a:t>Inconsistency</a:t>
            </a:r>
          </a:p>
        </p:txBody>
      </p:sp>
      <p:sp>
        <p:nvSpPr>
          <p:cNvPr id="35" name="TextBox 35"/>
          <p:cNvSpPr txBox="1"/>
          <p:nvPr/>
        </p:nvSpPr>
        <p:spPr>
          <a:xfrm>
            <a:off x="9643379" y="4082683"/>
            <a:ext cx="3489082" cy="703264"/>
          </a:xfrm>
          <a:prstGeom prst="rect">
            <a:avLst/>
          </a:prstGeom>
        </p:spPr>
        <p:txBody>
          <a:bodyPr lIns="0" tIns="0" rIns="0" bIns="0" rtlCol="0" anchor="t">
            <a:spAutoFit/>
          </a:bodyPr>
          <a:lstStyle/>
          <a:p>
            <a:pPr algn="l">
              <a:lnSpc>
                <a:spcPts val="2857"/>
              </a:lnSpc>
            </a:pPr>
            <a:r>
              <a:rPr lang="en-US" sz="1642">
                <a:solidFill>
                  <a:srgbClr val="526664"/>
                </a:solidFill>
                <a:latin typeface="Arial"/>
                <a:ea typeface="Arial"/>
                <a:cs typeface="Arial"/>
                <a:sym typeface="Arial"/>
              </a:rPr>
              <a:t>Two staff members give two different refund decisions for the same case.</a:t>
            </a:r>
          </a:p>
        </p:txBody>
      </p:sp>
      <p:sp>
        <p:nvSpPr>
          <p:cNvPr id="36" name="TextBox 36"/>
          <p:cNvSpPr txBox="1"/>
          <p:nvPr/>
        </p:nvSpPr>
        <p:spPr>
          <a:xfrm>
            <a:off x="13477875" y="3300762"/>
            <a:ext cx="7188906" cy="261870"/>
          </a:xfrm>
          <a:prstGeom prst="rect">
            <a:avLst/>
          </a:prstGeom>
        </p:spPr>
        <p:txBody>
          <a:bodyPr lIns="0" tIns="0" rIns="0" bIns="0" rtlCol="0" anchor="t">
            <a:spAutoFit/>
          </a:bodyPr>
          <a:lstStyle/>
          <a:p>
            <a:pPr algn="l">
              <a:lnSpc>
                <a:spcPts val="1802"/>
              </a:lnSpc>
            </a:pPr>
            <a:r>
              <a:rPr lang="en-US" sz="1502" b="1" spc="120">
                <a:solidFill>
                  <a:srgbClr val="EA580C"/>
                </a:solidFill>
                <a:latin typeface="Arial Bold"/>
                <a:ea typeface="Arial Bold"/>
                <a:cs typeface="Arial Bold"/>
                <a:sym typeface="Arial Bold"/>
              </a:rPr>
              <a:t>04</a:t>
            </a:r>
          </a:p>
        </p:txBody>
      </p:sp>
      <p:sp>
        <p:nvSpPr>
          <p:cNvPr id="37" name="TextBox 37"/>
          <p:cNvSpPr txBox="1"/>
          <p:nvPr/>
        </p:nvSpPr>
        <p:spPr>
          <a:xfrm>
            <a:off x="13477875" y="3676551"/>
            <a:ext cx="7188906" cy="344541"/>
          </a:xfrm>
          <a:prstGeom prst="rect">
            <a:avLst/>
          </a:prstGeom>
        </p:spPr>
        <p:txBody>
          <a:bodyPr lIns="0" tIns="0" rIns="0" bIns="0" rtlCol="0" anchor="t">
            <a:spAutoFit/>
          </a:bodyPr>
          <a:lstStyle/>
          <a:p>
            <a:pPr algn="l">
              <a:lnSpc>
                <a:spcPts val="2622"/>
              </a:lnSpc>
            </a:pPr>
            <a:r>
              <a:rPr lang="en-US" sz="2185" b="1" spc="-21">
                <a:solidFill>
                  <a:srgbClr val="0B1F23"/>
                </a:solidFill>
                <a:latin typeface="Arial Bold"/>
                <a:ea typeface="Arial Bold"/>
                <a:cs typeface="Arial Bold"/>
                <a:sym typeface="Arial Bold"/>
              </a:rPr>
              <a:t>No paper trail</a:t>
            </a:r>
          </a:p>
        </p:txBody>
      </p:sp>
      <p:sp>
        <p:nvSpPr>
          <p:cNvPr id="38" name="TextBox 38"/>
          <p:cNvSpPr txBox="1"/>
          <p:nvPr/>
        </p:nvSpPr>
        <p:spPr>
          <a:xfrm>
            <a:off x="13477875" y="4077870"/>
            <a:ext cx="3781425" cy="641603"/>
          </a:xfrm>
          <a:prstGeom prst="rect">
            <a:avLst/>
          </a:prstGeom>
        </p:spPr>
        <p:txBody>
          <a:bodyPr lIns="0" tIns="0" rIns="0" bIns="0" rtlCol="0" anchor="t">
            <a:spAutoFit/>
          </a:bodyPr>
          <a:lstStyle/>
          <a:p>
            <a:pPr algn="l">
              <a:lnSpc>
                <a:spcPts val="2571"/>
              </a:lnSpc>
            </a:pPr>
            <a:r>
              <a:rPr lang="en-US" sz="1642">
                <a:solidFill>
                  <a:srgbClr val="526664"/>
                </a:solidFill>
                <a:latin typeface="Arial"/>
                <a:ea typeface="Arial"/>
                <a:cs typeface="Arial"/>
                <a:sym typeface="Arial"/>
              </a:rPr>
              <a:t>Disputes escalate; sellers have no log of why a decision was made.</a:t>
            </a:r>
          </a:p>
        </p:txBody>
      </p:sp>
      <p:sp>
        <p:nvSpPr>
          <p:cNvPr id="39" name="TextBox 39"/>
          <p:cNvSpPr txBox="1"/>
          <p:nvPr/>
        </p:nvSpPr>
        <p:spPr>
          <a:xfrm>
            <a:off x="15366044" y="802005"/>
            <a:ext cx="2020252" cy="24384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02 / 12 · PROBLEM</a:t>
            </a:r>
          </a:p>
        </p:txBody>
      </p:sp>
      <p:sp>
        <p:nvSpPr>
          <p:cNvPr id="40" name="TextBox 40"/>
          <p:cNvSpPr txBox="1"/>
          <p:nvPr/>
        </p:nvSpPr>
        <p:spPr>
          <a:xfrm>
            <a:off x="977903" y="1730378"/>
            <a:ext cx="7895911" cy="285750"/>
          </a:xfrm>
          <a:prstGeom prst="rect">
            <a:avLst/>
          </a:prstGeom>
        </p:spPr>
        <p:txBody>
          <a:bodyPr lIns="0" tIns="0" rIns="0" bIns="0" rtlCol="0" anchor="t">
            <a:spAutoFit/>
          </a:bodyPr>
          <a:lstStyle/>
          <a:p>
            <a:pPr algn="l">
              <a:lnSpc>
                <a:spcPts val="1980"/>
              </a:lnSpc>
            </a:pPr>
            <a:r>
              <a:rPr lang="en-US" sz="1650" b="1" spc="132">
                <a:solidFill>
                  <a:srgbClr val="0B615B"/>
                </a:solidFill>
                <a:latin typeface="Arial Bold"/>
                <a:ea typeface="Arial Bold"/>
                <a:cs typeface="Arial Bold"/>
                <a:sym typeface="Arial Bold"/>
              </a:rPr>
              <a:t>PROBLEM</a:t>
            </a:r>
          </a:p>
        </p:txBody>
      </p:sp>
      <p:sp>
        <p:nvSpPr>
          <p:cNvPr id="41" name="TextBox 41"/>
          <p:cNvSpPr txBox="1"/>
          <p:nvPr/>
        </p:nvSpPr>
        <p:spPr>
          <a:xfrm>
            <a:off x="977903" y="2324100"/>
            <a:ext cx="7895911" cy="2638303"/>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Malaysian SME sellers are drowning in messy, code-switched complaints with no audit trail.</a:t>
            </a:r>
          </a:p>
        </p:txBody>
      </p:sp>
      <p:sp>
        <p:nvSpPr>
          <p:cNvPr id="42" name="TextBox 42"/>
          <p:cNvSpPr txBox="1"/>
          <p:nvPr/>
        </p:nvSpPr>
        <p:spPr>
          <a:xfrm>
            <a:off x="1028700" y="5356479"/>
            <a:ext cx="7012943" cy="3901821"/>
          </a:xfrm>
          <a:prstGeom prst="rect">
            <a:avLst/>
          </a:prstGeom>
        </p:spPr>
        <p:txBody>
          <a:bodyPr lIns="0" tIns="0" rIns="0" bIns="0" rtlCol="0" anchor="t">
            <a:spAutoFit/>
          </a:bodyPr>
          <a:lstStyle/>
          <a:p>
            <a:pPr algn="l">
              <a:lnSpc>
                <a:spcPts val="4437"/>
              </a:lnSpc>
            </a:pPr>
            <a:r>
              <a:rPr lang="en-US" sz="2550">
                <a:solidFill>
                  <a:srgbClr val="526664"/>
                </a:solidFill>
                <a:latin typeface="Arial"/>
                <a:ea typeface="Arial"/>
                <a:cs typeface="Arial"/>
                <a:sym typeface="Arial"/>
              </a:rPr>
              <a:t>A typical Malaysian seller juggles Shopee, Lazada, and TikTok Shop. Each complaint arrives in Manglish — a mix of Bahasa Malaysia and English that generic AI doesn't handle. Every wrong reply means a platform penalty, a negative star rating, or a lost sale. And there is zero audit trail.</a:t>
            </a:r>
          </a:p>
        </p:txBody>
      </p:sp>
      <p:grpSp>
        <p:nvGrpSpPr>
          <p:cNvPr id="43" name="Group 43"/>
          <p:cNvGrpSpPr/>
          <p:nvPr/>
        </p:nvGrpSpPr>
        <p:grpSpPr>
          <a:xfrm>
            <a:off x="17259300" y="5338398"/>
            <a:ext cx="76200" cy="3919902"/>
            <a:chOff x="0" y="0"/>
            <a:chExt cx="20069" cy="1032402"/>
          </a:xfrm>
        </p:grpSpPr>
        <p:sp>
          <p:nvSpPr>
            <p:cNvPr id="44" name="Freeform 44"/>
            <p:cNvSpPr/>
            <p:nvPr/>
          </p:nvSpPr>
          <p:spPr>
            <a:xfrm>
              <a:off x="0" y="0"/>
              <a:ext cx="20069" cy="1032402"/>
            </a:xfrm>
            <a:custGeom>
              <a:avLst/>
              <a:gdLst/>
              <a:ahLst/>
              <a:cxnLst/>
              <a:rect l="l" t="t" r="r" b="b"/>
              <a:pathLst>
                <a:path w="20069" h="1032402">
                  <a:moveTo>
                    <a:pt x="0" y="0"/>
                  </a:moveTo>
                  <a:lnTo>
                    <a:pt x="20069" y="0"/>
                  </a:lnTo>
                  <a:lnTo>
                    <a:pt x="20069" y="1032402"/>
                  </a:lnTo>
                  <a:lnTo>
                    <a:pt x="0" y="1032402"/>
                  </a:lnTo>
                  <a:close/>
                </a:path>
              </a:pathLst>
            </a:custGeom>
            <a:solidFill>
              <a:srgbClr val="E9570B"/>
            </a:solidFill>
          </p:spPr>
          <p:txBody>
            <a:bodyPr/>
            <a:lstStyle/>
            <a:p>
              <a:endParaRPr lang="en-US"/>
            </a:p>
          </p:txBody>
        </p:sp>
        <p:sp>
          <p:nvSpPr>
            <p:cNvPr id="45" name="TextBox 45"/>
            <p:cNvSpPr txBox="1"/>
            <p:nvPr/>
          </p:nvSpPr>
          <p:spPr>
            <a:xfrm>
              <a:off x="0" y="-57150"/>
              <a:ext cx="20069" cy="1089552"/>
            </a:xfrm>
            <a:prstGeom prst="rect">
              <a:avLst/>
            </a:prstGeom>
          </p:spPr>
          <p:txBody>
            <a:bodyPr lIns="50800" tIns="50800" rIns="50800" bIns="50800" rtlCol="0" anchor="ctr"/>
            <a:lstStyle/>
            <a:p>
              <a:pPr algn="ctr">
                <a:lnSpc>
                  <a:spcPts val="251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822960" y="1699898"/>
            <a:ext cx="16459200" cy="365760"/>
            <a:chOff x="0" y="0"/>
            <a:chExt cx="21945600" cy="487680"/>
          </a:xfrm>
        </p:grpSpPr>
        <p:sp>
          <p:nvSpPr>
            <p:cNvPr id="3" name="Freeform 3"/>
            <p:cNvSpPr/>
            <p:nvPr/>
          </p:nvSpPr>
          <p:spPr>
            <a:xfrm>
              <a:off x="0" y="0"/>
              <a:ext cx="21945600" cy="487680"/>
            </a:xfrm>
            <a:custGeom>
              <a:avLst/>
              <a:gdLst/>
              <a:ahLst/>
              <a:cxnLst/>
              <a:rect l="l" t="t" r="r" b="b"/>
              <a:pathLst>
                <a:path w="21945600" h="487680">
                  <a:moveTo>
                    <a:pt x="0" y="0"/>
                  </a:moveTo>
                  <a:lnTo>
                    <a:pt x="21945600" y="0"/>
                  </a:lnTo>
                  <a:lnTo>
                    <a:pt x="21945600" y="487680"/>
                  </a:lnTo>
                  <a:lnTo>
                    <a:pt x="0" y="487680"/>
                  </a:lnTo>
                  <a:close/>
                </a:path>
              </a:pathLst>
            </a:custGeom>
            <a:blipFill>
              <a:blip r:embed="rId3">
                <a:alphaModFix amt="0"/>
              </a:blip>
              <a:stretch>
                <a:fillRect t="-826826" b="-826826"/>
              </a:stretch>
            </a:blipFill>
          </p:spPr>
          <p:txBody>
            <a:bodyPr/>
            <a:lstStyle/>
            <a:p>
              <a:endParaRPr lang="en-US"/>
            </a:p>
          </p:txBody>
        </p:sp>
        <p:sp>
          <p:nvSpPr>
            <p:cNvPr id="4" name="TextBox 4"/>
            <p:cNvSpPr txBox="1"/>
            <p:nvPr/>
          </p:nvSpPr>
          <p:spPr>
            <a:xfrm>
              <a:off x="0" y="-19050"/>
              <a:ext cx="21945600" cy="506730"/>
            </a:xfrm>
            <a:prstGeom prst="rect">
              <a:avLst/>
            </a:prstGeom>
          </p:spPr>
          <p:txBody>
            <a:bodyPr lIns="0" tIns="0" rIns="0" bIns="0" rtlCol="0" anchor="ctr"/>
            <a:lstStyle/>
            <a:p>
              <a:pPr algn="l">
                <a:lnSpc>
                  <a:spcPts val="1980"/>
                </a:lnSpc>
              </a:pPr>
              <a:r>
                <a:rPr lang="en-US" sz="1650" b="1" spc="366">
                  <a:solidFill>
                    <a:srgbClr val="0B615B"/>
                  </a:solidFill>
                  <a:latin typeface="Arial Bold"/>
                  <a:ea typeface="Arial Bold"/>
                  <a:cs typeface="Arial Bold"/>
                  <a:sym typeface="Arial Bold"/>
                </a:rPr>
                <a:t>MARKET OPPORTUNITY</a:t>
              </a:r>
            </a:p>
          </p:txBody>
        </p:sp>
      </p:grpSp>
      <p:grpSp>
        <p:nvGrpSpPr>
          <p:cNvPr id="5" name="Group 5"/>
          <p:cNvGrpSpPr/>
          <p:nvPr/>
        </p:nvGrpSpPr>
        <p:grpSpPr>
          <a:xfrm>
            <a:off x="787403" y="1819275"/>
            <a:ext cx="16837666" cy="1371600"/>
            <a:chOff x="0" y="0"/>
            <a:chExt cx="22450222" cy="1828800"/>
          </a:xfrm>
        </p:grpSpPr>
        <p:sp>
          <p:nvSpPr>
            <p:cNvPr id="6" name="Freeform 6"/>
            <p:cNvSpPr/>
            <p:nvPr/>
          </p:nvSpPr>
          <p:spPr>
            <a:xfrm>
              <a:off x="0" y="0"/>
              <a:ext cx="22450222" cy="1828800"/>
            </a:xfrm>
            <a:custGeom>
              <a:avLst/>
              <a:gdLst/>
              <a:ahLst/>
              <a:cxnLst/>
              <a:rect l="l" t="t" r="r" b="b"/>
              <a:pathLst>
                <a:path w="22450222" h="1828800">
                  <a:moveTo>
                    <a:pt x="0" y="0"/>
                  </a:moveTo>
                  <a:lnTo>
                    <a:pt x="22450222" y="0"/>
                  </a:lnTo>
                  <a:lnTo>
                    <a:pt x="22450222" y="1828800"/>
                  </a:lnTo>
                  <a:lnTo>
                    <a:pt x="0" y="1828800"/>
                  </a:lnTo>
                  <a:close/>
                </a:path>
              </a:pathLst>
            </a:custGeom>
            <a:blipFill>
              <a:blip r:embed="rId3">
                <a:alphaModFix amt="0"/>
              </a:blip>
              <a:stretch>
                <a:fillRect t="-131860" r="23970" b="-131860"/>
              </a:stretch>
            </a:blipFill>
          </p:spPr>
          <p:txBody>
            <a:bodyPr/>
            <a:lstStyle/>
            <a:p>
              <a:endParaRPr lang="en-US"/>
            </a:p>
          </p:txBody>
        </p:sp>
        <p:sp>
          <p:nvSpPr>
            <p:cNvPr id="7" name="TextBox 7"/>
            <p:cNvSpPr txBox="1"/>
            <p:nvPr/>
          </p:nvSpPr>
          <p:spPr>
            <a:xfrm>
              <a:off x="0" y="-19050"/>
              <a:ext cx="22450222" cy="1847850"/>
            </a:xfrm>
            <a:prstGeom prst="rect">
              <a:avLst/>
            </a:prstGeom>
          </p:spPr>
          <p:txBody>
            <a:bodyPr lIns="0" tIns="0" rIns="0" bIns="0" rtlCol="0" anchor="ctr"/>
            <a:lstStyle/>
            <a:p>
              <a:pPr algn="l">
                <a:lnSpc>
                  <a:spcPts val="6240"/>
                </a:lnSpc>
              </a:pPr>
              <a:r>
                <a:rPr lang="en-US" sz="5200" b="1">
                  <a:solidFill>
                    <a:srgbClr val="1F2D2B"/>
                  </a:solidFill>
                  <a:latin typeface="Arial Bold"/>
                  <a:ea typeface="Arial Bold"/>
                  <a:cs typeface="Arial Bold"/>
                  <a:sym typeface="Arial Bold"/>
                </a:rPr>
                <a:t>A $23B market growing faster than sellers can cope.</a:t>
              </a:r>
            </a:p>
          </p:txBody>
        </p:sp>
      </p:grpSp>
      <p:grpSp>
        <p:nvGrpSpPr>
          <p:cNvPr id="8" name="Group 8"/>
          <p:cNvGrpSpPr/>
          <p:nvPr/>
        </p:nvGrpSpPr>
        <p:grpSpPr>
          <a:xfrm>
            <a:off x="800100" y="3118104"/>
            <a:ext cx="9144000" cy="365485"/>
            <a:chOff x="0" y="0"/>
            <a:chExt cx="12192000" cy="487313"/>
          </a:xfrm>
        </p:grpSpPr>
        <p:sp>
          <p:nvSpPr>
            <p:cNvPr id="9" name="Freeform 9"/>
            <p:cNvSpPr/>
            <p:nvPr/>
          </p:nvSpPr>
          <p:spPr>
            <a:xfrm>
              <a:off x="0" y="0"/>
              <a:ext cx="12192000" cy="487313"/>
            </a:xfrm>
            <a:custGeom>
              <a:avLst/>
              <a:gdLst/>
              <a:ahLst/>
              <a:cxnLst/>
              <a:rect l="l" t="t" r="r" b="b"/>
              <a:pathLst>
                <a:path w="12192000" h="487313">
                  <a:moveTo>
                    <a:pt x="0" y="0"/>
                  </a:moveTo>
                  <a:lnTo>
                    <a:pt x="12192000" y="0"/>
                  </a:lnTo>
                  <a:lnTo>
                    <a:pt x="12192000" y="487313"/>
                  </a:lnTo>
                  <a:lnTo>
                    <a:pt x="0" y="487313"/>
                  </a:lnTo>
                  <a:close/>
                </a:path>
              </a:pathLst>
            </a:custGeom>
            <a:blipFill>
              <a:blip r:embed="rId3">
                <a:alphaModFix amt="0"/>
              </a:blip>
              <a:stretch>
                <a:fillRect t="-442459" b="-432526"/>
              </a:stretch>
            </a:blipFill>
          </p:spPr>
          <p:txBody>
            <a:bodyPr/>
            <a:lstStyle/>
            <a:p>
              <a:endParaRPr lang="en-US"/>
            </a:p>
          </p:txBody>
        </p:sp>
        <p:sp>
          <p:nvSpPr>
            <p:cNvPr id="10" name="TextBox 10"/>
            <p:cNvSpPr txBox="1"/>
            <p:nvPr/>
          </p:nvSpPr>
          <p:spPr>
            <a:xfrm>
              <a:off x="0" y="-19050"/>
              <a:ext cx="12192000" cy="506363"/>
            </a:xfrm>
            <a:prstGeom prst="rect">
              <a:avLst/>
            </a:prstGeom>
          </p:spPr>
          <p:txBody>
            <a:bodyPr lIns="0" tIns="0" rIns="0" bIns="0" rtlCol="0" anchor="ctr"/>
            <a:lstStyle/>
            <a:p>
              <a:pPr algn="l">
                <a:lnSpc>
                  <a:spcPts val="2160"/>
                </a:lnSpc>
              </a:pPr>
              <a:r>
                <a:rPr lang="en-US" sz="1800">
                  <a:solidFill>
                    <a:srgbClr val="8B8F8D"/>
                  </a:solidFill>
                  <a:latin typeface="Arial"/>
                  <a:ea typeface="Arial"/>
                  <a:cs typeface="Arial"/>
                  <a:sym typeface="Arial"/>
                </a:rPr>
                <a:t>Malaysia e-commerce GMV (USD)</a:t>
              </a:r>
            </a:p>
          </p:txBody>
        </p:sp>
      </p:grpSp>
      <p:grpSp>
        <p:nvGrpSpPr>
          <p:cNvPr id="11" name="Group 11"/>
          <p:cNvGrpSpPr/>
          <p:nvPr/>
        </p:nvGrpSpPr>
        <p:grpSpPr>
          <a:xfrm>
            <a:off x="1793243" y="3562607"/>
            <a:ext cx="8163563" cy="628907"/>
            <a:chOff x="0" y="0"/>
            <a:chExt cx="10884751" cy="838543"/>
          </a:xfrm>
        </p:grpSpPr>
        <p:sp>
          <p:nvSpPr>
            <p:cNvPr id="12" name="Freeform 12"/>
            <p:cNvSpPr/>
            <p:nvPr/>
          </p:nvSpPr>
          <p:spPr>
            <a:xfrm>
              <a:off x="16891" y="16891"/>
              <a:ext cx="10850881" cy="804672"/>
            </a:xfrm>
            <a:custGeom>
              <a:avLst/>
              <a:gdLst/>
              <a:ahLst/>
              <a:cxnLst/>
              <a:rect l="l" t="t" r="r" b="b"/>
              <a:pathLst>
                <a:path w="10850881" h="804672">
                  <a:moveTo>
                    <a:pt x="0" y="0"/>
                  </a:moveTo>
                  <a:lnTo>
                    <a:pt x="10850881" y="0"/>
                  </a:lnTo>
                  <a:lnTo>
                    <a:pt x="10850881" y="804672"/>
                  </a:lnTo>
                  <a:lnTo>
                    <a:pt x="0" y="804672"/>
                  </a:lnTo>
                  <a:close/>
                </a:path>
              </a:pathLst>
            </a:custGeom>
            <a:solidFill>
              <a:srgbClr val="E7E9E6"/>
            </a:solidFill>
          </p:spPr>
          <p:txBody>
            <a:bodyPr/>
            <a:lstStyle/>
            <a:p>
              <a:endParaRPr lang="en-US"/>
            </a:p>
          </p:txBody>
        </p:sp>
        <p:sp>
          <p:nvSpPr>
            <p:cNvPr id="13" name="Freeform 13"/>
            <p:cNvSpPr/>
            <p:nvPr/>
          </p:nvSpPr>
          <p:spPr>
            <a:xfrm>
              <a:off x="0" y="0"/>
              <a:ext cx="10884662" cy="838456"/>
            </a:xfrm>
            <a:custGeom>
              <a:avLst/>
              <a:gdLst/>
              <a:ahLst/>
              <a:cxnLst/>
              <a:rect l="l" t="t" r="r" b="b"/>
              <a:pathLst>
                <a:path w="10884662" h="838456">
                  <a:moveTo>
                    <a:pt x="16891" y="0"/>
                  </a:moveTo>
                  <a:lnTo>
                    <a:pt x="10867772" y="0"/>
                  </a:lnTo>
                  <a:cubicBezTo>
                    <a:pt x="10877169" y="0"/>
                    <a:pt x="10884662" y="7620"/>
                    <a:pt x="10884662" y="16891"/>
                  </a:cubicBezTo>
                  <a:lnTo>
                    <a:pt x="10884662" y="821563"/>
                  </a:lnTo>
                  <a:cubicBezTo>
                    <a:pt x="10884662" y="830961"/>
                    <a:pt x="10877042" y="838454"/>
                    <a:pt x="10867772"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10867772" y="804672"/>
                  </a:lnTo>
                  <a:lnTo>
                    <a:pt x="10867772" y="821563"/>
                  </a:lnTo>
                  <a:lnTo>
                    <a:pt x="10850880" y="821563"/>
                  </a:lnTo>
                  <a:lnTo>
                    <a:pt x="10850880" y="16891"/>
                  </a:lnTo>
                  <a:lnTo>
                    <a:pt x="10867772" y="16891"/>
                  </a:lnTo>
                  <a:lnTo>
                    <a:pt x="10867772" y="33909"/>
                  </a:lnTo>
                  <a:lnTo>
                    <a:pt x="16891" y="33909"/>
                  </a:lnTo>
                  <a:close/>
                </a:path>
              </a:pathLst>
            </a:custGeom>
            <a:solidFill>
              <a:srgbClr val="E7E9E6"/>
            </a:solidFill>
          </p:spPr>
          <p:txBody>
            <a:bodyPr/>
            <a:lstStyle/>
            <a:p>
              <a:endParaRPr lang="en-US"/>
            </a:p>
          </p:txBody>
        </p:sp>
      </p:grpSp>
      <p:grpSp>
        <p:nvGrpSpPr>
          <p:cNvPr id="14" name="Group 14"/>
          <p:cNvGrpSpPr/>
          <p:nvPr/>
        </p:nvGrpSpPr>
        <p:grpSpPr>
          <a:xfrm>
            <a:off x="1793243" y="3562607"/>
            <a:ext cx="3768957" cy="628907"/>
            <a:chOff x="0" y="0"/>
            <a:chExt cx="5025276" cy="838543"/>
          </a:xfrm>
        </p:grpSpPr>
        <p:sp>
          <p:nvSpPr>
            <p:cNvPr id="15" name="Freeform 15"/>
            <p:cNvSpPr/>
            <p:nvPr/>
          </p:nvSpPr>
          <p:spPr>
            <a:xfrm>
              <a:off x="16891" y="16891"/>
              <a:ext cx="4991481" cy="804672"/>
            </a:xfrm>
            <a:custGeom>
              <a:avLst/>
              <a:gdLst/>
              <a:ahLst/>
              <a:cxnLst/>
              <a:rect l="l" t="t" r="r" b="b"/>
              <a:pathLst>
                <a:path w="4991481" h="804672">
                  <a:moveTo>
                    <a:pt x="0" y="0"/>
                  </a:moveTo>
                  <a:lnTo>
                    <a:pt x="4991481" y="0"/>
                  </a:lnTo>
                  <a:lnTo>
                    <a:pt x="4991481" y="804672"/>
                  </a:lnTo>
                  <a:lnTo>
                    <a:pt x="0" y="804672"/>
                  </a:lnTo>
                  <a:close/>
                </a:path>
              </a:pathLst>
            </a:custGeom>
            <a:solidFill>
              <a:srgbClr val="C7B1A3"/>
            </a:solidFill>
          </p:spPr>
          <p:txBody>
            <a:bodyPr/>
            <a:lstStyle/>
            <a:p>
              <a:endParaRPr lang="en-US"/>
            </a:p>
          </p:txBody>
        </p:sp>
        <p:sp>
          <p:nvSpPr>
            <p:cNvPr id="16" name="Freeform 16"/>
            <p:cNvSpPr/>
            <p:nvPr/>
          </p:nvSpPr>
          <p:spPr>
            <a:xfrm>
              <a:off x="0" y="0"/>
              <a:ext cx="5025263" cy="838456"/>
            </a:xfrm>
            <a:custGeom>
              <a:avLst/>
              <a:gdLst/>
              <a:ahLst/>
              <a:cxnLst/>
              <a:rect l="l" t="t" r="r" b="b"/>
              <a:pathLst>
                <a:path w="5025263" h="838456">
                  <a:moveTo>
                    <a:pt x="16891" y="0"/>
                  </a:moveTo>
                  <a:lnTo>
                    <a:pt x="5008372" y="0"/>
                  </a:lnTo>
                  <a:cubicBezTo>
                    <a:pt x="5017770" y="0"/>
                    <a:pt x="5025263" y="7620"/>
                    <a:pt x="5025263" y="16891"/>
                  </a:cubicBezTo>
                  <a:lnTo>
                    <a:pt x="5025263" y="821563"/>
                  </a:lnTo>
                  <a:cubicBezTo>
                    <a:pt x="5025263" y="830961"/>
                    <a:pt x="5017643" y="838454"/>
                    <a:pt x="5008372"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5008372" y="804672"/>
                  </a:lnTo>
                  <a:lnTo>
                    <a:pt x="5008372" y="821563"/>
                  </a:lnTo>
                  <a:lnTo>
                    <a:pt x="4991481" y="821563"/>
                  </a:lnTo>
                  <a:lnTo>
                    <a:pt x="4991481" y="16891"/>
                  </a:lnTo>
                  <a:lnTo>
                    <a:pt x="5008372" y="16891"/>
                  </a:lnTo>
                  <a:lnTo>
                    <a:pt x="5008372" y="33909"/>
                  </a:lnTo>
                  <a:lnTo>
                    <a:pt x="16891" y="33909"/>
                  </a:lnTo>
                  <a:close/>
                </a:path>
              </a:pathLst>
            </a:custGeom>
            <a:solidFill>
              <a:srgbClr val="C7B1A3"/>
            </a:solidFill>
          </p:spPr>
          <p:txBody>
            <a:bodyPr/>
            <a:lstStyle/>
            <a:p>
              <a:endParaRPr lang="en-US"/>
            </a:p>
          </p:txBody>
        </p:sp>
      </p:grpSp>
      <p:grpSp>
        <p:nvGrpSpPr>
          <p:cNvPr id="17" name="Group 17"/>
          <p:cNvGrpSpPr/>
          <p:nvPr/>
        </p:nvGrpSpPr>
        <p:grpSpPr>
          <a:xfrm>
            <a:off x="800100" y="3575304"/>
            <a:ext cx="914400" cy="603504"/>
            <a:chOff x="0" y="0"/>
            <a:chExt cx="1219200" cy="804672"/>
          </a:xfrm>
        </p:grpSpPr>
        <p:sp>
          <p:nvSpPr>
            <p:cNvPr id="18" name="Freeform 18"/>
            <p:cNvSpPr/>
            <p:nvPr/>
          </p:nvSpPr>
          <p:spPr>
            <a:xfrm>
              <a:off x="0" y="0"/>
              <a:ext cx="1219200" cy="804672"/>
            </a:xfrm>
            <a:custGeom>
              <a:avLst/>
              <a:gdLst/>
              <a:ahLst/>
              <a:cxnLst/>
              <a:rect l="l" t="t" r="r" b="b"/>
              <a:pathLst>
                <a:path w="1219200" h="804672">
                  <a:moveTo>
                    <a:pt x="0" y="0"/>
                  </a:moveTo>
                  <a:lnTo>
                    <a:pt x="1219200" y="0"/>
                  </a:lnTo>
                  <a:lnTo>
                    <a:pt x="1219200" y="804672"/>
                  </a:lnTo>
                  <a:lnTo>
                    <a:pt x="0" y="804672"/>
                  </a:lnTo>
                  <a:close/>
                </a:path>
              </a:pathLst>
            </a:custGeom>
            <a:blipFill>
              <a:blip r:embed="rId3">
                <a:alphaModFix amt="0"/>
              </a:blip>
              <a:stretch>
                <a:fillRect l="-34680" r="-34680"/>
              </a:stretch>
            </a:blipFill>
          </p:spPr>
          <p:txBody>
            <a:bodyPr/>
            <a:lstStyle/>
            <a:p>
              <a:endParaRPr lang="en-US"/>
            </a:p>
          </p:txBody>
        </p:sp>
        <p:sp>
          <p:nvSpPr>
            <p:cNvPr id="19" name="TextBox 19"/>
            <p:cNvSpPr txBox="1"/>
            <p:nvPr/>
          </p:nvSpPr>
          <p:spPr>
            <a:xfrm>
              <a:off x="0" y="-19050"/>
              <a:ext cx="1219200" cy="823722"/>
            </a:xfrm>
            <a:prstGeom prst="rect">
              <a:avLst/>
            </a:prstGeom>
          </p:spPr>
          <p:txBody>
            <a:bodyPr lIns="0" tIns="0" rIns="0" bIns="0" rtlCol="0" anchor="ctr"/>
            <a:lstStyle/>
            <a:p>
              <a:pPr algn="l">
                <a:lnSpc>
                  <a:spcPts val="2160"/>
                </a:lnSpc>
              </a:pPr>
              <a:r>
                <a:rPr lang="en-US" sz="1800">
                  <a:solidFill>
                    <a:srgbClr val="8B8F8D"/>
                  </a:solidFill>
                  <a:latin typeface="Arial"/>
                  <a:ea typeface="Arial"/>
                  <a:cs typeface="Arial"/>
                  <a:sym typeface="Arial"/>
                </a:rPr>
                <a:t>2025</a:t>
              </a:r>
            </a:p>
          </p:txBody>
        </p:sp>
      </p:grpSp>
      <p:grpSp>
        <p:nvGrpSpPr>
          <p:cNvPr id="20" name="Group 20"/>
          <p:cNvGrpSpPr/>
          <p:nvPr/>
        </p:nvGrpSpPr>
        <p:grpSpPr>
          <a:xfrm>
            <a:off x="1897380" y="3575304"/>
            <a:ext cx="2743200" cy="603504"/>
            <a:chOff x="0" y="0"/>
            <a:chExt cx="3657600" cy="804672"/>
          </a:xfrm>
        </p:grpSpPr>
        <p:sp>
          <p:nvSpPr>
            <p:cNvPr id="21" name="Freeform 21"/>
            <p:cNvSpPr/>
            <p:nvPr/>
          </p:nvSpPr>
          <p:spPr>
            <a:xfrm>
              <a:off x="0" y="0"/>
              <a:ext cx="3657600" cy="804672"/>
            </a:xfrm>
            <a:custGeom>
              <a:avLst/>
              <a:gdLst/>
              <a:ahLst/>
              <a:cxnLst/>
              <a:rect l="l" t="t" r="r" b="b"/>
              <a:pathLst>
                <a:path w="3657600" h="804672">
                  <a:moveTo>
                    <a:pt x="0" y="0"/>
                  </a:moveTo>
                  <a:lnTo>
                    <a:pt x="3657600" y="0"/>
                  </a:lnTo>
                  <a:lnTo>
                    <a:pt x="3657600" y="804672"/>
                  </a:lnTo>
                  <a:lnTo>
                    <a:pt x="0" y="804672"/>
                  </a:lnTo>
                  <a:close/>
                </a:path>
              </a:pathLst>
            </a:custGeom>
            <a:blipFill>
              <a:blip r:embed="rId3">
                <a:alphaModFix amt="0"/>
              </a:blip>
              <a:stretch>
                <a:fillRect t="-38568" b="-38568"/>
              </a:stretch>
            </a:blipFill>
          </p:spPr>
          <p:txBody>
            <a:bodyPr/>
            <a:lstStyle/>
            <a:p>
              <a:endParaRPr lang="en-US"/>
            </a:p>
          </p:txBody>
        </p:sp>
        <p:sp>
          <p:nvSpPr>
            <p:cNvPr id="22" name="TextBox 22"/>
            <p:cNvSpPr txBox="1"/>
            <p:nvPr/>
          </p:nvSpPr>
          <p:spPr>
            <a:xfrm>
              <a:off x="0" y="-19050"/>
              <a:ext cx="3657600" cy="823722"/>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$10.62B</a:t>
              </a:r>
            </a:p>
          </p:txBody>
        </p:sp>
      </p:grpSp>
      <p:grpSp>
        <p:nvGrpSpPr>
          <p:cNvPr id="23" name="Group 23"/>
          <p:cNvGrpSpPr/>
          <p:nvPr/>
        </p:nvGrpSpPr>
        <p:grpSpPr>
          <a:xfrm>
            <a:off x="1793243" y="4330703"/>
            <a:ext cx="8163563" cy="628907"/>
            <a:chOff x="0" y="0"/>
            <a:chExt cx="10884751" cy="838543"/>
          </a:xfrm>
        </p:grpSpPr>
        <p:sp>
          <p:nvSpPr>
            <p:cNvPr id="24" name="Freeform 24"/>
            <p:cNvSpPr/>
            <p:nvPr/>
          </p:nvSpPr>
          <p:spPr>
            <a:xfrm>
              <a:off x="16891" y="16891"/>
              <a:ext cx="10850881" cy="804672"/>
            </a:xfrm>
            <a:custGeom>
              <a:avLst/>
              <a:gdLst/>
              <a:ahLst/>
              <a:cxnLst/>
              <a:rect l="l" t="t" r="r" b="b"/>
              <a:pathLst>
                <a:path w="10850881" h="804672">
                  <a:moveTo>
                    <a:pt x="0" y="0"/>
                  </a:moveTo>
                  <a:lnTo>
                    <a:pt x="10850881" y="0"/>
                  </a:lnTo>
                  <a:lnTo>
                    <a:pt x="10850881" y="804672"/>
                  </a:lnTo>
                  <a:lnTo>
                    <a:pt x="0" y="804672"/>
                  </a:lnTo>
                  <a:close/>
                </a:path>
              </a:pathLst>
            </a:custGeom>
            <a:solidFill>
              <a:srgbClr val="E7E9E6"/>
            </a:solidFill>
          </p:spPr>
          <p:txBody>
            <a:bodyPr/>
            <a:lstStyle/>
            <a:p>
              <a:endParaRPr lang="en-US"/>
            </a:p>
          </p:txBody>
        </p:sp>
        <p:sp>
          <p:nvSpPr>
            <p:cNvPr id="25" name="Freeform 25"/>
            <p:cNvSpPr/>
            <p:nvPr/>
          </p:nvSpPr>
          <p:spPr>
            <a:xfrm>
              <a:off x="0" y="0"/>
              <a:ext cx="10884662" cy="838456"/>
            </a:xfrm>
            <a:custGeom>
              <a:avLst/>
              <a:gdLst/>
              <a:ahLst/>
              <a:cxnLst/>
              <a:rect l="l" t="t" r="r" b="b"/>
              <a:pathLst>
                <a:path w="10884662" h="838456">
                  <a:moveTo>
                    <a:pt x="16891" y="0"/>
                  </a:moveTo>
                  <a:lnTo>
                    <a:pt x="10867772" y="0"/>
                  </a:lnTo>
                  <a:cubicBezTo>
                    <a:pt x="10877169" y="0"/>
                    <a:pt x="10884662" y="7620"/>
                    <a:pt x="10884662" y="16891"/>
                  </a:cubicBezTo>
                  <a:lnTo>
                    <a:pt x="10884662" y="821563"/>
                  </a:lnTo>
                  <a:cubicBezTo>
                    <a:pt x="10884662" y="830961"/>
                    <a:pt x="10877042" y="838454"/>
                    <a:pt x="10867772"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10867772" y="804672"/>
                  </a:lnTo>
                  <a:lnTo>
                    <a:pt x="10867772" y="821563"/>
                  </a:lnTo>
                  <a:lnTo>
                    <a:pt x="10850880" y="821563"/>
                  </a:lnTo>
                  <a:lnTo>
                    <a:pt x="10850880" y="16891"/>
                  </a:lnTo>
                  <a:lnTo>
                    <a:pt x="10867772" y="16891"/>
                  </a:lnTo>
                  <a:lnTo>
                    <a:pt x="10867772" y="33909"/>
                  </a:lnTo>
                  <a:lnTo>
                    <a:pt x="16891" y="33909"/>
                  </a:lnTo>
                  <a:close/>
                </a:path>
              </a:pathLst>
            </a:custGeom>
            <a:solidFill>
              <a:srgbClr val="E7E9E6"/>
            </a:solidFill>
          </p:spPr>
          <p:txBody>
            <a:bodyPr/>
            <a:lstStyle/>
            <a:p>
              <a:endParaRPr lang="en-US"/>
            </a:p>
          </p:txBody>
        </p:sp>
      </p:grpSp>
      <p:grpSp>
        <p:nvGrpSpPr>
          <p:cNvPr id="26" name="Group 26"/>
          <p:cNvGrpSpPr/>
          <p:nvPr/>
        </p:nvGrpSpPr>
        <p:grpSpPr>
          <a:xfrm>
            <a:off x="1793243" y="4330703"/>
            <a:ext cx="4338628" cy="628907"/>
            <a:chOff x="0" y="0"/>
            <a:chExt cx="5784837" cy="838543"/>
          </a:xfrm>
        </p:grpSpPr>
        <p:sp>
          <p:nvSpPr>
            <p:cNvPr id="27" name="Freeform 27"/>
            <p:cNvSpPr/>
            <p:nvPr/>
          </p:nvSpPr>
          <p:spPr>
            <a:xfrm>
              <a:off x="16891" y="16891"/>
              <a:ext cx="5751068" cy="804672"/>
            </a:xfrm>
            <a:custGeom>
              <a:avLst/>
              <a:gdLst/>
              <a:ahLst/>
              <a:cxnLst/>
              <a:rect l="l" t="t" r="r" b="b"/>
              <a:pathLst>
                <a:path w="5751068" h="804672">
                  <a:moveTo>
                    <a:pt x="0" y="0"/>
                  </a:moveTo>
                  <a:lnTo>
                    <a:pt x="5751068" y="0"/>
                  </a:lnTo>
                  <a:lnTo>
                    <a:pt x="5751068" y="804672"/>
                  </a:lnTo>
                  <a:lnTo>
                    <a:pt x="0" y="804672"/>
                  </a:lnTo>
                  <a:close/>
                </a:path>
              </a:pathLst>
            </a:custGeom>
            <a:solidFill>
              <a:srgbClr val="F08A4B"/>
            </a:solidFill>
          </p:spPr>
          <p:txBody>
            <a:bodyPr/>
            <a:lstStyle/>
            <a:p>
              <a:endParaRPr lang="en-US"/>
            </a:p>
          </p:txBody>
        </p:sp>
        <p:sp>
          <p:nvSpPr>
            <p:cNvPr id="28" name="Freeform 28"/>
            <p:cNvSpPr/>
            <p:nvPr/>
          </p:nvSpPr>
          <p:spPr>
            <a:xfrm>
              <a:off x="0" y="0"/>
              <a:ext cx="5784850" cy="838456"/>
            </a:xfrm>
            <a:custGeom>
              <a:avLst/>
              <a:gdLst/>
              <a:ahLst/>
              <a:cxnLst/>
              <a:rect l="l" t="t" r="r" b="b"/>
              <a:pathLst>
                <a:path w="5784850" h="838456">
                  <a:moveTo>
                    <a:pt x="16891" y="0"/>
                  </a:moveTo>
                  <a:lnTo>
                    <a:pt x="5767959" y="0"/>
                  </a:lnTo>
                  <a:cubicBezTo>
                    <a:pt x="5777357" y="0"/>
                    <a:pt x="5784850" y="7620"/>
                    <a:pt x="5784850" y="16891"/>
                  </a:cubicBezTo>
                  <a:lnTo>
                    <a:pt x="5784850" y="821563"/>
                  </a:lnTo>
                  <a:cubicBezTo>
                    <a:pt x="5784850" y="830961"/>
                    <a:pt x="5777230" y="838454"/>
                    <a:pt x="5767959"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5767959" y="804672"/>
                  </a:lnTo>
                  <a:lnTo>
                    <a:pt x="5767959" y="821563"/>
                  </a:lnTo>
                  <a:lnTo>
                    <a:pt x="5751068" y="821563"/>
                  </a:lnTo>
                  <a:lnTo>
                    <a:pt x="5751068" y="16891"/>
                  </a:lnTo>
                  <a:lnTo>
                    <a:pt x="5767959" y="16891"/>
                  </a:lnTo>
                  <a:lnTo>
                    <a:pt x="5767959" y="33909"/>
                  </a:lnTo>
                  <a:lnTo>
                    <a:pt x="16891" y="33909"/>
                  </a:lnTo>
                  <a:close/>
                </a:path>
              </a:pathLst>
            </a:custGeom>
            <a:solidFill>
              <a:srgbClr val="F08A4B"/>
            </a:solidFill>
          </p:spPr>
          <p:txBody>
            <a:bodyPr/>
            <a:lstStyle/>
            <a:p>
              <a:endParaRPr lang="en-US"/>
            </a:p>
          </p:txBody>
        </p:sp>
      </p:grpSp>
      <p:grpSp>
        <p:nvGrpSpPr>
          <p:cNvPr id="29" name="Group 29"/>
          <p:cNvGrpSpPr/>
          <p:nvPr/>
        </p:nvGrpSpPr>
        <p:grpSpPr>
          <a:xfrm>
            <a:off x="800100" y="4343400"/>
            <a:ext cx="914400" cy="603504"/>
            <a:chOff x="0" y="0"/>
            <a:chExt cx="1219200" cy="804672"/>
          </a:xfrm>
        </p:grpSpPr>
        <p:sp>
          <p:nvSpPr>
            <p:cNvPr id="30" name="Freeform 30"/>
            <p:cNvSpPr/>
            <p:nvPr/>
          </p:nvSpPr>
          <p:spPr>
            <a:xfrm>
              <a:off x="0" y="0"/>
              <a:ext cx="1219200" cy="804672"/>
            </a:xfrm>
            <a:custGeom>
              <a:avLst/>
              <a:gdLst/>
              <a:ahLst/>
              <a:cxnLst/>
              <a:rect l="l" t="t" r="r" b="b"/>
              <a:pathLst>
                <a:path w="1219200" h="804672">
                  <a:moveTo>
                    <a:pt x="0" y="0"/>
                  </a:moveTo>
                  <a:lnTo>
                    <a:pt x="1219200" y="0"/>
                  </a:lnTo>
                  <a:lnTo>
                    <a:pt x="1219200" y="804672"/>
                  </a:lnTo>
                  <a:lnTo>
                    <a:pt x="0" y="804672"/>
                  </a:lnTo>
                  <a:close/>
                </a:path>
              </a:pathLst>
            </a:custGeom>
            <a:blipFill>
              <a:blip r:embed="rId3">
                <a:alphaModFix amt="0"/>
              </a:blip>
              <a:stretch>
                <a:fillRect l="-34680" r="-34680"/>
              </a:stretch>
            </a:blipFill>
          </p:spPr>
          <p:txBody>
            <a:bodyPr/>
            <a:lstStyle/>
            <a:p>
              <a:endParaRPr lang="en-US"/>
            </a:p>
          </p:txBody>
        </p:sp>
        <p:sp>
          <p:nvSpPr>
            <p:cNvPr id="31" name="TextBox 31"/>
            <p:cNvSpPr txBox="1"/>
            <p:nvPr/>
          </p:nvSpPr>
          <p:spPr>
            <a:xfrm>
              <a:off x="0" y="-19050"/>
              <a:ext cx="1219200" cy="823722"/>
            </a:xfrm>
            <a:prstGeom prst="rect">
              <a:avLst/>
            </a:prstGeom>
          </p:spPr>
          <p:txBody>
            <a:bodyPr lIns="0" tIns="0" rIns="0" bIns="0" rtlCol="0" anchor="ctr"/>
            <a:lstStyle/>
            <a:p>
              <a:pPr algn="l">
                <a:lnSpc>
                  <a:spcPts val="2160"/>
                </a:lnSpc>
              </a:pPr>
              <a:r>
                <a:rPr lang="en-US" sz="1800">
                  <a:solidFill>
                    <a:srgbClr val="8B8F8D"/>
                  </a:solidFill>
                  <a:latin typeface="Arial"/>
                  <a:ea typeface="Arial"/>
                  <a:cs typeface="Arial"/>
                  <a:sym typeface="Arial"/>
                </a:rPr>
                <a:t>2026</a:t>
              </a:r>
            </a:p>
          </p:txBody>
        </p:sp>
      </p:grpSp>
      <p:grpSp>
        <p:nvGrpSpPr>
          <p:cNvPr id="32" name="Group 32"/>
          <p:cNvGrpSpPr/>
          <p:nvPr/>
        </p:nvGrpSpPr>
        <p:grpSpPr>
          <a:xfrm>
            <a:off x="1897380" y="4343400"/>
            <a:ext cx="2743200" cy="603504"/>
            <a:chOff x="0" y="0"/>
            <a:chExt cx="3657600" cy="804672"/>
          </a:xfrm>
        </p:grpSpPr>
        <p:sp>
          <p:nvSpPr>
            <p:cNvPr id="33" name="Freeform 33"/>
            <p:cNvSpPr/>
            <p:nvPr/>
          </p:nvSpPr>
          <p:spPr>
            <a:xfrm>
              <a:off x="0" y="0"/>
              <a:ext cx="3657600" cy="804672"/>
            </a:xfrm>
            <a:custGeom>
              <a:avLst/>
              <a:gdLst/>
              <a:ahLst/>
              <a:cxnLst/>
              <a:rect l="l" t="t" r="r" b="b"/>
              <a:pathLst>
                <a:path w="3657600" h="804672">
                  <a:moveTo>
                    <a:pt x="0" y="0"/>
                  </a:moveTo>
                  <a:lnTo>
                    <a:pt x="3657600" y="0"/>
                  </a:lnTo>
                  <a:lnTo>
                    <a:pt x="3657600" y="804672"/>
                  </a:lnTo>
                  <a:lnTo>
                    <a:pt x="0" y="804672"/>
                  </a:lnTo>
                  <a:close/>
                </a:path>
              </a:pathLst>
            </a:custGeom>
            <a:blipFill>
              <a:blip r:embed="rId3">
                <a:alphaModFix amt="0"/>
              </a:blip>
              <a:stretch>
                <a:fillRect t="-38568" b="-38568"/>
              </a:stretch>
            </a:blipFill>
          </p:spPr>
          <p:txBody>
            <a:bodyPr/>
            <a:lstStyle/>
            <a:p>
              <a:endParaRPr lang="en-US"/>
            </a:p>
          </p:txBody>
        </p:sp>
        <p:sp>
          <p:nvSpPr>
            <p:cNvPr id="34" name="TextBox 34"/>
            <p:cNvSpPr txBox="1"/>
            <p:nvPr/>
          </p:nvSpPr>
          <p:spPr>
            <a:xfrm>
              <a:off x="0" y="-19050"/>
              <a:ext cx="3657600" cy="823722"/>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$12.18B</a:t>
              </a:r>
            </a:p>
          </p:txBody>
        </p:sp>
      </p:grpSp>
      <p:grpSp>
        <p:nvGrpSpPr>
          <p:cNvPr id="35" name="Group 35"/>
          <p:cNvGrpSpPr/>
          <p:nvPr/>
        </p:nvGrpSpPr>
        <p:grpSpPr>
          <a:xfrm>
            <a:off x="1793243" y="5098799"/>
            <a:ext cx="8163563" cy="628907"/>
            <a:chOff x="0" y="0"/>
            <a:chExt cx="10884751" cy="838543"/>
          </a:xfrm>
        </p:grpSpPr>
        <p:sp>
          <p:nvSpPr>
            <p:cNvPr id="36" name="Freeform 36"/>
            <p:cNvSpPr/>
            <p:nvPr/>
          </p:nvSpPr>
          <p:spPr>
            <a:xfrm>
              <a:off x="16891" y="16891"/>
              <a:ext cx="10850881" cy="804672"/>
            </a:xfrm>
            <a:custGeom>
              <a:avLst/>
              <a:gdLst/>
              <a:ahLst/>
              <a:cxnLst/>
              <a:rect l="l" t="t" r="r" b="b"/>
              <a:pathLst>
                <a:path w="10850881" h="804672">
                  <a:moveTo>
                    <a:pt x="0" y="0"/>
                  </a:moveTo>
                  <a:lnTo>
                    <a:pt x="10850881" y="0"/>
                  </a:lnTo>
                  <a:lnTo>
                    <a:pt x="10850881" y="804672"/>
                  </a:lnTo>
                  <a:lnTo>
                    <a:pt x="0" y="804672"/>
                  </a:lnTo>
                  <a:close/>
                </a:path>
              </a:pathLst>
            </a:custGeom>
            <a:solidFill>
              <a:srgbClr val="E7E9E6"/>
            </a:solidFill>
          </p:spPr>
          <p:txBody>
            <a:bodyPr/>
            <a:lstStyle/>
            <a:p>
              <a:endParaRPr lang="en-US"/>
            </a:p>
          </p:txBody>
        </p:sp>
        <p:sp>
          <p:nvSpPr>
            <p:cNvPr id="37" name="Freeform 37"/>
            <p:cNvSpPr/>
            <p:nvPr/>
          </p:nvSpPr>
          <p:spPr>
            <a:xfrm>
              <a:off x="0" y="0"/>
              <a:ext cx="10884662" cy="838456"/>
            </a:xfrm>
            <a:custGeom>
              <a:avLst/>
              <a:gdLst/>
              <a:ahLst/>
              <a:cxnLst/>
              <a:rect l="l" t="t" r="r" b="b"/>
              <a:pathLst>
                <a:path w="10884662" h="838456">
                  <a:moveTo>
                    <a:pt x="16891" y="0"/>
                  </a:moveTo>
                  <a:lnTo>
                    <a:pt x="10867772" y="0"/>
                  </a:lnTo>
                  <a:cubicBezTo>
                    <a:pt x="10877169" y="0"/>
                    <a:pt x="10884662" y="7620"/>
                    <a:pt x="10884662" y="16891"/>
                  </a:cubicBezTo>
                  <a:lnTo>
                    <a:pt x="10884662" y="821563"/>
                  </a:lnTo>
                  <a:cubicBezTo>
                    <a:pt x="10884662" y="830961"/>
                    <a:pt x="10877042" y="838454"/>
                    <a:pt x="10867772"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10867772" y="804672"/>
                  </a:lnTo>
                  <a:lnTo>
                    <a:pt x="10867772" y="821563"/>
                  </a:lnTo>
                  <a:lnTo>
                    <a:pt x="10850880" y="821563"/>
                  </a:lnTo>
                  <a:lnTo>
                    <a:pt x="10850880" y="16891"/>
                  </a:lnTo>
                  <a:lnTo>
                    <a:pt x="10867772" y="16891"/>
                  </a:lnTo>
                  <a:lnTo>
                    <a:pt x="10867772" y="33909"/>
                  </a:lnTo>
                  <a:lnTo>
                    <a:pt x="16891" y="33909"/>
                  </a:lnTo>
                  <a:close/>
                </a:path>
              </a:pathLst>
            </a:custGeom>
            <a:solidFill>
              <a:srgbClr val="E7E9E6"/>
            </a:solidFill>
          </p:spPr>
          <p:txBody>
            <a:bodyPr/>
            <a:lstStyle/>
            <a:p>
              <a:endParaRPr lang="en-US"/>
            </a:p>
          </p:txBody>
        </p:sp>
      </p:grpSp>
      <p:grpSp>
        <p:nvGrpSpPr>
          <p:cNvPr id="38" name="Group 38"/>
          <p:cNvGrpSpPr/>
          <p:nvPr/>
        </p:nvGrpSpPr>
        <p:grpSpPr>
          <a:xfrm>
            <a:off x="1793243" y="5098799"/>
            <a:ext cx="8163563" cy="628907"/>
            <a:chOff x="0" y="0"/>
            <a:chExt cx="10884751" cy="838543"/>
          </a:xfrm>
        </p:grpSpPr>
        <p:sp>
          <p:nvSpPr>
            <p:cNvPr id="39" name="Freeform 39"/>
            <p:cNvSpPr/>
            <p:nvPr/>
          </p:nvSpPr>
          <p:spPr>
            <a:xfrm>
              <a:off x="16891" y="16891"/>
              <a:ext cx="10850881" cy="804672"/>
            </a:xfrm>
            <a:custGeom>
              <a:avLst/>
              <a:gdLst/>
              <a:ahLst/>
              <a:cxnLst/>
              <a:rect l="l" t="t" r="r" b="b"/>
              <a:pathLst>
                <a:path w="10850881" h="804672">
                  <a:moveTo>
                    <a:pt x="0" y="0"/>
                  </a:moveTo>
                  <a:lnTo>
                    <a:pt x="10850881" y="0"/>
                  </a:lnTo>
                  <a:lnTo>
                    <a:pt x="10850881" y="804672"/>
                  </a:lnTo>
                  <a:lnTo>
                    <a:pt x="0" y="804672"/>
                  </a:lnTo>
                  <a:close/>
                </a:path>
              </a:pathLst>
            </a:custGeom>
            <a:solidFill>
              <a:srgbClr val="E9570B"/>
            </a:solidFill>
          </p:spPr>
          <p:txBody>
            <a:bodyPr/>
            <a:lstStyle/>
            <a:p>
              <a:endParaRPr lang="en-US"/>
            </a:p>
          </p:txBody>
        </p:sp>
        <p:sp>
          <p:nvSpPr>
            <p:cNvPr id="40" name="Freeform 40"/>
            <p:cNvSpPr/>
            <p:nvPr/>
          </p:nvSpPr>
          <p:spPr>
            <a:xfrm>
              <a:off x="0" y="0"/>
              <a:ext cx="10884662" cy="838456"/>
            </a:xfrm>
            <a:custGeom>
              <a:avLst/>
              <a:gdLst/>
              <a:ahLst/>
              <a:cxnLst/>
              <a:rect l="l" t="t" r="r" b="b"/>
              <a:pathLst>
                <a:path w="10884662" h="838456">
                  <a:moveTo>
                    <a:pt x="16891" y="0"/>
                  </a:moveTo>
                  <a:lnTo>
                    <a:pt x="10867772" y="0"/>
                  </a:lnTo>
                  <a:cubicBezTo>
                    <a:pt x="10877169" y="0"/>
                    <a:pt x="10884662" y="7620"/>
                    <a:pt x="10884662" y="16891"/>
                  </a:cubicBezTo>
                  <a:lnTo>
                    <a:pt x="10884662" y="821563"/>
                  </a:lnTo>
                  <a:cubicBezTo>
                    <a:pt x="10884662" y="830961"/>
                    <a:pt x="10877042" y="838454"/>
                    <a:pt x="10867772" y="838454"/>
                  </a:cubicBezTo>
                  <a:lnTo>
                    <a:pt x="16891" y="838454"/>
                  </a:lnTo>
                  <a:cubicBezTo>
                    <a:pt x="7620" y="838581"/>
                    <a:pt x="0" y="830961"/>
                    <a:pt x="0" y="821563"/>
                  </a:cubicBezTo>
                  <a:lnTo>
                    <a:pt x="0" y="16891"/>
                  </a:lnTo>
                  <a:cubicBezTo>
                    <a:pt x="0" y="7620"/>
                    <a:pt x="7620" y="0"/>
                    <a:pt x="16891" y="0"/>
                  </a:cubicBezTo>
                  <a:moveTo>
                    <a:pt x="16891" y="33909"/>
                  </a:moveTo>
                  <a:lnTo>
                    <a:pt x="16891" y="16891"/>
                  </a:lnTo>
                  <a:lnTo>
                    <a:pt x="33909" y="16891"/>
                  </a:lnTo>
                  <a:lnTo>
                    <a:pt x="33909" y="821563"/>
                  </a:lnTo>
                  <a:lnTo>
                    <a:pt x="16891" y="821563"/>
                  </a:lnTo>
                  <a:lnTo>
                    <a:pt x="16891" y="804672"/>
                  </a:lnTo>
                  <a:lnTo>
                    <a:pt x="10867772" y="804672"/>
                  </a:lnTo>
                  <a:lnTo>
                    <a:pt x="10867772" y="821563"/>
                  </a:lnTo>
                  <a:lnTo>
                    <a:pt x="10850880" y="821563"/>
                  </a:lnTo>
                  <a:lnTo>
                    <a:pt x="10850880" y="16891"/>
                  </a:lnTo>
                  <a:lnTo>
                    <a:pt x="10867772" y="16891"/>
                  </a:lnTo>
                  <a:lnTo>
                    <a:pt x="10867772" y="33909"/>
                  </a:lnTo>
                  <a:lnTo>
                    <a:pt x="16891" y="33909"/>
                  </a:lnTo>
                  <a:close/>
                </a:path>
              </a:pathLst>
            </a:custGeom>
            <a:solidFill>
              <a:srgbClr val="F05A22"/>
            </a:solidFill>
          </p:spPr>
          <p:txBody>
            <a:bodyPr/>
            <a:lstStyle/>
            <a:p>
              <a:endParaRPr lang="en-US"/>
            </a:p>
          </p:txBody>
        </p:sp>
      </p:grpSp>
      <p:grpSp>
        <p:nvGrpSpPr>
          <p:cNvPr id="41" name="Group 41"/>
          <p:cNvGrpSpPr/>
          <p:nvPr/>
        </p:nvGrpSpPr>
        <p:grpSpPr>
          <a:xfrm>
            <a:off x="800100" y="5111496"/>
            <a:ext cx="914400" cy="603504"/>
            <a:chOff x="0" y="0"/>
            <a:chExt cx="1219200" cy="804672"/>
          </a:xfrm>
        </p:grpSpPr>
        <p:sp>
          <p:nvSpPr>
            <p:cNvPr id="42" name="Freeform 42"/>
            <p:cNvSpPr/>
            <p:nvPr/>
          </p:nvSpPr>
          <p:spPr>
            <a:xfrm>
              <a:off x="0" y="0"/>
              <a:ext cx="1219200" cy="804672"/>
            </a:xfrm>
            <a:custGeom>
              <a:avLst/>
              <a:gdLst/>
              <a:ahLst/>
              <a:cxnLst/>
              <a:rect l="l" t="t" r="r" b="b"/>
              <a:pathLst>
                <a:path w="1219200" h="804672">
                  <a:moveTo>
                    <a:pt x="0" y="0"/>
                  </a:moveTo>
                  <a:lnTo>
                    <a:pt x="1219200" y="0"/>
                  </a:lnTo>
                  <a:lnTo>
                    <a:pt x="1219200" y="804672"/>
                  </a:lnTo>
                  <a:lnTo>
                    <a:pt x="0" y="804672"/>
                  </a:lnTo>
                  <a:close/>
                </a:path>
              </a:pathLst>
            </a:custGeom>
            <a:blipFill>
              <a:blip r:embed="rId3">
                <a:alphaModFix amt="0"/>
              </a:blip>
              <a:stretch>
                <a:fillRect l="-34680" r="-34680"/>
              </a:stretch>
            </a:blipFill>
          </p:spPr>
          <p:txBody>
            <a:bodyPr/>
            <a:lstStyle/>
            <a:p>
              <a:endParaRPr lang="en-US"/>
            </a:p>
          </p:txBody>
        </p:sp>
        <p:sp>
          <p:nvSpPr>
            <p:cNvPr id="43" name="TextBox 43"/>
            <p:cNvSpPr txBox="1"/>
            <p:nvPr/>
          </p:nvSpPr>
          <p:spPr>
            <a:xfrm>
              <a:off x="0" y="-19050"/>
              <a:ext cx="1219200" cy="823722"/>
            </a:xfrm>
            <a:prstGeom prst="rect">
              <a:avLst/>
            </a:prstGeom>
          </p:spPr>
          <p:txBody>
            <a:bodyPr lIns="0" tIns="0" rIns="0" bIns="0" rtlCol="0" anchor="ctr"/>
            <a:lstStyle/>
            <a:p>
              <a:pPr algn="l">
                <a:lnSpc>
                  <a:spcPts val="2160"/>
                </a:lnSpc>
              </a:pPr>
              <a:r>
                <a:rPr lang="en-US" sz="1800">
                  <a:solidFill>
                    <a:srgbClr val="8B8F8D"/>
                  </a:solidFill>
                  <a:latin typeface="Arial"/>
                  <a:ea typeface="Arial"/>
                  <a:cs typeface="Arial"/>
                  <a:sym typeface="Arial"/>
                </a:rPr>
                <a:t>2031</a:t>
              </a:r>
            </a:p>
          </p:txBody>
        </p:sp>
      </p:grpSp>
      <p:grpSp>
        <p:nvGrpSpPr>
          <p:cNvPr id="44" name="Group 44"/>
          <p:cNvGrpSpPr/>
          <p:nvPr/>
        </p:nvGrpSpPr>
        <p:grpSpPr>
          <a:xfrm>
            <a:off x="1897380" y="5111496"/>
            <a:ext cx="2743200" cy="603504"/>
            <a:chOff x="0" y="0"/>
            <a:chExt cx="3657600" cy="804672"/>
          </a:xfrm>
        </p:grpSpPr>
        <p:sp>
          <p:nvSpPr>
            <p:cNvPr id="45" name="Freeform 45"/>
            <p:cNvSpPr/>
            <p:nvPr/>
          </p:nvSpPr>
          <p:spPr>
            <a:xfrm>
              <a:off x="0" y="0"/>
              <a:ext cx="3657600" cy="804672"/>
            </a:xfrm>
            <a:custGeom>
              <a:avLst/>
              <a:gdLst/>
              <a:ahLst/>
              <a:cxnLst/>
              <a:rect l="l" t="t" r="r" b="b"/>
              <a:pathLst>
                <a:path w="3657600" h="804672">
                  <a:moveTo>
                    <a:pt x="0" y="0"/>
                  </a:moveTo>
                  <a:lnTo>
                    <a:pt x="3657600" y="0"/>
                  </a:lnTo>
                  <a:lnTo>
                    <a:pt x="3657600" y="804672"/>
                  </a:lnTo>
                  <a:lnTo>
                    <a:pt x="0" y="804672"/>
                  </a:lnTo>
                  <a:close/>
                </a:path>
              </a:pathLst>
            </a:custGeom>
            <a:blipFill>
              <a:blip r:embed="rId3">
                <a:alphaModFix amt="0"/>
              </a:blip>
              <a:stretch>
                <a:fillRect t="-38568" b="-38568"/>
              </a:stretch>
            </a:blipFill>
          </p:spPr>
          <p:txBody>
            <a:bodyPr/>
            <a:lstStyle/>
            <a:p>
              <a:endParaRPr lang="en-US"/>
            </a:p>
          </p:txBody>
        </p:sp>
        <p:sp>
          <p:nvSpPr>
            <p:cNvPr id="46" name="TextBox 46"/>
            <p:cNvSpPr txBox="1"/>
            <p:nvPr/>
          </p:nvSpPr>
          <p:spPr>
            <a:xfrm>
              <a:off x="0" y="-19050"/>
              <a:ext cx="3657600" cy="823722"/>
            </a:xfrm>
            <a:prstGeom prst="rect">
              <a:avLst/>
            </a:prstGeom>
          </p:spPr>
          <p:txBody>
            <a:bodyPr lIns="0" tIns="0" rIns="0" bIns="0" rtlCol="0" anchor="ctr"/>
            <a:lstStyle/>
            <a:p>
              <a:pPr algn="l">
                <a:lnSpc>
                  <a:spcPts val="2160"/>
                </a:lnSpc>
              </a:pPr>
              <a:r>
                <a:rPr lang="en-US" sz="1800" b="1">
                  <a:solidFill>
                    <a:srgbClr val="FFFFFF"/>
                  </a:solidFill>
                  <a:latin typeface="Arial Bold"/>
                  <a:ea typeface="Arial Bold"/>
                  <a:cs typeface="Arial Bold"/>
                  <a:sym typeface="Arial Bold"/>
                </a:rPr>
                <a:t>$23.11B</a:t>
              </a:r>
            </a:p>
          </p:txBody>
        </p:sp>
      </p:grpSp>
      <p:grpSp>
        <p:nvGrpSpPr>
          <p:cNvPr id="47" name="Group 47"/>
          <p:cNvGrpSpPr/>
          <p:nvPr/>
        </p:nvGrpSpPr>
        <p:grpSpPr>
          <a:xfrm>
            <a:off x="787403" y="5903471"/>
            <a:ext cx="5146043" cy="537467"/>
            <a:chOff x="0" y="0"/>
            <a:chExt cx="6861391" cy="716623"/>
          </a:xfrm>
        </p:grpSpPr>
        <p:sp>
          <p:nvSpPr>
            <p:cNvPr id="48" name="Freeform 48"/>
            <p:cNvSpPr/>
            <p:nvPr/>
          </p:nvSpPr>
          <p:spPr>
            <a:xfrm>
              <a:off x="16891" y="16891"/>
              <a:ext cx="6827520" cy="682752"/>
            </a:xfrm>
            <a:custGeom>
              <a:avLst/>
              <a:gdLst/>
              <a:ahLst/>
              <a:cxnLst/>
              <a:rect l="l" t="t" r="r" b="b"/>
              <a:pathLst>
                <a:path w="6827520" h="682752">
                  <a:moveTo>
                    <a:pt x="0" y="341376"/>
                  </a:moveTo>
                  <a:cubicBezTo>
                    <a:pt x="0" y="152908"/>
                    <a:pt x="159639" y="0"/>
                    <a:pt x="356616" y="0"/>
                  </a:cubicBezTo>
                  <a:lnTo>
                    <a:pt x="6471031" y="0"/>
                  </a:lnTo>
                  <a:cubicBezTo>
                    <a:pt x="6667881" y="0"/>
                    <a:pt x="6827520" y="152781"/>
                    <a:pt x="6827520" y="341376"/>
                  </a:cubicBezTo>
                  <a:cubicBezTo>
                    <a:pt x="6827520" y="529971"/>
                    <a:pt x="6667881" y="682752"/>
                    <a:pt x="6471031" y="682752"/>
                  </a:cubicBezTo>
                  <a:lnTo>
                    <a:pt x="356616" y="682752"/>
                  </a:lnTo>
                  <a:cubicBezTo>
                    <a:pt x="159766" y="682752"/>
                    <a:pt x="127" y="529971"/>
                    <a:pt x="127" y="341376"/>
                  </a:cubicBezTo>
                  <a:close/>
                </a:path>
              </a:pathLst>
            </a:custGeom>
            <a:solidFill>
              <a:srgbClr val="F05A22">
                <a:alpha val="784"/>
              </a:srgbClr>
            </a:solidFill>
          </p:spPr>
          <p:txBody>
            <a:bodyPr/>
            <a:lstStyle/>
            <a:p>
              <a:endParaRPr lang="en-US"/>
            </a:p>
          </p:txBody>
        </p:sp>
        <p:sp>
          <p:nvSpPr>
            <p:cNvPr id="49" name="Freeform 49"/>
            <p:cNvSpPr/>
            <p:nvPr/>
          </p:nvSpPr>
          <p:spPr>
            <a:xfrm>
              <a:off x="0" y="0"/>
              <a:ext cx="6861428" cy="716534"/>
            </a:xfrm>
            <a:custGeom>
              <a:avLst/>
              <a:gdLst/>
              <a:ahLst/>
              <a:cxnLst/>
              <a:rect l="l" t="t" r="r" b="b"/>
              <a:pathLst>
                <a:path w="6861428" h="716534">
                  <a:moveTo>
                    <a:pt x="0" y="358267"/>
                  </a:moveTo>
                  <a:cubicBezTo>
                    <a:pt x="0" y="159766"/>
                    <a:pt x="167894" y="0"/>
                    <a:pt x="373507" y="0"/>
                  </a:cubicBezTo>
                  <a:lnTo>
                    <a:pt x="6487922" y="0"/>
                  </a:lnTo>
                  <a:lnTo>
                    <a:pt x="6487922" y="16891"/>
                  </a:lnTo>
                  <a:lnTo>
                    <a:pt x="6487922" y="0"/>
                  </a:lnTo>
                  <a:cubicBezTo>
                    <a:pt x="6693535" y="0"/>
                    <a:pt x="6861428" y="159766"/>
                    <a:pt x="6861428" y="358267"/>
                  </a:cubicBezTo>
                  <a:lnTo>
                    <a:pt x="6844538" y="358267"/>
                  </a:lnTo>
                  <a:lnTo>
                    <a:pt x="6861428" y="358267"/>
                  </a:lnTo>
                  <a:lnTo>
                    <a:pt x="6844538" y="358267"/>
                  </a:lnTo>
                  <a:lnTo>
                    <a:pt x="6861428" y="358267"/>
                  </a:lnTo>
                  <a:cubicBezTo>
                    <a:pt x="6861428" y="556895"/>
                    <a:pt x="6693535" y="716534"/>
                    <a:pt x="6487922" y="716534"/>
                  </a:cubicBezTo>
                  <a:lnTo>
                    <a:pt x="6487922" y="699643"/>
                  </a:lnTo>
                  <a:lnTo>
                    <a:pt x="6487922" y="716534"/>
                  </a:lnTo>
                  <a:lnTo>
                    <a:pt x="373507" y="716534"/>
                  </a:lnTo>
                  <a:lnTo>
                    <a:pt x="373507" y="699643"/>
                  </a:lnTo>
                  <a:lnTo>
                    <a:pt x="373507" y="716534"/>
                  </a:lnTo>
                  <a:cubicBezTo>
                    <a:pt x="167894" y="716661"/>
                    <a:pt x="0" y="556895"/>
                    <a:pt x="0" y="358267"/>
                  </a:cubicBezTo>
                  <a:lnTo>
                    <a:pt x="16891" y="358267"/>
                  </a:lnTo>
                  <a:lnTo>
                    <a:pt x="0" y="358267"/>
                  </a:lnTo>
                  <a:moveTo>
                    <a:pt x="33909" y="358267"/>
                  </a:moveTo>
                  <a:lnTo>
                    <a:pt x="16891" y="358267"/>
                  </a:lnTo>
                  <a:lnTo>
                    <a:pt x="33909" y="358267"/>
                  </a:lnTo>
                  <a:cubicBezTo>
                    <a:pt x="33909" y="536829"/>
                    <a:pt x="185293" y="682752"/>
                    <a:pt x="373507" y="682752"/>
                  </a:cubicBezTo>
                  <a:lnTo>
                    <a:pt x="6487922" y="682752"/>
                  </a:lnTo>
                  <a:cubicBezTo>
                    <a:pt x="6676136" y="682752"/>
                    <a:pt x="6827520" y="536829"/>
                    <a:pt x="6827520" y="358267"/>
                  </a:cubicBezTo>
                  <a:cubicBezTo>
                    <a:pt x="6827520" y="179705"/>
                    <a:pt x="6676136" y="33782"/>
                    <a:pt x="6487922" y="33782"/>
                  </a:cubicBezTo>
                  <a:lnTo>
                    <a:pt x="373507" y="33782"/>
                  </a:lnTo>
                  <a:lnTo>
                    <a:pt x="373507" y="16891"/>
                  </a:lnTo>
                  <a:lnTo>
                    <a:pt x="373507" y="33909"/>
                  </a:lnTo>
                  <a:cubicBezTo>
                    <a:pt x="185166" y="33909"/>
                    <a:pt x="33909" y="179832"/>
                    <a:pt x="33909" y="358267"/>
                  </a:cubicBezTo>
                  <a:close/>
                </a:path>
              </a:pathLst>
            </a:custGeom>
            <a:solidFill>
              <a:srgbClr val="F05A22">
                <a:alpha val="3922"/>
              </a:srgbClr>
            </a:solidFill>
          </p:spPr>
          <p:txBody>
            <a:bodyPr/>
            <a:lstStyle/>
            <a:p>
              <a:endParaRPr lang="en-US"/>
            </a:p>
          </p:txBody>
        </p:sp>
      </p:grpSp>
      <p:grpSp>
        <p:nvGrpSpPr>
          <p:cNvPr id="50" name="Group 50"/>
          <p:cNvGrpSpPr/>
          <p:nvPr/>
        </p:nvGrpSpPr>
        <p:grpSpPr>
          <a:xfrm>
            <a:off x="891540" y="5916168"/>
            <a:ext cx="5120640" cy="512064"/>
            <a:chOff x="0" y="0"/>
            <a:chExt cx="6827520" cy="682752"/>
          </a:xfrm>
        </p:grpSpPr>
        <p:sp>
          <p:nvSpPr>
            <p:cNvPr id="51" name="Freeform 51"/>
            <p:cNvSpPr/>
            <p:nvPr/>
          </p:nvSpPr>
          <p:spPr>
            <a:xfrm>
              <a:off x="0" y="0"/>
              <a:ext cx="6827520" cy="682752"/>
            </a:xfrm>
            <a:custGeom>
              <a:avLst/>
              <a:gdLst/>
              <a:ahLst/>
              <a:cxnLst/>
              <a:rect l="l" t="t" r="r" b="b"/>
              <a:pathLst>
                <a:path w="6827520" h="682752">
                  <a:moveTo>
                    <a:pt x="0" y="0"/>
                  </a:moveTo>
                  <a:lnTo>
                    <a:pt x="6827520" y="0"/>
                  </a:lnTo>
                  <a:lnTo>
                    <a:pt x="6827520" y="682752"/>
                  </a:lnTo>
                  <a:lnTo>
                    <a:pt x="0" y="682752"/>
                  </a:lnTo>
                  <a:close/>
                </a:path>
              </a:pathLst>
            </a:custGeom>
            <a:blipFill>
              <a:blip r:embed="rId3">
                <a:alphaModFix amt="0"/>
              </a:blip>
              <a:stretch>
                <a:fillRect t="-144850" b="-144850"/>
              </a:stretch>
            </a:blipFill>
          </p:spPr>
          <p:txBody>
            <a:bodyPr/>
            <a:lstStyle/>
            <a:p>
              <a:endParaRPr lang="en-US"/>
            </a:p>
          </p:txBody>
        </p:sp>
        <p:sp>
          <p:nvSpPr>
            <p:cNvPr id="52" name="TextBox 52"/>
            <p:cNvSpPr txBox="1"/>
            <p:nvPr/>
          </p:nvSpPr>
          <p:spPr>
            <a:xfrm>
              <a:off x="0" y="-19050"/>
              <a:ext cx="6827520" cy="701802"/>
            </a:xfrm>
            <a:prstGeom prst="rect">
              <a:avLst/>
            </a:prstGeom>
          </p:spPr>
          <p:txBody>
            <a:bodyPr lIns="0" tIns="0" rIns="0" bIns="0" rtlCol="0" anchor="ctr"/>
            <a:lstStyle/>
            <a:p>
              <a:pPr algn="l">
                <a:lnSpc>
                  <a:spcPts val="2039"/>
                </a:lnSpc>
              </a:pPr>
              <a:r>
                <a:rPr lang="en-US" sz="1700">
                  <a:solidFill>
                    <a:srgbClr val="E9570B"/>
                  </a:solidFill>
                  <a:latin typeface="Arial"/>
                  <a:ea typeface="Arial"/>
                  <a:cs typeface="Arial"/>
                  <a:sym typeface="Arial"/>
                </a:rPr>
                <a:t>13.67% CAGR · fastest-growing SEA market</a:t>
              </a:r>
            </a:p>
          </p:txBody>
        </p:sp>
      </p:grpSp>
      <p:grpSp>
        <p:nvGrpSpPr>
          <p:cNvPr id="53" name="Group 53"/>
          <p:cNvGrpSpPr/>
          <p:nvPr/>
        </p:nvGrpSpPr>
        <p:grpSpPr>
          <a:xfrm>
            <a:off x="800100" y="6684264"/>
            <a:ext cx="1737360" cy="402336"/>
            <a:chOff x="0" y="0"/>
            <a:chExt cx="2316480" cy="536448"/>
          </a:xfrm>
        </p:grpSpPr>
        <p:sp>
          <p:nvSpPr>
            <p:cNvPr id="54" name="Freeform 54"/>
            <p:cNvSpPr/>
            <p:nvPr/>
          </p:nvSpPr>
          <p:spPr>
            <a:xfrm>
              <a:off x="0" y="0"/>
              <a:ext cx="2316480" cy="536448"/>
            </a:xfrm>
            <a:custGeom>
              <a:avLst/>
              <a:gdLst/>
              <a:ahLst/>
              <a:cxnLst/>
              <a:rect l="l" t="t" r="r" b="b"/>
              <a:pathLst>
                <a:path w="2316480" h="536448">
                  <a:moveTo>
                    <a:pt x="0" y="0"/>
                  </a:moveTo>
                  <a:lnTo>
                    <a:pt x="2316480" y="0"/>
                  </a:lnTo>
                  <a:lnTo>
                    <a:pt x="2316480" y="536448"/>
                  </a:lnTo>
                  <a:lnTo>
                    <a:pt x="0" y="536448"/>
                  </a:lnTo>
                  <a:close/>
                </a:path>
              </a:pathLst>
            </a:custGeom>
            <a:blipFill>
              <a:blip r:embed="rId3">
                <a:alphaModFix amt="0"/>
              </a:blip>
              <a:stretch>
                <a:fillRect t="-34139" b="-34139"/>
              </a:stretch>
            </a:blipFill>
          </p:spPr>
          <p:txBody>
            <a:bodyPr/>
            <a:lstStyle/>
            <a:p>
              <a:endParaRPr lang="en-US"/>
            </a:p>
          </p:txBody>
        </p:sp>
        <p:sp>
          <p:nvSpPr>
            <p:cNvPr id="55" name="TextBox 55"/>
            <p:cNvSpPr txBox="1"/>
            <p:nvPr/>
          </p:nvSpPr>
          <p:spPr>
            <a:xfrm>
              <a:off x="0" y="-19050"/>
              <a:ext cx="2316480" cy="555498"/>
            </a:xfrm>
            <a:prstGeom prst="rect">
              <a:avLst/>
            </a:prstGeom>
          </p:spPr>
          <p:txBody>
            <a:bodyPr lIns="0" tIns="0" rIns="0" bIns="0" rtlCol="0" anchor="ctr"/>
            <a:lstStyle/>
            <a:p>
              <a:pPr algn="l">
                <a:lnSpc>
                  <a:spcPts val="2160"/>
                </a:lnSpc>
              </a:pPr>
              <a:r>
                <a:rPr lang="en-US" sz="1800">
                  <a:solidFill>
                    <a:srgbClr val="1F2D2B"/>
                  </a:solidFill>
                  <a:latin typeface="Arial"/>
                  <a:ea typeface="Arial"/>
                  <a:cs typeface="Arial"/>
                  <a:sym typeface="Arial"/>
                </a:rPr>
                <a:t>Shopee</a:t>
              </a:r>
            </a:p>
          </p:txBody>
        </p:sp>
      </p:grpSp>
      <p:grpSp>
        <p:nvGrpSpPr>
          <p:cNvPr id="56" name="Group 56"/>
          <p:cNvGrpSpPr/>
          <p:nvPr/>
        </p:nvGrpSpPr>
        <p:grpSpPr>
          <a:xfrm>
            <a:off x="2616203" y="6781295"/>
            <a:ext cx="7157723" cy="208283"/>
            <a:chOff x="0" y="0"/>
            <a:chExt cx="9543631" cy="277711"/>
          </a:xfrm>
        </p:grpSpPr>
        <p:sp>
          <p:nvSpPr>
            <p:cNvPr id="57" name="Freeform 57"/>
            <p:cNvSpPr/>
            <p:nvPr/>
          </p:nvSpPr>
          <p:spPr>
            <a:xfrm>
              <a:off x="16891" y="16891"/>
              <a:ext cx="9509760" cy="243840"/>
            </a:xfrm>
            <a:custGeom>
              <a:avLst/>
              <a:gdLst/>
              <a:ahLst/>
              <a:cxnLst/>
              <a:rect l="l" t="t" r="r" b="b"/>
              <a:pathLst>
                <a:path w="9509760" h="243840">
                  <a:moveTo>
                    <a:pt x="0" y="0"/>
                  </a:moveTo>
                  <a:lnTo>
                    <a:pt x="9509760" y="0"/>
                  </a:lnTo>
                  <a:lnTo>
                    <a:pt x="9509760" y="243840"/>
                  </a:lnTo>
                  <a:lnTo>
                    <a:pt x="0" y="243840"/>
                  </a:lnTo>
                  <a:close/>
                </a:path>
              </a:pathLst>
            </a:custGeom>
            <a:solidFill>
              <a:srgbClr val="E7E9E6"/>
            </a:solidFill>
          </p:spPr>
          <p:txBody>
            <a:bodyPr/>
            <a:lstStyle/>
            <a:p>
              <a:endParaRPr lang="en-US"/>
            </a:p>
          </p:txBody>
        </p:sp>
        <p:sp>
          <p:nvSpPr>
            <p:cNvPr id="58" name="Freeform 58"/>
            <p:cNvSpPr/>
            <p:nvPr/>
          </p:nvSpPr>
          <p:spPr>
            <a:xfrm>
              <a:off x="0" y="0"/>
              <a:ext cx="9543542" cy="277624"/>
            </a:xfrm>
            <a:custGeom>
              <a:avLst/>
              <a:gdLst/>
              <a:ahLst/>
              <a:cxnLst/>
              <a:rect l="l" t="t" r="r" b="b"/>
              <a:pathLst>
                <a:path w="9543542" h="277624">
                  <a:moveTo>
                    <a:pt x="16891" y="0"/>
                  </a:moveTo>
                  <a:lnTo>
                    <a:pt x="9526651" y="0"/>
                  </a:lnTo>
                  <a:cubicBezTo>
                    <a:pt x="9536049" y="0"/>
                    <a:pt x="9543542" y="7620"/>
                    <a:pt x="9543542" y="16891"/>
                  </a:cubicBezTo>
                  <a:lnTo>
                    <a:pt x="9543542" y="260731"/>
                  </a:lnTo>
                  <a:cubicBezTo>
                    <a:pt x="9543542" y="270129"/>
                    <a:pt x="9535922" y="277622"/>
                    <a:pt x="952665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9526651" y="243840"/>
                  </a:lnTo>
                  <a:lnTo>
                    <a:pt x="9526651" y="260731"/>
                  </a:lnTo>
                  <a:lnTo>
                    <a:pt x="9509760" y="260731"/>
                  </a:lnTo>
                  <a:lnTo>
                    <a:pt x="9509760" y="16891"/>
                  </a:lnTo>
                  <a:lnTo>
                    <a:pt x="9526651" y="16891"/>
                  </a:lnTo>
                  <a:lnTo>
                    <a:pt x="9526651" y="33909"/>
                  </a:lnTo>
                  <a:lnTo>
                    <a:pt x="16891" y="33909"/>
                  </a:lnTo>
                  <a:close/>
                </a:path>
              </a:pathLst>
            </a:custGeom>
            <a:solidFill>
              <a:srgbClr val="E7E9E6"/>
            </a:solidFill>
          </p:spPr>
          <p:txBody>
            <a:bodyPr/>
            <a:lstStyle/>
            <a:p>
              <a:endParaRPr lang="en-US"/>
            </a:p>
          </p:txBody>
        </p:sp>
      </p:grpSp>
      <p:grpSp>
        <p:nvGrpSpPr>
          <p:cNvPr id="59" name="Group 59"/>
          <p:cNvGrpSpPr/>
          <p:nvPr/>
        </p:nvGrpSpPr>
        <p:grpSpPr>
          <a:xfrm>
            <a:off x="2616203" y="6781295"/>
            <a:ext cx="4304795" cy="208283"/>
            <a:chOff x="0" y="0"/>
            <a:chExt cx="5739727" cy="277711"/>
          </a:xfrm>
        </p:grpSpPr>
        <p:sp>
          <p:nvSpPr>
            <p:cNvPr id="60" name="Freeform 60"/>
            <p:cNvSpPr/>
            <p:nvPr/>
          </p:nvSpPr>
          <p:spPr>
            <a:xfrm>
              <a:off x="16891" y="16891"/>
              <a:ext cx="5705856" cy="243840"/>
            </a:xfrm>
            <a:custGeom>
              <a:avLst/>
              <a:gdLst/>
              <a:ahLst/>
              <a:cxnLst/>
              <a:rect l="l" t="t" r="r" b="b"/>
              <a:pathLst>
                <a:path w="5705856" h="243840">
                  <a:moveTo>
                    <a:pt x="0" y="0"/>
                  </a:moveTo>
                  <a:lnTo>
                    <a:pt x="5705856" y="0"/>
                  </a:lnTo>
                  <a:lnTo>
                    <a:pt x="5705856" y="243840"/>
                  </a:lnTo>
                  <a:lnTo>
                    <a:pt x="0" y="243840"/>
                  </a:lnTo>
                  <a:close/>
                </a:path>
              </a:pathLst>
            </a:custGeom>
            <a:solidFill>
              <a:srgbClr val="F05A22"/>
            </a:solidFill>
          </p:spPr>
          <p:txBody>
            <a:bodyPr/>
            <a:lstStyle/>
            <a:p>
              <a:endParaRPr lang="en-US"/>
            </a:p>
          </p:txBody>
        </p:sp>
        <p:sp>
          <p:nvSpPr>
            <p:cNvPr id="61" name="Freeform 61"/>
            <p:cNvSpPr/>
            <p:nvPr/>
          </p:nvSpPr>
          <p:spPr>
            <a:xfrm>
              <a:off x="0" y="0"/>
              <a:ext cx="5739638" cy="277624"/>
            </a:xfrm>
            <a:custGeom>
              <a:avLst/>
              <a:gdLst/>
              <a:ahLst/>
              <a:cxnLst/>
              <a:rect l="l" t="t" r="r" b="b"/>
              <a:pathLst>
                <a:path w="5739638" h="277624">
                  <a:moveTo>
                    <a:pt x="16891" y="0"/>
                  </a:moveTo>
                  <a:lnTo>
                    <a:pt x="5722747" y="0"/>
                  </a:lnTo>
                  <a:cubicBezTo>
                    <a:pt x="5732145" y="0"/>
                    <a:pt x="5739638" y="7620"/>
                    <a:pt x="5739638" y="16891"/>
                  </a:cubicBezTo>
                  <a:lnTo>
                    <a:pt x="5739638" y="260731"/>
                  </a:lnTo>
                  <a:cubicBezTo>
                    <a:pt x="5739638" y="270129"/>
                    <a:pt x="5732018" y="277622"/>
                    <a:pt x="5722747"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5722747" y="243840"/>
                  </a:lnTo>
                  <a:lnTo>
                    <a:pt x="5722747" y="260731"/>
                  </a:lnTo>
                  <a:lnTo>
                    <a:pt x="5705856" y="260731"/>
                  </a:lnTo>
                  <a:lnTo>
                    <a:pt x="5705856" y="16891"/>
                  </a:lnTo>
                  <a:lnTo>
                    <a:pt x="5722747" y="16891"/>
                  </a:lnTo>
                  <a:lnTo>
                    <a:pt x="5722747" y="33909"/>
                  </a:lnTo>
                  <a:lnTo>
                    <a:pt x="16891" y="33909"/>
                  </a:lnTo>
                  <a:close/>
                </a:path>
              </a:pathLst>
            </a:custGeom>
            <a:solidFill>
              <a:srgbClr val="F05A22"/>
            </a:solidFill>
          </p:spPr>
          <p:txBody>
            <a:bodyPr/>
            <a:lstStyle/>
            <a:p>
              <a:endParaRPr lang="en-US"/>
            </a:p>
          </p:txBody>
        </p:sp>
      </p:grpSp>
      <p:grpSp>
        <p:nvGrpSpPr>
          <p:cNvPr id="62" name="Group 62"/>
          <p:cNvGrpSpPr/>
          <p:nvPr/>
        </p:nvGrpSpPr>
        <p:grpSpPr>
          <a:xfrm>
            <a:off x="800100" y="7269480"/>
            <a:ext cx="1737360" cy="402336"/>
            <a:chOff x="0" y="0"/>
            <a:chExt cx="2316480" cy="536448"/>
          </a:xfrm>
        </p:grpSpPr>
        <p:sp>
          <p:nvSpPr>
            <p:cNvPr id="63" name="Freeform 63"/>
            <p:cNvSpPr/>
            <p:nvPr/>
          </p:nvSpPr>
          <p:spPr>
            <a:xfrm>
              <a:off x="0" y="0"/>
              <a:ext cx="2316480" cy="536448"/>
            </a:xfrm>
            <a:custGeom>
              <a:avLst/>
              <a:gdLst/>
              <a:ahLst/>
              <a:cxnLst/>
              <a:rect l="l" t="t" r="r" b="b"/>
              <a:pathLst>
                <a:path w="2316480" h="536448">
                  <a:moveTo>
                    <a:pt x="0" y="0"/>
                  </a:moveTo>
                  <a:lnTo>
                    <a:pt x="2316480" y="0"/>
                  </a:lnTo>
                  <a:lnTo>
                    <a:pt x="2316480" y="536448"/>
                  </a:lnTo>
                  <a:lnTo>
                    <a:pt x="0" y="536448"/>
                  </a:lnTo>
                  <a:close/>
                </a:path>
              </a:pathLst>
            </a:custGeom>
            <a:blipFill>
              <a:blip r:embed="rId3">
                <a:alphaModFix amt="0"/>
              </a:blip>
              <a:stretch>
                <a:fillRect t="-34139" b="-34139"/>
              </a:stretch>
            </a:blipFill>
          </p:spPr>
          <p:txBody>
            <a:bodyPr/>
            <a:lstStyle/>
            <a:p>
              <a:endParaRPr lang="en-US"/>
            </a:p>
          </p:txBody>
        </p:sp>
        <p:sp>
          <p:nvSpPr>
            <p:cNvPr id="64" name="TextBox 64"/>
            <p:cNvSpPr txBox="1"/>
            <p:nvPr/>
          </p:nvSpPr>
          <p:spPr>
            <a:xfrm>
              <a:off x="0" y="-19050"/>
              <a:ext cx="2316480" cy="555498"/>
            </a:xfrm>
            <a:prstGeom prst="rect">
              <a:avLst/>
            </a:prstGeom>
          </p:spPr>
          <p:txBody>
            <a:bodyPr lIns="0" tIns="0" rIns="0" bIns="0" rtlCol="0" anchor="ctr"/>
            <a:lstStyle/>
            <a:p>
              <a:pPr algn="l">
                <a:lnSpc>
                  <a:spcPts val="2160"/>
                </a:lnSpc>
              </a:pPr>
              <a:r>
                <a:rPr lang="en-US" sz="1800">
                  <a:solidFill>
                    <a:srgbClr val="1F2D2B"/>
                  </a:solidFill>
                  <a:latin typeface="Arial"/>
                  <a:ea typeface="Arial"/>
                  <a:cs typeface="Arial"/>
                  <a:sym typeface="Arial"/>
                </a:rPr>
                <a:t>Lazada</a:t>
              </a:r>
            </a:p>
          </p:txBody>
        </p:sp>
      </p:grpSp>
      <p:grpSp>
        <p:nvGrpSpPr>
          <p:cNvPr id="65" name="Group 65"/>
          <p:cNvGrpSpPr/>
          <p:nvPr/>
        </p:nvGrpSpPr>
        <p:grpSpPr>
          <a:xfrm>
            <a:off x="2616203" y="7366511"/>
            <a:ext cx="7157723" cy="208283"/>
            <a:chOff x="0" y="0"/>
            <a:chExt cx="9543631" cy="277711"/>
          </a:xfrm>
        </p:grpSpPr>
        <p:sp>
          <p:nvSpPr>
            <p:cNvPr id="66" name="Freeform 66"/>
            <p:cNvSpPr/>
            <p:nvPr/>
          </p:nvSpPr>
          <p:spPr>
            <a:xfrm>
              <a:off x="16891" y="16891"/>
              <a:ext cx="9509760" cy="243840"/>
            </a:xfrm>
            <a:custGeom>
              <a:avLst/>
              <a:gdLst/>
              <a:ahLst/>
              <a:cxnLst/>
              <a:rect l="l" t="t" r="r" b="b"/>
              <a:pathLst>
                <a:path w="9509760" h="243840">
                  <a:moveTo>
                    <a:pt x="0" y="0"/>
                  </a:moveTo>
                  <a:lnTo>
                    <a:pt x="9509760" y="0"/>
                  </a:lnTo>
                  <a:lnTo>
                    <a:pt x="9509760" y="243840"/>
                  </a:lnTo>
                  <a:lnTo>
                    <a:pt x="0" y="243840"/>
                  </a:lnTo>
                  <a:close/>
                </a:path>
              </a:pathLst>
            </a:custGeom>
            <a:solidFill>
              <a:srgbClr val="E7E9E6"/>
            </a:solidFill>
          </p:spPr>
          <p:txBody>
            <a:bodyPr/>
            <a:lstStyle/>
            <a:p>
              <a:endParaRPr lang="en-US"/>
            </a:p>
          </p:txBody>
        </p:sp>
        <p:sp>
          <p:nvSpPr>
            <p:cNvPr id="67" name="Freeform 67"/>
            <p:cNvSpPr/>
            <p:nvPr/>
          </p:nvSpPr>
          <p:spPr>
            <a:xfrm>
              <a:off x="0" y="0"/>
              <a:ext cx="9543542" cy="277624"/>
            </a:xfrm>
            <a:custGeom>
              <a:avLst/>
              <a:gdLst/>
              <a:ahLst/>
              <a:cxnLst/>
              <a:rect l="l" t="t" r="r" b="b"/>
              <a:pathLst>
                <a:path w="9543542" h="277624">
                  <a:moveTo>
                    <a:pt x="16891" y="0"/>
                  </a:moveTo>
                  <a:lnTo>
                    <a:pt x="9526651" y="0"/>
                  </a:lnTo>
                  <a:cubicBezTo>
                    <a:pt x="9536049" y="0"/>
                    <a:pt x="9543542" y="7620"/>
                    <a:pt x="9543542" y="16891"/>
                  </a:cubicBezTo>
                  <a:lnTo>
                    <a:pt x="9543542" y="260731"/>
                  </a:lnTo>
                  <a:cubicBezTo>
                    <a:pt x="9543542" y="270129"/>
                    <a:pt x="9535922" y="277622"/>
                    <a:pt x="952665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9526651" y="243840"/>
                  </a:lnTo>
                  <a:lnTo>
                    <a:pt x="9526651" y="260731"/>
                  </a:lnTo>
                  <a:lnTo>
                    <a:pt x="9509760" y="260731"/>
                  </a:lnTo>
                  <a:lnTo>
                    <a:pt x="9509760" y="16891"/>
                  </a:lnTo>
                  <a:lnTo>
                    <a:pt x="9526651" y="16891"/>
                  </a:lnTo>
                  <a:lnTo>
                    <a:pt x="9526651" y="33909"/>
                  </a:lnTo>
                  <a:lnTo>
                    <a:pt x="16891" y="33909"/>
                  </a:lnTo>
                  <a:close/>
                </a:path>
              </a:pathLst>
            </a:custGeom>
            <a:solidFill>
              <a:srgbClr val="E7E9E6"/>
            </a:solidFill>
          </p:spPr>
          <p:txBody>
            <a:bodyPr/>
            <a:lstStyle/>
            <a:p>
              <a:endParaRPr lang="en-US"/>
            </a:p>
          </p:txBody>
        </p:sp>
      </p:grpSp>
      <p:grpSp>
        <p:nvGrpSpPr>
          <p:cNvPr id="68" name="Group 68"/>
          <p:cNvGrpSpPr/>
          <p:nvPr/>
        </p:nvGrpSpPr>
        <p:grpSpPr>
          <a:xfrm>
            <a:off x="2616203" y="7366511"/>
            <a:ext cx="2165099" cy="208283"/>
            <a:chOff x="0" y="0"/>
            <a:chExt cx="2886799" cy="277711"/>
          </a:xfrm>
        </p:grpSpPr>
        <p:sp>
          <p:nvSpPr>
            <p:cNvPr id="69" name="Freeform 69"/>
            <p:cNvSpPr/>
            <p:nvPr/>
          </p:nvSpPr>
          <p:spPr>
            <a:xfrm>
              <a:off x="16891" y="16891"/>
              <a:ext cx="2852928" cy="243840"/>
            </a:xfrm>
            <a:custGeom>
              <a:avLst/>
              <a:gdLst/>
              <a:ahLst/>
              <a:cxnLst/>
              <a:rect l="l" t="t" r="r" b="b"/>
              <a:pathLst>
                <a:path w="2852928" h="243840">
                  <a:moveTo>
                    <a:pt x="0" y="0"/>
                  </a:moveTo>
                  <a:lnTo>
                    <a:pt x="2852928" y="0"/>
                  </a:lnTo>
                  <a:lnTo>
                    <a:pt x="2852928" y="243840"/>
                  </a:lnTo>
                  <a:lnTo>
                    <a:pt x="0" y="243840"/>
                  </a:lnTo>
                  <a:close/>
                </a:path>
              </a:pathLst>
            </a:custGeom>
            <a:solidFill>
              <a:srgbClr val="0F766E"/>
            </a:solidFill>
          </p:spPr>
          <p:txBody>
            <a:bodyPr/>
            <a:lstStyle/>
            <a:p>
              <a:endParaRPr lang="en-US"/>
            </a:p>
          </p:txBody>
        </p:sp>
        <p:sp>
          <p:nvSpPr>
            <p:cNvPr id="70" name="Freeform 70"/>
            <p:cNvSpPr/>
            <p:nvPr/>
          </p:nvSpPr>
          <p:spPr>
            <a:xfrm>
              <a:off x="0" y="0"/>
              <a:ext cx="2886710" cy="277624"/>
            </a:xfrm>
            <a:custGeom>
              <a:avLst/>
              <a:gdLst/>
              <a:ahLst/>
              <a:cxnLst/>
              <a:rect l="l" t="t" r="r" b="b"/>
              <a:pathLst>
                <a:path w="2886710" h="277624">
                  <a:moveTo>
                    <a:pt x="16891" y="0"/>
                  </a:moveTo>
                  <a:lnTo>
                    <a:pt x="2869819" y="0"/>
                  </a:lnTo>
                  <a:cubicBezTo>
                    <a:pt x="2879217" y="0"/>
                    <a:pt x="2886710" y="7620"/>
                    <a:pt x="2886710" y="16891"/>
                  </a:cubicBezTo>
                  <a:lnTo>
                    <a:pt x="2886710" y="260731"/>
                  </a:lnTo>
                  <a:cubicBezTo>
                    <a:pt x="2886710" y="270129"/>
                    <a:pt x="2879090" y="277622"/>
                    <a:pt x="2869819"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2869819" y="243840"/>
                  </a:lnTo>
                  <a:lnTo>
                    <a:pt x="2869819" y="260731"/>
                  </a:lnTo>
                  <a:lnTo>
                    <a:pt x="2852928" y="260731"/>
                  </a:lnTo>
                  <a:lnTo>
                    <a:pt x="2852928" y="16891"/>
                  </a:lnTo>
                  <a:lnTo>
                    <a:pt x="2869819" y="16891"/>
                  </a:lnTo>
                  <a:lnTo>
                    <a:pt x="2869819" y="33909"/>
                  </a:lnTo>
                  <a:lnTo>
                    <a:pt x="16891" y="33909"/>
                  </a:lnTo>
                  <a:close/>
                </a:path>
              </a:pathLst>
            </a:custGeom>
            <a:solidFill>
              <a:srgbClr val="0F766E"/>
            </a:solidFill>
          </p:spPr>
          <p:txBody>
            <a:bodyPr/>
            <a:lstStyle/>
            <a:p>
              <a:endParaRPr lang="en-US"/>
            </a:p>
          </p:txBody>
        </p:sp>
      </p:grpSp>
      <p:grpSp>
        <p:nvGrpSpPr>
          <p:cNvPr id="71" name="Group 71"/>
          <p:cNvGrpSpPr/>
          <p:nvPr/>
        </p:nvGrpSpPr>
        <p:grpSpPr>
          <a:xfrm>
            <a:off x="800100" y="7854696"/>
            <a:ext cx="1737360" cy="402336"/>
            <a:chOff x="0" y="0"/>
            <a:chExt cx="2316480" cy="536448"/>
          </a:xfrm>
        </p:grpSpPr>
        <p:sp>
          <p:nvSpPr>
            <p:cNvPr id="72" name="Freeform 72"/>
            <p:cNvSpPr/>
            <p:nvPr/>
          </p:nvSpPr>
          <p:spPr>
            <a:xfrm>
              <a:off x="0" y="0"/>
              <a:ext cx="2316480" cy="536448"/>
            </a:xfrm>
            <a:custGeom>
              <a:avLst/>
              <a:gdLst/>
              <a:ahLst/>
              <a:cxnLst/>
              <a:rect l="l" t="t" r="r" b="b"/>
              <a:pathLst>
                <a:path w="2316480" h="536448">
                  <a:moveTo>
                    <a:pt x="0" y="0"/>
                  </a:moveTo>
                  <a:lnTo>
                    <a:pt x="2316480" y="0"/>
                  </a:lnTo>
                  <a:lnTo>
                    <a:pt x="2316480" y="536448"/>
                  </a:lnTo>
                  <a:lnTo>
                    <a:pt x="0" y="536448"/>
                  </a:lnTo>
                  <a:close/>
                </a:path>
              </a:pathLst>
            </a:custGeom>
            <a:blipFill>
              <a:blip r:embed="rId3">
                <a:alphaModFix amt="0"/>
              </a:blip>
              <a:stretch>
                <a:fillRect t="-34139" b="-34139"/>
              </a:stretch>
            </a:blipFill>
          </p:spPr>
          <p:txBody>
            <a:bodyPr/>
            <a:lstStyle/>
            <a:p>
              <a:endParaRPr lang="en-US"/>
            </a:p>
          </p:txBody>
        </p:sp>
        <p:sp>
          <p:nvSpPr>
            <p:cNvPr id="73" name="TextBox 73"/>
            <p:cNvSpPr txBox="1"/>
            <p:nvPr/>
          </p:nvSpPr>
          <p:spPr>
            <a:xfrm>
              <a:off x="0" y="-19050"/>
              <a:ext cx="2316480" cy="555498"/>
            </a:xfrm>
            <a:prstGeom prst="rect">
              <a:avLst/>
            </a:prstGeom>
          </p:spPr>
          <p:txBody>
            <a:bodyPr lIns="0" tIns="0" rIns="0" bIns="0" rtlCol="0" anchor="ctr"/>
            <a:lstStyle/>
            <a:p>
              <a:pPr algn="l">
                <a:lnSpc>
                  <a:spcPts val="2160"/>
                </a:lnSpc>
              </a:pPr>
              <a:r>
                <a:rPr lang="en-US" sz="1800">
                  <a:solidFill>
                    <a:srgbClr val="1F2D2B"/>
                  </a:solidFill>
                  <a:latin typeface="Arial"/>
                  <a:ea typeface="Arial"/>
                  <a:cs typeface="Arial"/>
                  <a:sym typeface="Arial"/>
                </a:rPr>
                <a:t>TikTok Shop</a:t>
              </a:r>
            </a:p>
          </p:txBody>
        </p:sp>
      </p:grpSp>
      <p:grpSp>
        <p:nvGrpSpPr>
          <p:cNvPr id="74" name="Group 74"/>
          <p:cNvGrpSpPr/>
          <p:nvPr/>
        </p:nvGrpSpPr>
        <p:grpSpPr>
          <a:xfrm>
            <a:off x="2616203" y="7951727"/>
            <a:ext cx="7157723" cy="208283"/>
            <a:chOff x="0" y="0"/>
            <a:chExt cx="9543631" cy="277711"/>
          </a:xfrm>
        </p:grpSpPr>
        <p:sp>
          <p:nvSpPr>
            <p:cNvPr id="75" name="Freeform 75"/>
            <p:cNvSpPr/>
            <p:nvPr/>
          </p:nvSpPr>
          <p:spPr>
            <a:xfrm>
              <a:off x="16891" y="16891"/>
              <a:ext cx="9509760" cy="243840"/>
            </a:xfrm>
            <a:custGeom>
              <a:avLst/>
              <a:gdLst/>
              <a:ahLst/>
              <a:cxnLst/>
              <a:rect l="l" t="t" r="r" b="b"/>
              <a:pathLst>
                <a:path w="9509760" h="243840">
                  <a:moveTo>
                    <a:pt x="0" y="0"/>
                  </a:moveTo>
                  <a:lnTo>
                    <a:pt x="9509760" y="0"/>
                  </a:lnTo>
                  <a:lnTo>
                    <a:pt x="9509760" y="243840"/>
                  </a:lnTo>
                  <a:lnTo>
                    <a:pt x="0" y="243840"/>
                  </a:lnTo>
                  <a:close/>
                </a:path>
              </a:pathLst>
            </a:custGeom>
            <a:solidFill>
              <a:srgbClr val="E7E9E6"/>
            </a:solidFill>
          </p:spPr>
          <p:txBody>
            <a:bodyPr/>
            <a:lstStyle/>
            <a:p>
              <a:endParaRPr lang="en-US"/>
            </a:p>
          </p:txBody>
        </p:sp>
        <p:sp>
          <p:nvSpPr>
            <p:cNvPr id="76" name="Freeform 76"/>
            <p:cNvSpPr/>
            <p:nvPr/>
          </p:nvSpPr>
          <p:spPr>
            <a:xfrm>
              <a:off x="0" y="0"/>
              <a:ext cx="9543542" cy="277624"/>
            </a:xfrm>
            <a:custGeom>
              <a:avLst/>
              <a:gdLst/>
              <a:ahLst/>
              <a:cxnLst/>
              <a:rect l="l" t="t" r="r" b="b"/>
              <a:pathLst>
                <a:path w="9543542" h="277624">
                  <a:moveTo>
                    <a:pt x="16891" y="0"/>
                  </a:moveTo>
                  <a:lnTo>
                    <a:pt x="9526651" y="0"/>
                  </a:lnTo>
                  <a:cubicBezTo>
                    <a:pt x="9536049" y="0"/>
                    <a:pt x="9543542" y="7620"/>
                    <a:pt x="9543542" y="16891"/>
                  </a:cubicBezTo>
                  <a:lnTo>
                    <a:pt x="9543542" y="260731"/>
                  </a:lnTo>
                  <a:cubicBezTo>
                    <a:pt x="9543542" y="270129"/>
                    <a:pt x="9535922" y="277622"/>
                    <a:pt x="9526651"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9526651" y="243840"/>
                  </a:lnTo>
                  <a:lnTo>
                    <a:pt x="9526651" y="260731"/>
                  </a:lnTo>
                  <a:lnTo>
                    <a:pt x="9509760" y="260731"/>
                  </a:lnTo>
                  <a:lnTo>
                    <a:pt x="9509760" y="16891"/>
                  </a:lnTo>
                  <a:lnTo>
                    <a:pt x="9526651" y="16891"/>
                  </a:lnTo>
                  <a:lnTo>
                    <a:pt x="9526651" y="33909"/>
                  </a:lnTo>
                  <a:lnTo>
                    <a:pt x="16891" y="33909"/>
                  </a:lnTo>
                  <a:close/>
                </a:path>
              </a:pathLst>
            </a:custGeom>
            <a:solidFill>
              <a:srgbClr val="E7E9E6"/>
            </a:solidFill>
          </p:spPr>
          <p:txBody>
            <a:bodyPr/>
            <a:lstStyle/>
            <a:p>
              <a:endParaRPr lang="en-US"/>
            </a:p>
          </p:txBody>
        </p:sp>
      </p:grpSp>
      <p:grpSp>
        <p:nvGrpSpPr>
          <p:cNvPr id="77" name="Group 77"/>
          <p:cNvGrpSpPr/>
          <p:nvPr/>
        </p:nvGrpSpPr>
        <p:grpSpPr>
          <a:xfrm>
            <a:off x="2616203" y="7951727"/>
            <a:ext cx="738635" cy="208283"/>
            <a:chOff x="0" y="0"/>
            <a:chExt cx="984847" cy="277711"/>
          </a:xfrm>
        </p:grpSpPr>
        <p:sp>
          <p:nvSpPr>
            <p:cNvPr id="78" name="Freeform 78"/>
            <p:cNvSpPr/>
            <p:nvPr/>
          </p:nvSpPr>
          <p:spPr>
            <a:xfrm>
              <a:off x="16891" y="16891"/>
              <a:ext cx="950976" cy="243840"/>
            </a:xfrm>
            <a:custGeom>
              <a:avLst/>
              <a:gdLst/>
              <a:ahLst/>
              <a:cxnLst/>
              <a:rect l="l" t="t" r="r" b="b"/>
              <a:pathLst>
                <a:path w="950976" h="243840">
                  <a:moveTo>
                    <a:pt x="0" y="0"/>
                  </a:moveTo>
                  <a:lnTo>
                    <a:pt x="950976" y="0"/>
                  </a:lnTo>
                  <a:lnTo>
                    <a:pt x="950976" y="243840"/>
                  </a:lnTo>
                  <a:lnTo>
                    <a:pt x="0" y="243840"/>
                  </a:lnTo>
                  <a:close/>
                </a:path>
              </a:pathLst>
            </a:custGeom>
            <a:solidFill>
              <a:srgbClr val="AAAAAA"/>
            </a:solidFill>
          </p:spPr>
          <p:txBody>
            <a:bodyPr/>
            <a:lstStyle/>
            <a:p>
              <a:endParaRPr lang="en-US"/>
            </a:p>
          </p:txBody>
        </p:sp>
        <p:sp>
          <p:nvSpPr>
            <p:cNvPr id="79" name="Freeform 79"/>
            <p:cNvSpPr/>
            <p:nvPr/>
          </p:nvSpPr>
          <p:spPr>
            <a:xfrm>
              <a:off x="0" y="0"/>
              <a:ext cx="984758" cy="277624"/>
            </a:xfrm>
            <a:custGeom>
              <a:avLst/>
              <a:gdLst/>
              <a:ahLst/>
              <a:cxnLst/>
              <a:rect l="l" t="t" r="r" b="b"/>
              <a:pathLst>
                <a:path w="984758" h="277624">
                  <a:moveTo>
                    <a:pt x="16891" y="0"/>
                  </a:moveTo>
                  <a:lnTo>
                    <a:pt x="967867" y="0"/>
                  </a:lnTo>
                  <a:cubicBezTo>
                    <a:pt x="977265" y="0"/>
                    <a:pt x="984758" y="7620"/>
                    <a:pt x="984758" y="16891"/>
                  </a:cubicBezTo>
                  <a:lnTo>
                    <a:pt x="984758" y="260731"/>
                  </a:lnTo>
                  <a:cubicBezTo>
                    <a:pt x="984758" y="270129"/>
                    <a:pt x="977138" y="277622"/>
                    <a:pt x="967867" y="277622"/>
                  </a:cubicBezTo>
                  <a:lnTo>
                    <a:pt x="16891" y="277622"/>
                  </a:lnTo>
                  <a:cubicBezTo>
                    <a:pt x="7620" y="277749"/>
                    <a:pt x="0" y="270129"/>
                    <a:pt x="0" y="260731"/>
                  </a:cubicBezTo>
                  <a:lnTo>
                    <a:pt x="0" y="16891"/>
                  </a:lnTo>
                  <a:cubicBezTo>
                    <a:pt x="0" y="7620"/>
                    <a:pt x="7620" y="0"/>
                    <a:pt x="16891" y="0"/>
                  </a:cubicBezTo>
                  <a:moveTo>
                    <a:pt x="16891" y="33909"/>
                  </a:moveTo>
                  <a:lnTo>
                    <a:pt x="16891" y="16891"/>
                  </a:lnTo>
                  <a:lnTo>
                    <a:pt x="33909" y="16891"/>
                  </a:lnTo>
                  <a:lnTo>
                    <a:pt x="33909" y="260731"/>
                  </a:lnTo>
                  <a:lnTo>
                    <a:pt x="16891" y="260731"/>
                  </a:lnTo>
                  <a:lnTo>
                    <a:pt x="16891" y="243840"/>
                  </a:lnTo>
                  <a:lnTo>
                    <a:pt x="967867" y="243840"/>
                  </a:lnTo>
                  <a:lnTo>
                    <a:pt x="967867" y="260731"/>
                  </a:lnTo>
                  <a:lnTo>
                    <a:pt x="950976" y="260731"/>
                  </a:lnTo>
                  <a:lnTo>
                    <a:pt x="950976" y="16891"/>
                  </a:lnTo>
                  <a:lnTo>
                    <a:pt x="967867" y="16891"/>
                  </a:lnTo>
                  <a:lnTo>
                    <a:pt x="967867" y="33909"/>
                  </a:lnTo>
                  <a:lnTo>
                    <a:pt x="16891" y="33909"/>
                  </a:lnTo>
                  <a:close/>
                </a:path>
              </a:pathLst>
            </a:custGeom>
            <a:solidFill>
              <a:srgbClr val="AAAAAA"/>
            </a:solidFill>
          </p:spPr>
          <p:txBody>
            <a:bodyPr/>
            <a:lstStyle/>
            <a:p>
              <a:endParaRPr lang="en-US"/>
            </a:p>
          </p:txBody>
        </p:sp>
      </p:grpSp>
      <p:grpSp>
        <p:nvGrpSpPr>
          <p:cNvPr id="80" name="Group 80"/>
          <p:cNvGrpSpPr/>
          <p:nvPr/>
        </p:nvGrpSpPr>
        <p:grpSpPr>
          <a:xfrm>
            <a:off x="10320023" y="3118104"/>
            <a:ext cx="7249163" cy="1707899"/>
            <a:chOff x="0" y="0"/>
            <a:chExt cx="9665551" cy="2277199"/>
          </a:xfrm>
        </p:grpSpPr>
        <p:sp>
          <p:nvSpPr>
            <p:cNvPr id="81" name="Freeform 81"/>
            <p:cNvSpPr/>
            <p:nvPr/>
          </p:nvSpPr>
          <p:spPr>
            <a:xfrm>
              <a:off x="16891" y="16891"/>
              <a:ext cx="9631681" cy="2243328"/>
            </a:xfrm>
            <a:custGeom>
              <a:avLst/>
              <a:gdLst/>
              <a:ahLst/>
              <a:cxnLst/>
              <a:rect l="l" t="t" r="r" b="b"/>
              <a:pathLst>
                <a:path w="9631681" h="2243328">
                  <a:moveTo>
                    <a:pt x="0" y="0"/>
                  </a:moveTo>
                  <a:lnTo>
                    <a:pt x="9631681" y="0"/>
                  </a:lnTo>
                  <a:lnTo>
                    <a:pt x="9631681" y="2243328"/>
                  </a:lnTo>
                  <a:lnTo>
                    <a:pt x="0" y="2243328"/>
                  </a:lnTo>
                  <a:close/>
                </a:path>
              </a:pathLst>
            </a:custGeom>
            <a:solidFill>
              <a:srgbClr val="FFFFFF"/>
            </a:solidFill>
          </p:spPr>
          <p:txBody>
            <a:bodyPr/>
            <a:lstStyle/>
            <a:p>
              <a:endParaRPr lang="en-US"/>
            </a:p>
          </p:txBody>
        </p:sp>
        <p:sp>
          <p:nvSpPr>
            <p:cNvPr id="82" name="Freeform 82"/>
            <p:cNvSpPr/>
            <p:nvPr/>
          </p:nvSpPr>
          <p:spPr>
            <a:xfrm>
              <a:off x="0" y="0"/>
              <a:ext cx="9665462" cy="2277110"/>
            </a:xfrm>
            <a:custGeom>
              <a:avLst/>
              <a:gdLst/>
              <a:ahLst/>
              <a:cxnLst/>
              <a:rect l="l" t="t" r="r" b="b"/>
              <a:pathLst>
                <a:path w="9665462" h="2277110">
                  <a:moveTo>
                    <a:pt x="16891" y="0"/>
                  </a:moveTo>
                  <a:lnTo>
                    <a:pt x="9648572" y="0"/>
                  </a:lnTo>
                  <a:cubicBezTo>
                    <a:pt x="9657969" y="0"/>
                    <a:pt x="9665462" y="7620"/>
                    <a:pt x="9665462" y="16891"/>
                  </a:cubicBezTo>
                  <a:lnTo>
                    <a:pt x="9665462" y="2260219"/>
                  </a:lnTo>
                  <a:cubicBezTo>
                    <a:pt x="9665462" y="2269617"/>
                    <a:pt x="9657842" y="2277110"/>
                    <a:pt x="9648572"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9648572" y="2243328"/>
                  </a:lnTo>
                  <a:lnTo>
                    <a:pt x="9648572" y="2260219"/>
                  </a:lnTo>
                  <a:lnTo>
                    <a:pt x="9631680" y="2260219"/>
                  </a:lnTo>
                  <a:lnTo>
                    <a:pt x="9631680" y="16891"/>
                  </a:lnTo>
                  <a:lnTo>
                    <a:pt x="9648572" y="16891"/>
                  </a:lnTo>
                  <a:lnTo>
                    <a:pt x="9648572" y="33909"/>
                  </a:lnTo>
                  <a:lnTo>
                    <a:pt x="16891" y="33909"/>
                  </a:lnTo>
                  <a:close/>
                </a:path>
              </a:pathLst>
            </a:custGeom>
            <a:solidFill>
              <a:srgbClr val="E7E9E6"/>
            </a:solidFill>
          </p:spPr>
          <p:txBody>
            <a:bodyPr/>
            <a:lstStyle/>
            <a:p>
              <a:endParaRPr lang="en-US"/>
            </a:p>
          </p:txBody>
        </p:sp>
      </p:grpSp>
      <p:grpSp>
        <p:nvGrpSpPr>
          <p:cNvPr id="83" name="Group 83"/>
          <p:cNvGrpSpPr/>
          <p:nvPr/>
        </p:nvGrpSpPr>
        <p:grpSpPr>
          <a:xfrm>
            <a:off x="10698480" y="3200480"/>
            <a:ext cx="6675120" cy="908224"/>
            <a:chOff x="0" y="0"/>
            <a:chExt cx="8900160" cy="1210965"/>
          </a:xfrm>
        </p:grpSpPr>
        <p:sp>
          <p:nvSpPr>
            <p:cNvPr id="84" name="Freeform 84"/>
            <p:cNvSpPr/>
            <p:nvPr/>
          </p:nvSpPr>
          <p:spPr>
            <a:xfrm>
              <a:off x="0" y="0"/>
              <a:ext cx="8900160" cy="1210965"/>
            </a:xfrm>
            <a:custGeom>
              <a:avLst/>
              <a:gdLst/>
              <a:ahLst/>
              <a:cxnLst/>
              <a:rect l="l" t="t" r="r" b="b"/>
              <a:pathLst>
                <a:path w="8900160" h="1210965">
                  <a:moveTo>
                    <a:pt x="0" y="0"/>
                  </a:moveTo>
                  <a:lnTo>
                    <a:pt x="8900160" y="0"/>
                  </a:lnTo>
                  <a:lnTo>
                    <a:pt x="8900160" y="1210965"/>
                  </a:lnTo>
                  <a:lnTo>
                    <a:pt x="0" y="1210965"/>
                  </a:lnTo>
                  <a:close/>
                </a:path>
              </a:pathLst>
            </a:custGeom>
            <a:blipFill>
              <a:blip r:embed="rId3">
                <a:alphaModFix amt="0"/>
              </a:blip>
              <a:stretch>
                <a:fillRect t="-102936" b="-83480"/>
              </a:stretch>
            </a:blipFill>
          </p:spPr>
          <p:txBody>
            <a:bodyPr/>
            <a:lstStyle/>
            <a:p>
              <a:endParaRPr lang="en-US"/>
            </a:p>
          </p:txBody>
        </p:sp>
        <p:sp>
          <p:nvSpPr>
            <p:cNvPr id="85" name="TextBox 85"/>
            <p:cNvSpPr txBox="1"/>
            <p:nvPr/>
          </p:nvSpPr>
          <p:spPr>
            <a:xfrm>
              <a:off x="0" y="-19050"/>
              <a:ext cx="8900160" cy="1230015"/>
            </a:xfrm>
            <a:prstGeom prst="rect">
              <a:avLst/>
            </a:prstGeom>
          </p:spPr>
          <p:txBody>
            <a:bodyPr lIns="0" tIns="0" rIns="0" bIns="0" rtlCol="0" anchor="ctr"/>
            <a:lstStyle/>
            <a:p>
              <a:pPr algn="l">
                <a:lnSpc>
                  <a:spcPts val="5280"/>
                </a:lnSpc>
              </a:pPr>
              <a:r>
                <a:rPr lang="en-US" sz="4400" b="1">
                  <a:solidFill>
                    <a:srgbClr val="F05A22"/>
                  </a:solidFill>
                  <a:latin typeface="Arial Bold"/>
                  <a:ea typeface="Arial Bold"/>
                  <a:cs typeface="Arial Bold"/>
                  <a:sym typeface="Arial Bold"/>
                </a:rPr>
                <a:t>1.1M</a:t>
              </a:r>
            </a:p>
          </p:txBody>
        </p:sp>
      </p:grpSp>
      <p:grpSp>
        <p:nvGrpSpPr>
          <p:cNvPr id="86" name="Group 86"/>
          <p:cNvGrpSpPr/>
          <p:nvPr/>
        </p:nvGrpSpPr>
        <p:grpSpPr>
          <a:xfrm>
            <a:off x="10698480" y="3990337"/>
            <a:ext cx="6675120" cy="731520"/>
            <a:chOff x="0" y="0"/>
            <a:chExt cx="8900160" cy="975360"/>
          </a:xfrm>
        </p:grpSpPr>
        <p:sp>
          <p:nvSpPr>
            <p:cNvPr id="87" name="Freeform 87"/>
            <p:cNvSpPr/>
            <p:nvPr/>
          </p:nvSpPr>
          <p:spPr>
            <a:xfrm>
              <a:off x="0" y="0"/>
              <a:ext cx="8900160" cy="975360"/>
            </a:xfrm>
            <a:custGeom>
              <a:avLst/>
              <a:gdLst/>
              <a:ahLst/>
              <a:cxnLst/>
              <a:rect l="l" t="t" r="r" b="b"/>
              <a:pathLst>
                <a:path w="8900160" h="975360">
                  <a:moveTo>
                    <a:pt x="0" y="0"/>
                  </a:moveTo>
                  <a:lnTo>
                    <a:pt x="8900160" y="0"/>
                  </a:lnTo>
                  <a:lnTo>
                    <a:pt x="8900160" y="975360"/>
                  </a:lnTo>
                  <a:lnTo>
                    <a:pt x="0" y="975360"/>
                  </a:lnTo>
                  <a:close/>
                </a:path>
              </a:pathLst>
            </a:custGeom>
            <a:blipFill>
              <a:blip r:embed="rId3">
                <a:alphaModFix amt="0"/>
              </a:blip>
              <a:stretch>
                <a:fillRect t="-127800" b="-127800"/>
              </a:stretch>
            </a:blipFill>
          </p:spPr>
          <p:txBody>
            <a:bodyPr/>
            <a:lstStyle/>
            <a:p>
              <a:endParaRPr lang="en-US"/>
            </a:p>
          </p:txBody>
        </p:sp>
        <p:sp>
          <p:nvSpPr>
            <p:cNvPr id="88" name="TextBox 88"/>
            <p:cNvSpPr txBox="1"/>
            <p:nvPr/>
          </p:nvSpPr>
          <p:spPr>
            <a:xfrm>
              <a:off x="0" y="-9525"/>
              <a:ext cx="8900160" cy="984885"/>
            </a:xfrm>
            <a:prstGeom prst="rect">
              <a:avLst/>
            </a:prstGeom>
          </p:spPr>
          <p:txBody>
            <a:bodyPr lIns="0" tIns="0" rIns="0" bIns="0" rtlCol="0" anchor="ctr"/>
            <a:lstStyle/>
            <a:p>
              <a:pPr algn="l">
                <a:lnSpc>
                  <a:spcPts val="2400"/>
                </a:lnSpc>
              </a:pPr>
              <a:r>
                <a:rPr lang="en-US" sz="2000">
                  <a:solidFill>
                    <a:srgbClr val="6C7571"/>
                  </a:solidFill>
                  <a:latin typeface="Arial"/>
                  <a:ea typeface="Arial"/>
                  <a:cs typeface="Arial"/>
                  <a:sym typeface="Arial"/>
                </a:rPr>
                <a:t>MSME sellers across Shopee, Lazada &amp; TikTok Shop in Malaysia</a:t>
              </a:r>
            </a:p>
          </p:txBody>
        </p:sp>
      </p:grpSp>
      <p:grpSp>
        <p:nvGrpSpPr>
          <p:cNvPr id="89" name="Group 89"/>
          <p:cNvGrpSpPr/>
          <p:nvPr/>
        </p:nvGrpSpPr>
        <p:grpSpPr>
          <a:xfrm>
            <a:off x="10320023" y="4946904"/>
            <a:ext cx="7249163" cy="1707899"/>
            <a:chOff x="0" y="0"/>
            <a:chExt cx="9665551" cy="2277199"/>
          </a:xfrm>
        </p:grpSpPr>
        <p:sp>
          <p:nvSpPr>
            <p:cNvPr id="90" name="Freeform 90"/>
            <p:cNvSpPr/>
            <p:nvPr/>
          </p:nvSpPr>
          <p:spPr>
            <a:xfrm>
              <a:off x="16891" y="16891"/>
              <a:ext cx="9631681" cy="2243328"/>
            </a:xfrm>
            <a:custGeom>
              <a:avLst/>
              <a:gdLst/>
              <a:ahLst/>
              <a:cxnLst/>
              <a:rect l="l" t="t" r="r" b="b"/>
              <a:pathLst>
                <a:path w="9631681" h="2243328">
                  <a:moveTo>
                    <a:pt x="0" y="0"/>
                  </a:moveTo>
                  <a:lnTo>
                    <a:pt x="9631681" y="0"/>
                  </a:lnTo>
                  <a:lnTo>
                    <a:pt x="9631681" y="2243328"/>
                  </a:lnTo>
                  <a:lnTo>
                    <a:pt x="0" y="2243328"/>
                  </a:lnTo>
                  <a:close/>
                </a:path>
              </a:pathLst>
            </a:custGeom>
            <a:solidFill>
              <a:srgbClr val="FFFFFF"/>
            </a:solidFill>
          </p:spPr>
          <p:txBody>
            <a:bodyPr/>
            <a:lstStyle/>
            <a:p>
              <a:endParaRPr lang="en-US"/>
            </a:p>
          </p:txBody>
        </p:sp>
        <p:sp>
          <p:nvSpPr>
            <p:cNvPr id="91" name="Freeform 91"/>
            <p:cNvSpPr/>
            <p:nvPr/>
          </p:nvSpPr>
          <p:spPr>
            <a:xfrm>
              <a:off x="0" y="0"/>
              <a:ext cx="9665462" cy="2277110"/>
            </a:xfrm>
            <a:custGeom>
              <a:avLst/>
              <a:gdLst/>
              <a:ahLst/>
              <a:cxnLst/>
              <a:rect l="l" t="t" r="r" b="b"/>
              <a:pathLst>
                <a:path w="9665462" h="2277110">
                  <a:moveTo>
                    <a:pt x="16891" y="0"/>
                  </a:moveTo>
                  <a:lnTo>
                    <a:pt x="9648572" y="0"/>
                  </a:lnTo>
                  <a:cubicBezTo>
                    <a:pt x="9657969" y="0"/>
                    <a:pt x="9665462" y="7620"/>
                    <a:pt x="9665462" y="16891"/>
                  </a:cubicBezTo>
                  <a:lnTo>
                    <a:pt x="9665462" y="2260219"/>
                  </a:lnTo>
                  <a:cubicBezTo>
                    <a:pt x="9665462" y="2269617"/>
                    <a:pt x="9657842" y="2277110"/>
                    <a:pt x="9648572"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9648572" y="2243328"/>
                  </a:lnTo>
                  <a:lnTo>
                    <a:pt x="9648572" y="2260219"/>
                  </a:lnTo>
                  <a:lnTo>
                    <a:pt x="9631680" y="2260219"/>
                  </a:lnTo>
                  <a:lnTo>
                    <a:pt x="9631680" y="16891"/>
                  </a:lnTo>
                  <a:lnTo>
                    <a:pt x="9648572" y="16891"/>
                  </a:lnTo>
                  <a:lnTo>
                    <a:pt x="9648572" y="33909"/>
                  </a:lnTo>
                  <a:lnTo>
                    <a:pt x="16891" y="33909"/>
                  </a:lnTo>
                  <a:close/>
                </a:path>
              </a:pathLst>
            </a:custGeom>
            <a:solidFill>
              <a:srgbClr val="E7E9E6"/>
            </a:solidFill>
          </p:spPr>
          <p:txBody>
            <a:bodyPr/>
            <a:lstStyle/>
            <a:p>
              <a:endParaRPr lang="en-US"/>
            </a:p>
          </p:txBody>
        </p:sp>
      </p:grpSp>
      <p:grpSp>
        <p:nvGrpSpPr>
          <p:cNvPr id="92" name="Group 92"/>
          <p:cNvGrpSpPr/>
          <p:nvPr/>
        </p:nvGrpSpPr>
        <p:grpSpPr>
          <a:xfrm>
            <a:off x="10698480" y="5007944"/>
            <a:ext cx="6675120" cy="908224"/>
            <a:chOff x="0" y="0"/>
            <a:chExt cx="8900160" cy="1210965"/>
          </a:xfrm>
        </p:grpSpPr>
        <p:sp>
          <p:nvSpPr>
            <p:cNvPr id="93" name="Freeform 93"/>
            <p:cNvSpPr/>
            <p:nvPr/>
          </p:nvSpPr>
          <p:spPr>
            <a:xfrm>
              <a:off x="0" y="0"/>
              <a:ext cx="8900160" cy="1210965"/>
            </a:xfrm>
            <a:custGeom>
              <a:avLst/>
              <a:gdLst/>
              <a:ahLst/>
              <a:cxnLst/>
              <a:rect l="l" t="t" r="r" b="b"/>
              <a:pathLst>
                <a:path w="8900160" h="1210965">
                  <a:moveTo>
                    <a:pt x="0" y="0"/>
                  </a:moveTo>
                  <a:lnTo>
                    <a:pt x="8900160" y="0"/>
                  </a:lnTo>
                  <a:lnTo>
                    <a:pt x="8900160" y="1210965"/>
                  </a:lnTo>
                  <a:lnTo>
                    <a:pt x="0" y="1210965"/>
                  </a:lnTo>
                  <a:close/>
                </a:path>
              </a:pathLst>
            </a:custGeom>
            <a:blipFill>
              <a:blip r:embed="rId3">
                <a:alphaModFix amt="0"/>
              </a:blip>
              <a:stretch>
                <a:fillRect t="-102936" b="-83480"/>
              </a:stretch>
            </a:blipFill>
          </p:spPr>
          <p:txBody>
            <a:bodyPr/>
            <a:lstStyle/>
            <a:p>
              <a:endParaRPr lang="en-US"/>
            </a:p>
          </p:txBody>
        </p:sp>
        <p:sp>
          <p:nvSpPr>
            <p:cNvPr id="94" name="TextBox 94"/>
            <p:cNvSpPr txBox="1"/>
            <p:nvPr/>
          </p:nvSpPr>
          <p:spPr>
            <a:xfrm>
              <a:off x="0" y="-19050"/>
              <a:ext cx="8900160" cy="1230015"/>
            </a:xfrm>
            <a:prstGeom prst="rect">
              <a:avLst/>
            </a:prstGeom>
          </p:spPr>
          <p:txBody>
            <a:bodyPr lIns="0" tIns="0" rIns="0" bIns="0" rtlCol="0" anchor="ctr"/>
            <a:lstStyle/>
            <a:p>
              <a:pPr algn="l">
                <a:lnSpc>
                  <a:spcPts val="5280"/>
                </a:lnSpc>
              </a:pPr>
              <a:r>
                <a:rPr lang="en-US" sz="4400" b="1">
                  <a:solidFill>
                    <a:srgbClr val="1F2D2B"/>
                  </a:solidFill>
                  <a:latin typeface="Arial Bold"/>
                  <a:ea typeface="Arial Bold"/>
                  <a:cs typeface="Arial Bold"/>
                  <a:sym typeface="Arial Bold"/>
                </a:rPr>
                <a:t>15–30 min</a:t>
              </a:r>
            </a:p>
          </p:txBody>
        </p:sp>
      </p:grpSp>
      <p:grpSp>
        <p:nvGrpSpPr>
          <p:cNvPr id="95" name="Group 95"/>
          <p:cNvGrpSpPr/>
          <p:nvPr/>
        </p:nvGrpSpPr>
        <p:grpSpPr>
          <a:xfrm>
            <a:off x="10698480" y="5819137"/>
            <a:ext cx="6675120" cy="731520"/>
            <a:chOff x="0" y="0"/>
            <a:chExt cx="8900160" cy="975360"/>
          </a:xfrm>
        </p:grpSpPr>
        <p:sp>
          <p:nvSpPr>
            <p:cNvPr id="96" name="Freeform 96"/>
            <p:cNvSpPr/>
            <p:nvPr/>
          </p:nvSpPr>
          <p:spPr>
            <a:xfrm>
              <a:off x="0" y="0"/>
              <a:ext cx="8900160" cy="975360"/>
            </a:xfrm>
            <a:custGeom>
              <a:avLst/>
              <a:gdLst/>
              <a:ahLst/>
              <a:cxnLst/>
              <a:rect l="l" t="t" r="r" b="b"/>
              <a:pathLst>
                <a:path w="8900160" h="975360">
                  <a:moveTo>
                    <a:pt x="0" y="0"/>
                  </a:moveTo>
                  <a:lnTo>
                    <a:pt x="8900160" y="0"/>
                  </a:lnTo>
                  <a:lnTo>
                    <a:pt x="8900160" y="975360"/>
                  </a:lnTo>
                  <a:lnTo>
                    <a:pt x="0" y="975360"/>
                  </a:lnTo>
                  <a:close/>
                </a:path>
              </a:pathLst>
            </a:custGeom>
            <a:blipFill>
              <a:blip r:embed="rId3">
                <a:alphaModFix amt="0"/>
              </a:blip>
              <a:stretch>
                <a:fillRect t="-127800" b="-127800"/>
              </a:stretch>
            </a:blipFill>
          </p:spPr>
          <p:txBody>
            <a:bodyPr/>
            <a:lstStyle/>
            <a:p>
              <a:endParaRPr lang="en-US"/>
            </a:p>
          </p:txBody>
        </p:sp>
        <p:sp>
          <p:nvSpPr>
            <p:cNvPr id="97" name="TextBox 97"/>
            <p:cNvSpPr txBox="1"/>
            <p:nvPr/>
          </p:nvSpPr>
          <p:spPr>
            <a:xfrm>
              <a:off x="0" y="-9525"/>
              <a:ext cx="8900160" cy="984885"/>
            </a:xfrm>
            <a:prstGeom prst="rect">
              <a:avLst/>
            </a:prstGeom>
          </p:spPr>
          <p:txBody>
            <a:bodyPr lIns="0" tIns="0" rIns="0" bIns="0" rtlCol="0" anchor="ctr"/>
            <a:lstStyle/>
            <a:p>
              <a:pPr algn="l">
                <a:lnSpc>
                  <a:spcPts val="2400"/>
                </a:lnSpc>
              </a:pPr>
              <a:r>
                <a:rPr lang="en-US" sz="2000">
                  <a:solidFill>
                    <a:srgbClr val="6C7571"/>
                  </a:solidFill>
                  <a:latin typeface="Arial"/>
                  <a:ea typeface="Arial"/>
                  <a:cs typeface="Arial"/>
                  <a:sym typeface="Arial"/>
                </a:rPr>
                <a:t>per complaint handled manually — complaints scale with GMV growth</a:t>
              </a:r>
            </a:p>
          </p:txBody>
        </p:sp>
      </p:grpSp>
      <p:grpSp>
        <p:nvGrpSpPr>
          <p:cNvPr id="98" name="Group 98"/>
          <p:cNvGrpSpPr/>
          <p:nvPr/>
        </p:nvGrpSpPr>
        <p:grpSpPr>
          <a:xfrm>
            <a:off x="10320023" y="6793992"/>
            <a:ext cx="7249163" cy="1707899"/>
            <a:chOff x="0" y="0"/>
            <a:chExt cx="9665551" cy="2277199"/>
          </a:xfrm>
        </p:grpSpPr>
        <p:sp>
          <p:nvSpPr>
            <p:cNvPr id="99" name="Freeform 99"/>
            <p:cNvSpPr/>
            <p:nvPr/>
          </p:nvSpPr>
          <p:spPr>
            <a:xfrm>
              <a:off x="16891" y="16891"/>
              <a:ext cx="9631681" cy="2243328"/>
            </a:xfrm>
            <a:custGeom>
              <a:avLst/>
              <a:gdLst/>
              <a:ahLst/>
              <a:cxnLst/>
              <a:rect l="l" t="t" r="r" b="b"/>
              <a:pathLst>
                <a:path w="9631681" h="2243328">
                  <a:moveTo>
                    <a:pt x="0" y="0"/>
                  </a:moveTo>
                  <a:lnTo>
                    <a:pt x="9631681" y="0"/>
                  </a:lnTo>
                  <a:lnTo>
                    <a:pt x="9631681" y="2243328"/>
                  </a:lnTo>
                  <a:lnTo>
                    <a:pt x="0" y="2243328"/>
                  </a:lnTo>
                  <a:close/>
                </a:path>
              </a:pathLst>
            </a:custGeom>
            <a:solidFill>
              <a:srgbClr val="E9570B">
                <a:alpha val="24706"/>
              </a:srgbClr>
            </a:solidFill>
          </p:spPr>
          <p:txBody>
            <a:bodyPr/>
            <a:lstStyle/>
            <a:p>
              <a:endParaRPr lang="en-US"/>
            </a:p>
          </p:txBody>
        </p:sp>
        <p:sp>
          <p:nvSpPr>
            <p:cNvPr id="100" name="Freeform 100"/>
            <p:cNvSpPr/>
            <p:nvPr/>
          </p:nvSpPr>
          <p:spPr>
            <a:xfrm>
              <a:off x="0" y="0"/>
              <a:ext cx="9665462" cy="2277110"/>
            </a:xfrm>
            <a:custGeom>
              <a:avLst/>
              <a:gdLst/>
              <a:ahLst/>
              <a:cxnLst/>
              <a:rect l="l" t="t" r="r" b="b"/>
              <a:pathLst>
                <a:path w="9665462" h="2277110">
                  <a:moveTo>
                    <a:pt x="16891" y="0"/>
                  </a:moveTo>
                  <a:lnTo>
                    <a:pt x="9648572" y="0"/>
                  </a:lnTo>
                  <a:cubicBezTo>
                    <a:pt x="9657969" y="0"/>
                    <a:pt x="9665462" y="7620"/>
                    <a:pt x="9665462" y="16891"/>
                  </a:cubicBezTo>
                  <a:lnTo>
                    <a:pt x="9665462" y="2260219"/>
                  </a:lnTo>
                  <a:cubicBezTo>
                    <a:pt x="9665462" y="2269617"/>
                    <a:pt x="9657842" y="2277110"/>
                    <a:pt x="9648572" y="2277110"/>
                  </a:cubicBezTo>
                  <a:lnTo>
                    <a:pt x="16891" y="2277110"/>
                  </a:lnTo>
                  <a:cubicBezTo>
                    <a:pt x="7493" y="2277110"/>
                    <a:pt x="0" y="2269490"/>
                    <a:pt x="0" y="2260219"/>
                  </a:cubicBezTo>
                  <a:lnTo>
                    <a:pt x="0" y="16891"/>
                  </a:lnTo>
                  <a:cubicBezTo>
                    <a:pt x="0" y="7620"/>
                    <a:pt x="7620" y="0"/>
                    <a:pt x="16891" y="0"/>
                  </a:cubicBezTo>
                  <a:moveTo>
                    <a:pt x="16891" y="33909"/>
                  </a:moveTo>
                  <a:lnTo>
                    <a:pt x="16891" y="16891"/>
                  </a:lnTo>
                  <a:lnTo>
                    <a:pt x="33909" y="16891"/>
                  </a:lnTo>
                  <a:lnTo>
                    <a:pt x="33909" y="2260219"/>
                  </a:lnTo>
                  <a:lnTo>
                    <a:pt x="16891" y="2260219"/>
                  </a:lnTo>
                  <a:lnTo>
                    <a:pt x="16891" y="2243328"/>
                  </a:lnTo>
                  <a:lnTo>
                    <a:pt x="9648572" y="2243328"/>
                  </a:lnTo>
                  <a:lnTo>
                    <a:pt x="9648572" y="2260219"/>
                  </a:lnTo>
                  <a:lnTo>
                    <a:pt x="9631680" y="2260219"/>
                  </a:lnTo>
                  <a:lnTo>
                    <a:pt x="9631680" y="16891"/>
                  </a:lnTo>
                  <a:lnTo>
                    <a:pt x="9648572" y="16891"/>
                  </a:lnTo>
                  <a:lnTo>
                    <a:pt x="9648572" y="33909"/>
                  </a:lnTo>
                  <a:lnTo>
                    <a:pt x="16891" y="33909"/>
                  </a:lnTo>
                  <a:close/>
                </a:path>
              </a:pathLst>
            </a:custGeom>
            <a:solidFill>
              <a:srgbClr val="F05A22">
                <a:alpha val="784"/>
              </a:srgbClr>
            </a:solidFill>
          </p:spPr>
          <p:txBody>
            <a:bodyPr/>
            <a:lstStyle/>
            <a:p>
              <a:endParaRPr lang="en-US"/>
            </a:p>
          </p:txBody>
        </p:sp>
      </p:grpSp>
      <p:grpSp>
        <p:nvGrpSpPr>
          <p:cNvPr id="101" name="Group 101"/>
          <p:cNvGrpSpPr/>
          <p:nvPr/>
        </p:nvGrpSpPr>
        <p:grpSpPr>
          <a:xfrm>
            <a:off x="10698480" y="6916417"/>
            <a:ext cx="6675120" cy="402336"/>
            <a:chOff x="0" y="0"/>
            <a:chExt cx="8900160" cy="536448"/>
          </a:xfrm>
        </p:grpSpPr>
        <p:sp>
          <p:nvSpPr>
            <p:cNvPr id="102" name="Freeform 102"/>
            <p:cNvSpPr/>
            <p:nvPr/>
          </p:nvSpPr>
          <p:spPr>
            <a:xfrm>
              <a:off x="0" y="0"/>
              <a:ext cx="8900160" cy="536448"/>
            </a:xfrm>
            <a:custGeom>
              <a:avLst/>
              <a:gdLst/>
              <a:ahLst/>
              <a:cxnLst/>
              <a:rect l="l" t="t" r="r" b="b"/>
              <a:pathLst>
                <a:path w="8900160" h="536448">
                  <a:moveTo>
                    <a:pt x="0" y="0"/>
                  </a:moveTo>
                  <a:lnTo>
                    <a:pt x="8900160" y="0"/>
                  </a:lnTo>
                  <a:lnTo>
                    <a:pt x="8900160" y="536448"/>
                  </a:lnTo>
                  <a:lnTo>
                    <a:pt x="0" y="536448"/>
                  </a:lnTo>
                  <a:close/>
                </a:path>
              </a:pathLst>
            </a:custGeom>
            <a:blipFill>
              <a:blip r:embed="rId3">
                <a:alphaModFix amt="0"/>
              </a:blip>
              <a:stretch>
                <a:fillRect t="-273274" b="-273274"/>
              </a:stretch>
            </a:blipFill>
          </p:spPr>
          <p:txBody>
            <a:bodyPr/>
            <a:lstStyle/>
            <a:p>
              <a:endParaRPr lang="en-US"/>
            </a:p>
          </p:txBody>
        </p:sp>
        <p:sp>
          <p:nvSpPr>
            <p:cNvPr id="103" name="TextBox 103"/>
            <p:cNvSpPr txBox="1"/>
            <p:nvPr/>
          </p:nvSpPr>
          <p:spPr>
            <a:xfrm>
              <a:off x="0" y="-19050"/>
              <a:ext cx="8900160" cy="555498"/>
            </a:xfrm>
            <a:prstGeom prst="rect">
              <a:avLst/>
            </a:prstGeom>
          </p:spPr>
          <p:txBody>
            <a:bodyPr lIns="0" tIns="0" rIns="0" bIns="0" rtlCol="0" anchor="ctr"/>
            <a:lstStyle/>
            <a:p>
              <a:pPr algn="l">
                <a:lnSpc>
                  <a:spcPts val="2039"/>
                </a:lnSpc>
              </a:pPr>
              <a:r>
                <a:rPr lang="en-US" sz="1700" spc="300">
                  <a:solidFill>
                    <a:srgbClr val="F05A22"/>
                  </a:solidFill>
                  <a:latin typeface="Arial"/>
                  <a:ea typeface="Arial"/>
                  <a:cs typeface="Arial"/>
                  <a:sym typeface="Arial"/>
                </a:rPr>
                <a:t>THE MANGLISH MOAT</a:t>
              </a:r>
            </a:p>
          </p:txBody>
        </p:sp>
      </p:grpSp>
      <p:grpSp>
        <p:nvGrpSpPr>
          <p:cNvPr id="104" name="Group 104"/>
          <p:cNvGrpSpPr/>
          <p:nvPr/>
        </p:nvGrpSpPr>
        <p:grpSpPr>
          <a:xfrm>
            <a:off x="10698480" y="7318753"/>
            <a:ext cx="6675120" cy="1060704"/>
            <a:chOff x="0" y="0"/>
            <a:chExt cx="8900160" cy="1414272"/>
          </a:xfrm>
        </p:grpSpPr>
        <p:sp>
          <p:nvSpPr>
            <p:cNvPr id="105" name="Freeform 105"/>
            <p:cNvSpPr/>
            <p:nvPr/>
          </p:nvSpPr>
          <p:spPr>
            <a:xfrm>
              <a:off x="0" y="0"/>
              <a:ext cx="8900160" cy="1414272"/>
            </a:xfrm>
            <a:custGeom>
              <a:avLst/>
              <a:gdLst/>
              <a:ahLst/>
              <a:cxnLst/>
              <a:rect l="l" t="t" r="r" b="b"/>
              <a:pathLst>
                <a:path w="8900160" h="1414272">
                  <a:moveTo>
                    <a:pt x="0" y="0"/>
                  </a:moveTo>
                  <a:lnTo>
                    <a:pt x="8900160" y="0"/>
                  </a:lnTo>
                  <a:lnTo>
                    <a:pt x="8900160" y="1414272"/>
                  </a:lnTo>
                  <a:lnTo>
                    <a:pt x="0" y="1414272"/>
                  </a:lnTo>
                  <a:close/>
                </a:path>
              </a:pathLst>
            </a:custGeom>
            <a:blipFill>
              <a:blip r:embed="rId3">
                <a:alphaModFix amt="0"/>
              </a:blip>
              <a:stretch>
                <a:fillRect t="-72621" b="-72621"/>
              </a:stretch>
            </a:blipFill>
          </p:spPr>
          <p:txBody>
            <a:bodyPr/>
            <a:lstStyle/>
            <a:p>
              <a:endParaRPr lang="en-US"/>
            </a:p>
          </p:txBody>
        </p:sp>
        <p:sp>
          <p:nvSpPr>
            <p:cNvPr id="106" name="TextBox 106"/>
            <p:cNvSpPr txBox="1"/>
            <p:nvPr/>
          </p:nvSpPr>
          <p:spPr>
            <a:xfrm>
              <a:off x="0" y="-9525"/>
              <a:ext cx="8900160" cy="1423797"/>
            </a:xfrm>
            <a:prstGeom prst="rect">
              <a:avLst/>
            </a:prstGeom>
          </p:spPr>
          <p:txBody>
            <a:bodyPr lIns="0" tIns="0" rIns="0" bIns="0" rtlCol="0" anchor="ctr"/>
            <a:lstStyle/>
            <a:p>
              <a:pPr algn="l">
                <a:lnSpc>
                  <a:spcPts val="2400"/>
                </a:lnSpc>
              </a:pPr>
              <a:r>
                <a:rPr lang="en-US" sz="2000">
                  <a:solidFill>
                    <a:srgbClr val="FFFFFF"/>
                  </a:solidFill>
                  <a:latin typeface="Arial"/>
                  <a:ea typeface="Arial"/>
                  <a:cs typeface="Arial"/>
                  <a:sym typeface="Arial"/>
                </a:rPr>
                <a:t>"barang tak sampai, nak refund" is not handled well by existing AI tools.</a:t>
              </a:r>
            </a:p>
          </p:txBody>
        </p:sp>
      </p:grpSp>
      <p:grpSp>
        <p:nvGrpSpPr>
          <p:cNvPr id="107" name="Group 107"/>
          <p:cNvGrpSpPr/>
          <p:nvPr/>
        </p:nvGrpSpPr>
        <p:grpSpPr>
          <a:xfrm>
            <a:off x="800100" y="8659368"/>
            <a:ext cx="5303520" cy="350472"/>
            <a:chOff x="0" y="0"/>
            <a:chExt cx="7071360" cy="467296"/>
          </a:xfrm>
        </p:grpSpPr>
        <p:sp>
          <p:nvSpPr>
            <p:cNvPr id="108" name="Freeform 108"/>
            <p:cNvSpPr/>
            <p:nvPr/>
          </p:nvSpPr>
          <p:spPr>
            <a:xfrm>
              <a:off x="0" y="0"/>
              <a:ext cx="7071360" cy="467296"/>
            </a:xfrm>
            <a:custGeom>
              <a:avLst/>
              <a:gdLst/>
              <a:ahLst/>
              <a:cxnLst/>
              <a:rect l="l" t="t" r="r" b="b"/>
              <a:pathLst>
                <a:path w="7071360" h="467296">
                  <a:moveTo>
                    <a:pt x="0" y="0"/>
                  </a:moveTo>
                  <a:lnTo>
                    <a:pt x="7071360" y="0"/>
                  </a:lnTo>
                  <a:lnTo>
                    <a:pt x="7071360" y="467296"/>
                  </a:lnTo>
                  <a:lnTo>
                    <a:pt x="0" y="467296"/>
                  </a:lnTo>
                  <a:close/>
                </a:path>
              </a:pathLst>
            </a:custGeom>
            <a:blipFill>
              <a:blip r:embed="rId3">
                <a:alphaModFix amt="0"/>
              </a:blip>
              <a:stretch>
                <a:fillRect t="-247894" b="-241820"/>
              </a:stretch>
            </a:blipFill>
          </p:spPr>
          <p:txBody>
            <a:bodyPr/>
            <a:lstStyle/>
            <a:p>
              <a:endParaRPr lang="en-US"/>
            </a:p>
          </p:txBody>
        </p:sp>
        <p:sp>
          <p:nvSpPr>
            <p:cNvPr id="109" name="TextBox 109"/>
            <p:cNvSpPr txBox="1"/>
            <p:nvPr/>
          </p:nvSpPr>
          <p:spPr>
            <a:xfrm>
              <a:off x="0" y="-19050"/>
              <a:ext cx="7071360" cy="486346"/>
            </a:xfrm>
            <a:prstGeom prst="rect">
              <a:avLst/>
            </a:prstGeom>
          </p:spPr>
          <p:txBody>
            <a:bodyPr lIns="0" tIns="0" rIns="0" bIns="0" rtlCol="0" anchor="ctr"/>
            <a:lstStyle/>
            <a:p>
              <a:pPr algn="l">
                <a:lnSpc>
                  <a:spcPts val="2039"/>
                </a:lnSpc>
              </a:pPr>
              <a:r>
                <a:rPr lang="en-US" sz="1700" spc="300">
                  <a:solidFill>
                    <a:srgbClr val="6C7571"/>
                  </a:solidFill>
                  <a:latin typeface="Arial"/>
                  <a:ea typeface="Arial"/>
                  <a:cs typeface="Arial"/>
                  <a:sym typeface="Arial"/>
                </a:rPr>
                <a:t>SHIFT 01</a:t>
              </a:r>
            </a:p>
          </p:txBody>
        </p:sp>
      </p:grpSp>
      <p:grpSp>
        <p:nvGrpSpPr>
          <p:cNvPr id="110" name="Group 110"/>
          <p:cNvGrpSpPr/>
          <p:nvPr/>
        </p:nvGrpSpPr>
        <p:grpSpPr>
          <a:xfrm>
            <a:off x="800100" y="9025128"/>
            <a:ext cx="5303520" cy="454112"/>
            <a:chOff x="0" y="0"/>
            <a:chExt cx="7071360" cy="605482"/>
          </a:xfrm>
        </p:grpSpPr>
        <p:sp>
          <p:nvSpPr>
            <p:cNvPr id="111" name="Freeform 111"/>
            <p:cNvSpPr/>
            <p:nvPr/>
          </p:nvSpPr>
          <p:spPr>
            <a:xfrm>
              <a:off x="0" y="0"/>
              <a:ext cx="7071360" cy="605482"/>
            </a:xfrm>
            <a:custGeom>
              <a:avLst/>
              <a:gdLst/>
              <a:ahLst/>
              <a:cxnLst/>
              <a:rect l="l" t="t" r="r" b="b"/>
              <a:pathLst>
                <a:path w="7071360" h="605482">
                  <a:moveTo>
                    <a:pt x="0" y="0"/>
                  </a:moveTo>
                  <a:lnTo>
                    <a:pt x="7071360" y="0"/>
                  </a:lnTo>
                  <a:lnTo>
                    <a:pt x="7071360" y="605482"/>
                  </a:lnTo>
                  <a:lnTo>
                    <a:pt x="0" y="605482"/>
                  </a:lnTo>
                  <a:close/>
                </a:path>
              </a:pathLst>
            </a:custGeom>
            <a:blipFill>
              <a:blip r:embed="rId3">
                <a:alphaModFix amt="0"/>
              </a:blip>
              <a:stretch>
                <a:fillRect t="-183264" b="-171862"/>
              </a:stretch>
            </a:blipFill>
          </p:spPr>
          <p:txBody>
            <a:bodyPr/>
            <a:lstStyle/>
            <a:p>
              <a:endParaRPr lang="en-US"/>
            </a:p>
          </p:txBody>
        </p:sp>
        <p:sp>
          <p:nvSpPr>
            <p:cNvPr id="112" name="TextBox 112"/>
            <p:cNvSpPr txBox="1"/>
            <p:nvPr/>
          </p:nvSpPr>
          <p:spPr>
            <a:xfrm>
              <a:off x="0" y="-19050"/>
              <a:ext cx="7071360" cy="624532"/>
            </a:xfrm>
            <a:prstGeom prst="rect">
              <a:avLst/>
            </a:prstGeom>
          </p:spPr>
          <p:txBody>
            <a:bodyPr lIns="0" tIns="0" rIns="0" bIns="0" rtlCol="0" anchor="ctr"/>
            <a:lstStyle/>
            <a:p>
              <a:pPr algn="l">
                <a:lnSpc>
                  <a:spcPts val="2640"/>
                </a:lnSpc>
              </a:pPr>
              <a:r>
                <a:rPr lang="en-US" sz="2200" b="1">
                  <a:solidFill>
                    <a:srgbClr val="1F2D2B"/>
                  </a:solidFill>
                  <a:latin typeface="Arial Bold"/>
                  <a:ea typeface="Arial Bold"/>
                  <a:cs typeface="Arial Bold"/>
                  <a:sym typeface="Arial Bold"/>
                </a:rPr>
                <a:t>LLMs got cheap</a:t>
              </a:r>
            </a:p>
          </p:txBody>
        </p:sp>
      </p:grpSp>
      <p:grpSp>
        <p:nvGrpSpPr>
          <p:cNvPr id="113" name="Group 113"/>
          <p:cNvGrpSpPr/>
          <p:nvPr/>
        </p:nvGrpSpPr>
        <p:grpSpPr>
          <a:xfrm>
            <a:off x="800100" y="9464040"/>
            <a:ext cx="5303520" cy="405036"/>
            <a:chOff x="0" y="0"/>
            <a:chExt cx="7071360" cy="540048"/>
          </a:xfrm>
        </p:grpSpPr>
        <p:sp>
          <p:nvSpPr>
            <p:cNvPr id="114" name="Freeform 114"/>
            <p:cNvSpPr/>
            <p:nvPr/>
          </p:nvSpPr>
          <p:spPr>
            <a:xfrm>
              <a:off x="0" y="0"/>
              <a:ext cx="7071360" cy="540048"/>
            </a:xfrm>
            <a:custGeom>
              <a:avLst/>
              <a:gdLst/>
              <a:ahLst/>
              <a:cxnLst/>
              <a:rect l="l" t="t" r="r" b="b"/>
              <a:pathLst>
                <a:path w="7071360" h="540048">
                  <a:moveTo>
                    <a:pt x="0" y="0"/>
                  </a:moveTo>
                  <a:lnTo>
                    <a:pt x="7071360" y="0"/>
                  </a:lnTo>
                  <a:lnTo>
                    <a:pt x="7071360" y="540048"/>
                  </a:lnTo>
                  <a:lnTo>
                    <a:pt x="0" y="540048"/>
                  </a:lnTo>
                  <a:close/>
                </a:path>
              </a:pathLst>
            </a:custGeom>
            <a:blipFill>
              <a:blip r:embed="rId3">
                <a:alphaModFix amt="0"/>
              </a:blip>
              <a:stretch>
                <a:fillRect t="-205469" b="-204802"/>
              </a:stretch>
            </a:blipFill>
          </p:spPr>
          <p:txBody>
            <a:bodyPr/>
            <a:lstStyle/>
            <a:p>
              <a:endParaRPr lang="en-US"/>
            </a:p>
          </p:txBody>
        </p:sp>
        <p:sp>
          <p:nvSpPr>
            <p:cNvPr id="115" name="TextBox 115"/>
            <p:cNvSpPr txBox="1"/>
            <p:nvPr/>
          </p:nvSpPr>
          <p:spPr>
            <a:xfrm>
              <a:off x="0" y="-9525"/>
              <a:ext cx="7071360" cy="549573"/>
            </a:xfrm>
            <a:prstGeom prst="rect">
              <a:avLst/>
            </a:prstGeom>
          </p:spPr>
          <p:txBody>
            <a:bodyPr lIns="0" tIns="0" rIns="0" bIns="0" rtlCol="0" anchor="ctr"/>
            <a:lstStyle/>
            <a:p>
              <a:pPr algn="l">
                <a:lnSpc>
                  <a:spcPts val="2400"/>
                </a:lnSpc>
              </a:pPr>
              <a:r>
                <a:rPr lang="en-US" sz="2000">
                  <a:solidFill>
                    <a:srgbClr val="6C7571"/>
                  </a:solidFill>
                  <a:latin typeface="Arial"/>
                  <a:ea typeface="Arial"/>
                  <a:cs typeface="Arial"/>
                  <a:sym typeface="Arial"/>
                </a:rPr>
                <a:t>Per-complaint cost is now sub-RM-0.01</a:t>
              </a:r>
            </a:p>
          </p:txBody>
        </p:sp>
      </p:grpSp>
      <p:grpSp>
        <p:nvGrpSpPr>
          <p:cNvPr id="116" name="Group 116"/>
          <p:cNvGrpSpPr/>
          <p:nvPr/>
        </p:nvGrpSpPr>
        <p:grpSpPr>
          <a:xfrm>
            <a:off x="6286500" y="8659368"/>
            <a:ext cx="5303520" cy="350472"/>
            <a:chOff x="0" y="0"/>
            <a:chExt cx="7071360" cy="467296"/>
          </a:xfrm>
        </p:grpSpPr>
        <p:sp>
          <p:nvSpPr>
            <p:cNvPr id="117" name="Freeform 117"/>
            <p:cNvSpPr/>
            <p:nvPr/>
          </p:nvSpPr>
          <p:spPr>
            <a:xfrm>
              <a:off x="0" y="0"/>
              <a:ext cx="7071360" cy="467296"/>
            </a:xfrm>
            <a:custGeom>
              <a:avLst/>
              <a:gdLst/>
              <a:ahLst/>
              <a:cxnLst/>
              <a:rect l="l" t="t" r="r" b="b"/>
              <a:pathLst>
                <a:path w="7071360" h="467296">
                  <a:moveTo>
                    <a:pt x="0" y="0"/>
                  </a:moveTo>
                  <a:lnTo>
                    <a:pt x="7071360" y="0"/>
                  </a:lnTo>
                  <a:lnTo>
                    <a:pt x="7071360" y="467296"/>
                  </a:lnTo>
                  <a:lnTo>
                    <a:pt x="0" y="467296"/>
                  </a:lnTo>
                  <a:close/>
                </a:path>
              </a:pathLst>
            </a:custGeom>
            <a:blipFill>
              <a:blip r:embed="rId3">
                <a:alphaModFix amt="0"/>
              </a:blip>
              <a:stretch>
                <a:fillRect t="-247894" b="-241820"/>
              </a:stretch>
            </a:blipFill>
          </p:spPr>
          <p:txBody>
            <a:bodyPr/>
            <a:lstStyle/>
            <a:p>
              <a:endParaRPr lang="en-US"/>
            </a:p>
          </p:txBody>
        </p:sp>
        <p:sp>
          <p:nvSpPr>
            <p:cNvPr id="118" name="TextBox 118"/>
            <p:cNvSpPr txBox="1"/>
            <p:nvPr/>
          </p:nvSpPr>
          <p:spPr>
            <a:xfrm>
              <a:off x="0" y="-19050"/>
              <a:ext cx="7071360" cy="486346"/>
            </a:xfrm>
            <a:prstGeom prst="rect">
              <a:avLst/>
            </a:prstGeom>
          </p:spPr>
          <p:txBody>
            <a:bodyPr lIns="0" tIns="0" rIns="0" bIns="0" rtlCol="0" anchor="ctr"/>
            <a:lstStyle/>
            <a:p>
              <a:pPr algn="l">
                <a:lnSpc>
                  <a:spcPts val="2039"/>
                </a:lnSpc>
              </a:pPr>
              <a:r>
                <a:rPr lang="en-US" sz="1700" spc="300">
                  <a:solidFill>
                    <a:srgbClr val="6C7571"/>
                  </a:solidFill>
                  <a:latin typeface="Arial"/>
                  <a:ea typeface="Arial"/>
                  <a:cs typeface="Arial"/>
                  <a:sym typeface="Arial"/>
                </a:rPr>
                <a:t>SHIFT 02</a:t>
              </a:r>
            </a:p>
          </p:txBody>
        </p:sp>
      </p:grpSp>
      <p:grpSp>
        <p:nvGrpSpPr>
          <p:cNvPr id="119" name="Group 119"/>
          <p:cNvGrpSpPr/>
          <p:nvPr/>
        </p:nvGrpSpPr>
        <p:grpSpPr>
          <a:xfrm>
            <a:off x="6286500" y="9025128"/>
            <a:ext cx="5303520" cy="454112"/>
            <a:chOff x="0" y="0"/>
            <a:chExt cx="7071360" cy="605482"/>
          </a:xfrm>
        </p:grpSpPr>
        <p:sp>
          <p:nvSpPr>
            <p:cNvPr id="120" name="Freeform 120"/>
            <p:cNvSpPr/>
            <p:nvPr/>
          </p:nvSpPr>
          <p:spPr>
            <a:xfrm>
              <a:off x="0" y="0"/>
              <a:ext cx="7071360" cy="605482"/>
            </a:xfrm>
            <a:custGeom>
              <a:avLst/>
              <a:gdLst/>
              <a:ahLst/>
              <a:cxnLst/>
              <a:rect l="l" t="t" r="r" b="b"/>
              <a:pathLst>
                <a:path w="7071360" h="605482">
                  <a:moveTo>
                    <a:pt x="0" y="0"/>
                  </a:moveTo>
                  <a:lnTo>
                    <a:pt x="7071360" y="0"/>
                  </a:lnTo>
                  <a:lnTo>
                    <a:pt x="7071360" y="605482"/>
                  </a:lnTo>
                  <a:lnTo>
                    <a:pt x="0" y="605482"/>
                  </a:lnTo>
                  <a:close/>
                </a:path>
              </a:pathLst>
            </a:custGeom>
            <a:blipFill>
              <a:blip r:embed="rId3">
                <a:alphaModFix amt="0"/>
              </a:blip>
              <a:stretch>
                <a:fillRect t="-183264" b="-171862"/>
              </a:stretch>
            </a:blipFill>
          </p:spPr>
          <p:txBody>
            <a:bodyPr/>
            <a:lstStyle/>
            <a:p>
              <a:endParaRPr lang="en-US"/>
            </a:p>
          </p:txBody>
        </p:sp>
        <p:sp>
          <p:nvSpPr>
            <p:cNvPr id="121" name="TextBox 121"/>
            <p:cNvSpPr txBox="1"/>
            <p:nvPr/>
          </p:nvSpPr>
          <p:spPr>
            <a:xfrm>
              <a:off x="0" y="-19050"/>
              <a:ext cx="7071360" cy="624532"/>
            </a:xfrm>
            <a:prstGeom prst="rect">
              <a:avLst/>
            </a:prstGeom>
          </p:spPr>
          <p:txBody>
            <a:bodyPr lIns="0" tIns="0" rIns="0" bIns="0" rtlCol="0" anchor="ctr"/>
            <a:lstStyle/>
            <a:p>
              <a:pPr algn="l">
                <a:lnSpc>
                  <a:spcPts val="2640"/>
                </a:lnSpc>
              </a:pPr>
              <a:r>
                <a:rPr lang="en-US" sz="2200" b="1">
                  <a:solidFill>
                    <a:srgbClr val="1F2D2B"/>
                  </a:solidFill>
                  <a:latin typeface="Arial Bold"/>
                  <a:ea typeface="Arial Bold"/>
                  <a:cs typeface="Arial Bold"/>
                  <a:sym typeface="Arial Bold"/>
                </a:rPr>
                <a:t>Code-switching is solved</a:t>
              </a:r>
            </a:p>
          </p:txBody>
        </p:sp>
      </p:grpSp>
      <p:grpSp>
        <p:nvGrpSpPr>
          <p:cNvPr id="122" name="Group 122"/>
          <p:cNvGrpSpPr/>
          <p:nvPr/>
        </p:nvGrpSpPr>
        <p:grpSpPr>
          <a:xfrm>
            <a:off x="6286500" y="9464040"/>
            <a:ext cx="5303520" cy="405036"/>
            <a:chOff x="0" y="0"/>
            <a:chExt cx="7071360" cy="540048"/>
          </a:xfrm>
        </p:grpSpPr>
        <p:sp>
          <p:nvSpPr>
            <p:cNvPr id="123" name="Freeform 123"/>
            <p:cNvSpPr/>
            <p:nvPr/>
          </p:nvSpPr>
          <p:spPr>
            <a:xfrm>
              <a:off x="0" y="0"/>
              <a:ext cx="7071360" cy="540048"/>
            </a:xfrm>
            <a:custGeom>
              <a:avLst/>
              <a:gdLst/>
              <a:ahLst/>
              <a:cxnLst/>
              <a:rect l="l" t="t" r="r" b="b"/>
              <a:pathLst>
                <a:path w="7071360" h="540048">
                  <a:moveTo>
                    <a:pt x="0" y="0"/>
                  </a:moveTo>
                  <a:lnTo>
                    <a:pt x="7071360" y="0"/>
                  </a:lnTo>
                  <a:lnTo>
                    <a:pt x="7071360" y="540048"/>
                  </a:lnTo>
                  <a:lnTo>
                    <a:pt x="0" y="540048"/>
                  </a:lnTo>
                  <a:close/>
                </a:path>
              </a:pathLst>
            </a:custGeom>
            <a:blipFill>
              <a:blip r:embed="rId3">
                <a:alphaModFix amt="0"/>
              </a:blip>
              <a:stretch>
                <a:fillRect t="-205469" b="-204802"/>
              </a:stretch>
            </a:blipFill>
          </p:spPr>
          <p:txBody>
            <a:bodyPr/>
            <a:lstStyle/>
            <a:p>
              <a:endParaRPr lang="en-US"/>
            </a:p>
          </p:txBody>
        </p:sp>
        <p:sp>
          <p:nvSpPr>
            <p:cNvPr id="124" name="TextBox 124"/>
            <p:cNvSpPr txBox="1"/>
            <p:nvPr/>
          </p:nvSpPr>
          <p:spPr>
            <a:xfrm>
              <a:off x="0" y="-9525"/>
              <a:ext cx="7071360" cy="549573"/>
            </a:xfrm>
            <a:prstGeom prst="rect">
              <a:avLst/>
            </a:prstGeom>
          </p:spPr>
          <p:txBody>
            <a:bodyPr lIns="0" tIns="0" rIns="0" bIns="0" rtlCol="0" anchor="ctr"/>
            <a:lstStyle/>
            <a:p>
              <a:pPr algn="l">
                <a:lnSpc>
                  <a:spcPts val="2400"/>
                </a:lnSpc>
              </a:pPr>
              <a:r>
                <a:rPr lang="en-US" sz="2000">
                  <a:solidFill>
                    <a:srgbClr val="6C7571"/>
                  </a:solidFill>
                  <a:latin typeface="Arial"/>
                  <a:ea typeface="Arial"/>
                  <a:cs typeface="Arial"/>
                  <a:sym typeface="Arial"/>
                </a:rPr>
                <a:t>EN/BM/Manglish handled natively</a:t>
              </a:r>
            </a:p>
          </p:txBody>
        </p:sp>
      </p:grpSp>
      <p:grpSp>
        <p:nvGrpSpPr>
          <p:cNvPr id="125" name="Group 125"/>
          <p:cNvGrpSpPr/>
          <p:nvPr/>
        </p:nvGrpSpPr>
        <p:grpSpPr>
          <a:xfrm>
            <a:off x="11704320" y="8659368"/>
            <a:ext cx="5303520" cy="350472"/>
            <a:chOff x="0" y="0"/>
            <a:chExt cx="7071360" cy="467296"/>
          </a:xfrm>
        </p:grpSpPr>
        <p:sp>
          <p:nvSpPr>
            <p:cNvPr id="126" name="Freeform 126"/>
            <p:cNvSpPr/>
            <p:nvPr/>
          </p:nvSpPr>
          <p:spPr>
            <a:xfrm>
              <a:off x="0" y="0"/>
              <a:ext cx="7071360" cy="467296"/>
            </a:xfrm>
            <a:custGeom>
              <a:avLst/>
              <a:gdLst/>
              <a:ahLst/>
              <a:cxnLst/>
              <a:rect l="l" t="t" r="r" b="b"/>
              <a:pathLst>
                <a:path w="7071360" h="467296">
                  <a:moveTo>
                    <a:pt x="0" y="0"/>
                  </a:moveTo>
                  <a:lnTo>
                    <a:pt x="7071360" y="0"/>
                  </a:lnTo>
                  <a:lnTo>
                    <a:pt x="7071360" y="467296"/>
                  </a:lnTo>
                  <a:lnTo>
                    <a:pt x="0" y="467296"/>
                  </a:lnTo>
                  <a:close/>
                </a:path>
              </a:pathLst>
            </a:custGeom>
            <a:blipFill>
              <a:blip r:embed="rId3">
                <a:alphaModFix amt="0"/>
              </a:blip>
              <a:stretch>
                <a:fillRect t="-247894" b="-241820"/>
              </a:stretch>
            </a:blipFill>
          </p:spPr>
          <p:txBody>
            <a:bodyPr/>
            <a:lstStyle/>
            <a:p>
              <a:endParaRPr lang="en-US"/>
            </a:p>
          </p:txBody>
        </p:sp>
        <p:sp>
          <p:nvSpPr>
            <p:cNvPr id="127" name="TextBox 127"/>
            <p:cNvSpPr txBox="1"/>
            <p:nvPr/>
          </p:nvSpPr>
          <p:spPr>
            <a:xfrm>
              <a:off x="0" y="-19050"/>
              <a:ext cx="7071360" cy="486346"/>
            </a:xfrm>
            <a:prstGeom prst="rect">
              <a:avLst/>
            </a:prstGeom>
          </p:spPr>
          <p:txBody>
            <a:bodyPr lIns="0" tIns="0" rIns="0" bIns="0" rtlCol="0" anchor="ctr"/>
            <a:lstStyle/>
            <a:p>
              <a:pPr algn="l">
                <a:lnSpc>
                  <a:spcPts val="2039"/>
                </a:lnSpc>
              </a:pPr>
              <a:r>
                <a:rPr lang="en-US" sz="1700" spc="300">
                  <a:solidFill>
                    <a:srgbClr val="6C7571"/>
                  </a:solidFill>
                  <a:latin typeface="Arial"/>
                  <a:ea typeface="Arial"/>
                  <a:cs typeface="Arial"/>
                  <a:sym typeface="Arial"/>
                </a:rPr>
                <a:t>SHIFT 03</a:t>
              </a:r>
            </a:p>
          </p:txBody>
        </p:sp>
      </p:grpSp>
      <p:grpSp>
        <p:nvGrpSpPr>
          <p:cNvPr id="128" name="Group 128"/>
          <p:cNvGrpSpPr/>
          <p:nvPr/>
        </p:nvGrpSpPr>
        <p:grpSpPr>
          <a:xfrm>
            <a:off x="11704320" y="9025128"/>
            <a:ext cx="5303520" cy="454112"/>
            <a:chOff x="0" y="0"/>
            <a:chExt cx="7071360" cy="605482"/>
          </a:xfrm>
        </p:grpSpPr>
        <p:sp>
          <p:nvSpPr>
            <p:cNvPr id="129" name="Freeform 129"/>
            <p:cNvSpPr/>
            <p:nvPr/>
          </p:nvSpPr>
          <p:spPr>
            <a:xfrm>
              <a:off x="0" y="0"/>
              <a:ext cx="7071360" cy="605482"/>
            </a:xfrm>
            <a:custGeom>
              <a:avLst/>
              <a:gdLst/>
              <a:ahLst/>
              <a:cxnLst/>
              <a:rect l="l" t="t" r="r" b="b"/>
              <a:pathLst>
                <a:path w="7071360" h="605482">
                  <a:moveTo>
                    <a:pt x="0" y="0"/>
                  </a:moveTo>
                  <a:lnTo>
                    <a:pt x="7071360" y="0"/>
                  </a:lnTo>
                  <a:lnTo>
                    <a:pt x="7071360" y="605482"/>
                  </a:lnTo>
                  <a:lnTo>
                    <a:pt x="0" y="605482"/>
                  </a:lnTo>
                  <a:close/>
                </a:path>
              </a:pathLst>
            </a:custGeom>
            <a:blipFill>
              <a:blip r:embed="rId3">
                <a:alphaModFix amt="0"/>
              </a:blip>
              <a:stretch>
                <a:fillRect t="-183264" b="-171862"/>
              </a:stretch>
            </a:blipFill>
          </p:spPr>
          <p:txBody>
            <a:bodyPr/>
            <a:lstStyle/>
            <a:p>
              <a:endParaRPr lang="en-US"/>
            </a:p>
          </p:txBody>
        </p:sp>
        <p:sp>
          <p:nvSpPr>
            <p:cNvPr id="130" name="TextBox 130"/>
            <p:cNvSpPr txBox="1"/>
            <p:nvPr/>
          </p:nvSpPr>
          <p:spPr>
            <a:xfrm>
              <a:off x="0" y="-19050"/>
              <a:ext cx="7071360" cy="624532"/>
            </a:xfrm>
            <a:prstGeom prst="rect">
              <a:avLst/>
            </a:prstGeom>
          </p:spPr>
          <p:txBody>
            <a:bodyPr lIns="0" tIns="0" rIns="0" bIns="0" rtlCol="0" anchor="ctr"/>
            <a:lstStyle/>
            <a:p>
              <a:pPr algn="l">
                <a:lnSpc>
                  <a:spcPts val="2640"/>
                </a:lnSpc>
              </a:pPr>
              <a:r>
                <a:rPr lang="en-US" sz="2200" b="1">
                  <a:solidFill>
                    <a:srgbClr val="1F2D2B"/>
                  </a:solidFill>
                  <a:latin typeface="Arial Bold"/>
                  <a:ea typeface="Arial Bold"/>
                  <a:cs typeface="Arial Bold"/>
                  <a:sym typeface="Arial Bold"/>
                </a:rPr>
                <a:t>Marketplace APIs are open</a:t>
              </a:r>
            </a:p>
          </p:txBody>
        </p:sp>
      </p:grpSp>
      <p:grpSp>
        <p:nvGrpSpPr>
          <p:cNvPr id="131" name="Group 131"/>
          <p:cNvGrpSpPr/>
          <p:nvPr/>
        </p:nvGrpSpPr>
        <p:grpSpPr>
          <a:xfrm>
            <a:off x="11704320" y="9464040"/>
            <a:ext cx="5303520" cy="405036"/>
            <a:chOff x="0" y="0"/>
            <a:chExt cx="7071360" cy="540048"/>
          </a:xfrm>
        </p:grpSpPr>
        <p:sp>
          <p:nvSpPr>
            <p:cNvPr id="132" name="Freeform 132"/>
            <p:cNvSpPr/>
            <p:nvPr/>
          </p:nvSpPr>
          <p:spPr>
            <a:xfrm>
              <a:off x="0" y="0"/>
              <a:ext cx="7071360" cy="540048"/>
            </a:xfrm>
            <a:custGeom>
              <a:avLst/>
              <a:gdLst/>
              <a:ahLst/>
              <a:cxnLst/>
              <a:rect l="l" t="t" r="r" b="b"/>
              <a:pathLst>
                <a:path w="7071360" h="540048">
                  <a:moveTo>
                    <a:pt x="0" y="0"/>
                  </a:moveTo>
                  <a:lnTo>
                    <a:pt x="7071360" y="0"/>
                  </a:lnTo>
                  <a:lnTo>
                    <a:pt x="7071360" y="540048"/>
                  </a:lnTo>
                  <a:lnTo>
                    <a:pt x="0" y="540048"/>
                  </a:lnTo>
                  <a:close/>
                </a:path>
              </a:pathLst>
            </a:custGeom>
            <a:blipFill>
              <a:blip r:embed="rId3">
                <a:alphaModFix amt="0"/>
              </a:blip>
              <a:stretch>
                <a:fillRect t="-205469" b="-204802"/>
              </a:stretch>
            </a:blipFill>
          </p:spPr>
          <p:txBody>
            <a:bodyPr/>
            <a:lstStyle/>
            <a:p>
              <a:endParaRPr lang="en-US"/>
            </a:p>
          </p:txBody>
        </p:sp>
        <p:sp>
          <p:nvSpPr>
            <p:cNvPr id="133" name="TextBox 133"/>
            <p:cNvSpPr txBox="1"/>
            <p:nvPr/>
          </p:nvSpPr>
          <p:spPr>
            <a:xfrm>
              <a:off x="0" y="-9525"/>
              <a:ext cx="7071360" cy="549573"/>
            </a:xfrm>
            <a:prstGeom prst="rect">
              <a:avLst/>
            </a:prstGeom>
          </p:spPr>
          <p:txBody>
            <a:bodyPr lIns="0" tIns="0" rIns="0" bIns="0" rtlCol="0" anchor="ctr"/>
            <a:lstStyle/>
            <a:p>
              <a:pPr algn="l">
                <a:lnSpc>
                  <a:spcPts val="2400"/>
                </a:lnSpc>
              </a:pPr>
              <a:r>
                <a:rPr lang="en-US" sz="2000">
                  <a:solidFill>
                    <a:srgbClr val="6C7571"/>
                  </a:solidFill>
                  <a:latin typeface="Arial"/>
                  <a:ea typeface="Arial"/>
                  <a:cs typeface="Arial"/>
                  <a:sym typeface="Arial"/>
                </a:rPr>
                <a:t>Shopee &amp; Lazada webhook ingestion</a:t>
              </a:r>
            </a:p>
          </p:txBody>
        </p:sp>
      </p:grpSp>
      <p:grpSp>
        <p:nvGrpSpPr>
          <p:cNvPr id="134" name="Group 134"/>
          <p:cNvGrpSpPr/>
          <p:nvPr/>
        </p:nvGrpSpPr>
        <p:grpSpPr>
          <a:xfrm>
            <a:off x="800100" y="9850715"/>
            <a:ext cx="16459200" cy="329184"/>
            <a:chOff x="0" y="0"/>
            <a:chExt cx="21945600" cy="438912"/>
          </a:xfrm>
        </p:grpSpPr>
        <p:sp>
          <p:nvSpPr>
            <p:cNvPr id="135" name="Freeform 135"/>
            <p:cNvSpPr/>
            <p:nvPr/>
          </p:nvSpPr>
          <p:spPr>
            <a:xfrm>
              <a:off x="0" y="0"/>
              <a:ext cx="21945600" cy="438912"/>
            </a:xfrm>
            <a:custGeom>
              <a:avLst/>
              <a:gdLst/>
              <a:ahLst/>
              <a:cxnLst/>
              <a:rect l="l" t="t" r="r" b="b"/>
              <a:pathLst>
                <a:path w="21945600" h="438912">
                  <a:moveTo>
                    <a:pt x="0" y="0"/>
                  </a:moveTo>
                  <a:lnTo>
                    <a:pt x="21945600" y="0"/>
                  </a:lnTo>
                  <a:lnTo>
                    <a:pt x="21945600" y="438912"/>
                  </a:lnTo>
                  <a:lnTo>
                    <a:pt x="0" y="438912"/>
                  </a:lnTo>
                  <a:close/>
                </a:path>
              </a:pathLst>
            </a:custGeom>
            <a:blipFill>
              <a:blip r:embed="rId3">
                <a:alphaModFix amt="0"/>
              </a:blip>
              <a:stretch>
                <a:fillRect t="-924251" b="-924251"/>
              </a:stretch>
            </a:blipFill>
          </p:spPr>
          <p:txBody>
            <a:bodyPr/>
            <a:lstStyle/>
            <a:p>
              <a:endParaRPr lang="en-US"/>
            </a:p>
          </p:txBody>
        </p:sp>
        <p:sp>
          <p:nvSpPr>
            <p:cNvPr id="136" name="TextBox 136"/>
            <p:cNvSpPr txBox="1"/>
            <p:nvPr/>
          </p:nvSpPr>
          <p:spPr>
            <a:xfrm>
              <a:off x="0" y="-19050"/>
              <a:ext cx="21945600" cy="457962"/>
            </a:xfrm>
            <a:prstGeom prst="rect">
              <a:avLst/>
            </a:prstGeom>
          </p:spPr>
          <p:txBody>
            <a:bodyPr lIns="0" tIns="0" rIns="0" bIns="0" rtlCol="0" anchor="ctr"/>
            <a:lstStyle/>
            <a:p>
              <a:pPr algn="l">
                <a:lnSpc>
                  <a:spcPts val="1920"/>
                </a:lnSpc>
              </a:pPr>
              <a:r>
                <a:rPr lang="en-US" sz="1600">
                  <a:solidFill>
                    <a:srgbClr val="9AA09C">
                      <a:alpha val="49804"/>
                    </a:srgbClr>
                  </a:solidFill>
                  <a:latin typeface="Arial"/>
                  <a:ea typeface="Arial"/>
                  <a:cs typeface="Arial"/>
                  <a:sym typeface="Arial"/>
                </a:rPr>
                <a:t>Sources: Mordor Intelligence · Momentum Works · MDEC</a:t>
              </a:r>
            </a:p>
          </p:txBody>
        </p:sp>
      </p:grpSp>
      <p:grpSp>
        <p:nvGrpSpPr>
          <p:cNvPr id="137" name="Group 137"/>
          <p:cNvGrpSpPr/>
          <p:nvPr/>
        </p:nvGrpSpPr>
        <p:grpSpPr>
          <a:xfrm>
            <a:off x="0" y="508820"/>
            <a:ext cx="18288000" cy="811161"/>
            <a:chOff x="0" y="0"/>
            <a:chExt cx="4816593" cy="213639"/>
          </a:xfrm>
        </p:grpSpPr>
        <p:sp>
          <p:nvSpPr>
            <p:cNvPr id="138" name="Freeform 138"/>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path path="circle">
                <a:fillToRect r="100000" b="100000"/>
              </a:path>
              <a:tileRect l="-100000" t="-100000"/>
            </a:gradFill>
          </p:spPr>
          <p:txBody>
            <a:bodyPr/>
            <a:lstStyle/>
            <a:p>
              <a:endParaRPr lang="en-US"/>
            </a:p>
          </p:txBody>
        </p:sp>
        <p:sp>
          <p:nvSpPr>
            <p:cNvPr id="139" name="TextBox 139"/>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sp>
        <p:nvSpPr>
          <p:cNvPr id="140" name="TextBox 140"/>
          <p:cNvSpPr txBox="1"/>
          <p:nvPr/>
        </p:nvSpPr>
        <p:spPr>
          <a:xfrm>
            <a:off x="15366044" y="802005"/>
            <a:ext cx="1681043"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03 / 12 · MARKET</a:t>
            </a:r>
          </a:p>
        </p:txBody>
      </p:sp>
      <p:grpSp>
        <p:nvGrpSpPr>
          <p:cNvPr id="141" name="Group 141"/>
          <p:cNvGrpSpPr/>
          <p:nvPr/>
        </p:nvGrpSpPr>
        <p:grpSpPr>
          <a:xfrm>
            <a:off x="787403" y="617597"/>
            <a:ext cx="2111216" cy="631706"/>
            <a:chOff x="0" y="0"/>
            <a:chExt cx="2814955" cy="842275"/>
          </a:xfrm>
        </p:grpSpPr>
        <p:sp>
          <p:nvSpPr>
            <p:cNvPr id="142" name="Freeform 142"/>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4"/>
              <a:stretch>
                <a:fillRect/>
              </a:stretch>
            </a:blipFill>
          </p:spPr>
          <p:txBody>
            <a:bodyPr/>
            <a:lstStyle/>
            <a:p>
              <a:endParaRPr lang="en-US"/>
            </a:p>
          </p:txBody>
        </p:sp>
        <p:sp>
          <p:nvSpPr>
            <p:cNvPr id="143" name="TextBox 143"/>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144" name="Group 144"/>
          <p:cNvGrpSpPr/>
          <p:nvPr/>
        </p:nvGrpSpPr>
        <p:grpSpPr>
          <a:xfrm>
            <a:off x="0" y="0"/>
            <a:ext cx="18288000" cy="550922"/>
            <a:chOff x="0" y="0"/>
            <a:chExt cx="24384000" cy="734563"/>
          </a:xfrm>
        </p:grpSpPr>
        <p:grpSp>
          <p:nvGrpSpPr>
            <p:cNvPr id="145" name="Group 145"/>
            <p:cNvGrpSpPr/>
            <p:nvPr/>
          </p:nvGrpSpPr>
          <p:grpSpPr>
            <a:xfrm>
              <a:off x="0" y="0"/>
              <a:ext cx="24384000" cy="734563"/>
              <a:chOff x="0" y="0"/>
              <a:chExt cx="4816593" cy="145099"/>
            </a:xfrm>
          </p:grpSpPr>
          <p:sp>
            <p:nvSpPr>
              <p:cNvPr id="146" name="Freeform 146"/>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147" name="TextBox 147"/>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148" name="Freeform 148"/>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5"/>
              <a:stretch>
                <a:fillRect t="-8011" b="-8011"/>
              </a:stretch>
            </a:blipFill>
          </p:spPr>
          <p:txBody>
            <a:bodyPr/>
            <a:lstStyle/>
            <a:p>
              <a:endParaRPr lang="en-US"/>
            </a:p>
          </p:txBody>
        </p:sp>
        <p:sp>
          <p:nvSpPr>
            <p:cNvPr id="149" name="Freeform 149"/>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6"/>
              <a:stretch>
                <a:fillRect t="-8011" b="-8011"/>
              </a:stretch>
            </a:blipFill>
          </p:spPr>
          <p:txBody>
            <a:bodyPr/>
            <a:lstStyle/>
            <a:p>
              <a:endParaRPr lang="en-US"/>
            </a:p>
          </p:txBody>
        </p:sp>
        <p:sp>
          <p:nvSpPr>
            <p:cNvPr id="150" name="Freeform 150"/>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7"/>
              <a:stretch>
                <a:fillRect t="-185025" r="-497" b="-182852"/>
              </a:stretch>
            </a:blipFill>
          </p:spPr>
          <p:txBody>
            <a:bodyPr/>
            <a:lstStyle/>
            <a:p>
              <a:endParaRPr lang="en-US"/>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1343025"/>
            <a:ext cx="18288000" cy="7827645"/>
            <a:chOff x="0" y="0"/>
            <a:chExt cx="24384000" cy="10436860"/>
          </a:xfrm>
        </p:grpSpPr>
        <p:sp>
          <p:nvSpPr>
            <p:cNvPr id="3" name="Freeform 3"/>
            <p:cNvSpPr/>
            <p:nvPr/>
          </p:nvSpPr>
          <p:spPr>
            <a:xfrm>
              <a:off x="0" y="0"/>
              <a:ext cx="24384000" cy="10436860"/>
            </a:xfrm>
            <a:custGeom>
              <a:avLst/>
              <a:gdLst/>
              <a:ahLst/>
              <a:cxnLst/>
              <a:rect l="l" t="t" r="r" b="b"/>
              <a:pathLst>
                <a:path w="24384000" h="10436860">
                  <a:moveTo>
                    <a:pt x="0" y="0"/>
                  </a:moveTo>
                  <a:lnTo>
                    <a:pt x="24384000" y="0"/>
                  </a:lnTo>
                  <a:lnTo>
                    <a:pt x="24384000" y="10436860"/>
                  </a:lnTo>
                  <a:lnTo>
                    <a:pt x="0" y="10436860"/>
                  </a:lnTo>
                  <a:close/>
                </a:path>
              </a:pathLst>
            </a:custGeom>
            <a:solidFill>
              <a:srgbClr val="F5F8F7"/>
            </a:solidFill>
          </p:spPr>
          <p:txBody>
            <a:bodyPr/>
            <a:lstStyle/>
            <a:p>
              <a:endParaRPr lang="en-US"/>
            </a:p>
          </p:txBody>
        </p:sp>
      </p:grpSp>
      <p:grpSp>
        <p:nvGrpSpPr>
          <p:cNvPr id="4" name="Group 4"/>
          <p:cNvGrpSpPr/>
          <p:nvPr/>
        </p:nvGrpSpPr>
        <p:grpSpPr>
          <a:xfrm>
            <a:off x="0" y="508820"/>
            <a:ext cx="18288000" cy="811161"/>
            <a:chOff x="0" y="0"/>
            <a:chExt cx="4816593" cy="213639"/>
          </a:xfrm>
        </p:grpSpPr>
        <p:sp>
          <p:nvSpPr>
            <p:cNvPr id="5" name="Freeform 5"/>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6" name="TextBox 6"/>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7" name="Group 7"/>
          <p:cNvGrpSpPr/>
          <p:nvPr/>
        </p:nvGrpSpPr>
        <p:grpSpPr>
          <a:xfrm>
            <a:off x="952500" y="1333500"/>
            <a:ext cx="16383000" cy="9525"/>
            <a:chOff x="0" y="0"/>
            <a:chExt cx="21844000" cy="12700"/>
          </a:xfrm>
        </p:grpSpPr>
        <p:sp>
          <p:nvSpPr>
            <p:cNvPr id="8" name="Freeform 8"/>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1961"/>
              </a:srgbClr>
            </a:solidFill>
          </p:spPr>
          <p:txBody>
            <a:bodyPr/>
            <a:lstStyle/>
            <a:p>
              <a:endParaRPr lang="en-US"/>
            </a:p>
          </p:txBody>
        </p:sp>
      </p:grpSp>
      <p:sp>
        <p:nvSpPr>
          <p:cNvPr id="9" name="TextBox 9"/>
          <p:cNvSpPr txBox="1"/>
          <p:nvPr/>
        </p:nvSpPr>
        <p:spPr>
          <a:xfrm>
            <a:off x="977903" y="4866637"/>
            <a:ext cx="14665328" cy="6407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A copilot — not an autopilot.</a:t>
            </a:r>
          </a:p>
        </p:txBody>
      </p:sp>
      <p:grpSp>
        <p:nvGrpSpPr>
          <p:cNvPr id="10" name="Group 10"/>
          <p:cNvGrpSpPr/>
          <p:nvPr/>
        </p:nvGrpSpPr>
        <p:grpSpPr>
          <a:xfrm>
            <a:off x="952500" y="5219062"/>
            <a:ext cx="3867150" cy="9525"/>
            <a:chOff x="0" y="0"/>
            <a:chExt cx="5156200" cy="12700"/>
          </a:xfrm>
        </p:grpSpPr>
        <p:sp>
          <p:nvSpPr>
            <p:cNvPr id="11" name="Freeform 11"/>
            <p:cNvSpPr/>
            <p:nvPr/>
          </p:nvSpPr>
          <p:spPr>
            <a:xfrm>
              <a:off x="0" y="0"/>
              <a:ext cx="5156200" cy="12700"/>
            </a:xfrm>
            <a:custGeom>
              <a:avLst/>
              <a:gdLst/>
              <a:ahLst/>
              <a:cxnLst/>
              <a:rect l="l" t="t" r="r" b="b"/>
              <a:pathLst>
                <a:path w="5156200" h="12700">
                  <a:moveTo>
                    <a:pt x="0" y="0"/>
                  </a:moveTo>
                  <a:lnTo>
                    <a:pt x="5156200" y="0"/>
                  </a:lnTo>
                  <a:lnTo>
                    <a:pt x="5156200" y="12700"/>
                  </a:lnTo>
                  <a:lnTo>
                    <a:pt x="0" y="12700"/>
                  </a:lnTo>
                  <a:close/>
                </a:path>
              </a:pathLst>
            </a:custGeom>
            <a:solidFill>
              <a:srgbClr val="F5F8F7">
                <a:alpha val="3137"/>
              </a:srgbClr>
            </a:solidFill>
          </p:spPr>
          <p:txBody>
            <a:bodyPr/>
            <a:lstStyle/>
            <a:p>
              <a:endParaRPr lang="en-US"/>
            </a:p>
          </p:txBody>
        </p:sp>
      </p:grpSp>
      <p:grpSp>
        <p:nvGrpSpPr>
          <p:cNvPr id="12" name="Group 12"/>
          <p:cNvGrpSpPr/>
          <p:nvPr/>
        </p:nvGrpSpPr>
        <p:grpSpPr>
          <a:xfrm>
            <a:off x="5124450" y="5219062"/>
            <a:ext cx="3867150" cy="9525"/>
            <a:chOff x="0" y="0"/>
            <a:chExt cx="5156200" cy="12700"/>
          </a:xfrm>
        </p:grpSpPr>
        <p:sp>
          <p:nvSpPr>
            <p:cNvPr id="13" name="Freeform 13"/>
            <p:cNvSpPr/>
            <p:nvPr/>
          </p:nvSpPr>
          <p:spPr>
            <a:xfrm>
              <a:off x="0" y="0"/>
              <a:ext cx="5156200" cy="12700"/>
            </a:xfrm>
            <a:custGeom>
              <a:avLst/>
              <a:gdLst/>
              <a:ahLst/>
              <a:cxnLst/>
              <a:rect l="l" t="t" r="r" b="b"/>
              <a:pathLst>
                <a:path w="5156200" h="12700">
                  <a:moveTo>
                    <a:pt x="0" y="0"/>
                  </a:moveTo>
                  <a:lnTo>
                    <a:pt x="5156200" y="0"/>
                  </a:lnTo>
                  <a:lnTo>
                    <a:pt x="5156200" y="12700"/>
                  </a:lnTo>
                  <a:lnTo>
                    <a:pt x="0" y="12700"/>
                  </a:lnTo>
                  <a:close/>
                </a:path>
              </a:pathLst>
            </a:custGeom>
            <a:solidFill>
              <a:srgbClr val="F5F8F7">
                <a:alpha val="3137"/>
              </a:srgbClr>
            </a:solidFill>
          </p:spPr>
          <p:txBody>
            <a:bodyPr/>
            <a:lstStyle/>
            <a:p>
              <a:endParaRPr lang="en-US"/>
            </a:p>
          </p:txBody>
        </p:sp>
      </p:grpSp>
      <p:grpSp>
        <p:nvGrpSpPr>
          <p:cNvPr id="14" name="Group 14"/>
          <p:cNvGrpSpPr/>
          <p:nvPr/>
        </p:nvGrpSpPr>
        <p:grpSpPr>
          <a:xfrm>
            <a:off x="9296400" y="5219062"/>
            <a:ext cx="3867150" cy="9525"/>
            <a:chOff x="0" y="0"/>
            <a:chExt cx="5156200" cy="12700"/>
          </a:xfrm>
        </p:grpSpPr>
        <p:sp>
          <p:nvSpPr>
            <p:cNvPr id="15" name="Freeform 15"/>
            <p:cNvSpPr/>
            <p:nvPr/>
          </p:nvSpPr>
          <p:spPr>
            <a:xfrm>
              <a:off x="0" y="0"/>
              <a:ext cx="5156200" cy="12700"/>
            </a:xfrm>
            <a:custGeom>
              <a:avLst/>
              <a:gdLst/>
              <a:ahLst/>
              <a:cxnLst/>
              <a:rect l="l" t="t" r="r" b="b"/>
              <a:pathLst>
                <a:path w="5156200" h="12700">
                  <a:moveTo>
                    <a:pt x="0" y="0"/>
                  </a:moveTo>
                  <a:lnTo>
                    <a:pt x="5156200" y="0"/>
                  </a:lnTo>
                  <a:lnTo>
                    <a:pt x="5156200" y="12700"/>
                  </a:lnTo>
                  <a:lnTo>
                    <a:pt x="0" y="12700"/>
                  </a:lnTo>
                  <a:close/>
                </a:path>
              </a:pathLst>
            </a:custGeom>
            <a:solidFill>
              <a:srgbClr val="F5F8F7">
                <a:alpha val="3137"/>
              </a:srgbClr>
            </a:solidFill>
          </p:spPr>
          <p:txBody>
            <a:bodyPr/>
            <a:lstStyle/>
            <a:p>
              <a:endParaRPr lang="en-US"/>
            </a:p>
          </p:txBody>
        </p:sp>
      </p:grpSp>
      <p:grpSp>
        <p:nvGrpSpPr>
          <p:cNvPr id="16" name="Group 16"/>
          <p:cNvGrpSpPr/>
          <p:nvPr/>
        </p:nvGrpSpPr>
        <p:grpSpPr>
          <a:xfrm>
            <a:off x="13468350" y="5219062"/>
            <a:ext cx="3867150" cy="9525"/>
            <a:chOff x="0" y="0"/>
            <a:chExt cx="5156200" cy="12700"/>
          </a:xfrm>
        </p:grpSpPr>
        <p:sp>
          <p:nvSpPr>
            <p:cNvPr id="17" name="Freeform 17"/>
            <p:cNvSpPr/>
            <p:nvPr/>
          </p:nvSpPr>
          <p:spPr>
            <a:xfrm>
              <a:off x="0" y="0"/>
              <a:ext cx="5156200" cy="12700"/>
            </a:xfrm>
            <a:custGeom>
              <a:avLst/>
              <a:gdLst/>
              <a:ahLst/>
              <a:cxnLst/>
              <a:rect l="l" t="t" r="r" b="b"/>
              <a:pathLst>
                <a:path w="5156200" h="12700">
                  <a:moveTo>
                    <a:pt x="0" y="0"/>
                  </a:moveTo>
                  <a:lnTo>
                    <a:pt x="5156200" y="0"/>
                  </a:lnTo>
                  <a:lnTo>
                    <a:pt x="5156200" y="12700"/>
                  </a:lnTo>
                  <a:lnTo>
                    <a:pt x="0" y="12700"/>
                  </a:lnTo>
                  <a:close/>
                </a:path>
              </a:pathLst>
            </a:custGeom>
            <a:solidFill>
              <a:srgbClr val="F5F8F7">
                <a:alpha val="3137"/>
              </a:srgbClr>
            </a:solidFill>
          </p:spPr>
          <p:txBody>
            <a:bodyPr/>
            <a:lstStyle/>
            <a:p>
              <a:endParaRPr lang="en-US"/>
            </a:p>
          </p:txBody>
        </p:sp>
      </p:grpSp>
      <p:grpSp>
        <p:nvGrpSpPr>
          <p:cNvPr id="18" name="Group 18"/>
          <p:cNvGrpSpPr/>
          <p:nvPr/>
        </p:nvGrpSpPr>
        <p:grpSpPr>
          <a:xfrm>
            <a:off x="952500" y="9161145"/>
            <a:ext cx="16383000" cy="9525"/>
            <a:chOff x="0" y="0"/>
            <a:chExt cx="21844000" cy="12700"/>
          </a:xfrm>
        </p:grpSpPr>
        <p:sp>
          <p:nvSpPr>
            <p:cNvPr id="19" name="Freeform 19"/>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1176"/>
              </a:srgbClr>
            </a:solidFill>
          </p:spPr>
          <p:txBody>
            <a:bodyPr/>
            <a:lstStyle/>
            <a:p>
              <a:endParaRPr lang="en-US"/>
            </a:p>
          </p:txBody>
        </p:sp>
      </p:grpSp>
      <p:grpSp>
        <p:nvGrpSpPr>
          <p:cNvPr id="20" name="Group 20"/>
          <p:cNvGrpSpPr/>
          <p:nvPr/>
        </p:nvGrpSpPr>
        <p:grpSpPr>
          <a:xfrm>
            <a:off x="-68128" y="9319098"/>
            <a:ext cx="18300697" cy="416881"/>
            <a:chOff x="0" y="0"/>
            <a:chExt cx="24400929" cy="555841"/>
          </a:xfrm>
        </p:grpSpPr>
        <p:sp>
          <p:nvSpPr>
            <p:cNvPr id="21" name="Freeform 21"/>
            <p:cNvSpPr/>
            <p:nvPr/>
          </p:nvSpPr>
          <p:spPr>
            <a:xfrm>
              <a:off x="8509" y="8509"/>
              <a:ext cx="24384001" cy="538861"/>
            </a:xfrm>
            <a:custGeom>
              <a:avLst/>
              <a:gdLst/>
              <a:ahLst/>
              <a:cxnLst/>
              <a:rect l="l" t="t" r="r" b="b"/>
              <a:pathLst>
                <a:path w="24384001" h="538861">
                  <a:moveTo>
                    <a:pt x="0" y="0"/>
                  </a:moveTo>
                  <a:lnTo>
                    <a:pt x="24384001" y="0"/>
                  </a:lnTo>
                  <a:lnTo>
                    <a:pt x="24384001" y="538861"/>
                  </a:lnTo>
                  <a:lnTo>
                    <a:pt x="0" y="538861"/>
                  </a:lnTo>
                  <a:close/>
                </a:path>
              </a:pathLst>
            </a:custGeom>
            <a:solidFill>
              <a:srgbClr val="EA580C">
                <a:alpha val="56863"/>
              </a:srgbClr>
            </a:solidFill>
          </p:spPr>
          <p:txBody>
            <a:bodyPr/>
            <a:lstStyle/>
            <a:p>
              <a:endParaRPr lang="en-US"/>
            </a:p>
          </p:txBody>
        </p:sp>
        <p:sp>
          <p:nvSpPr>
            <p:cNvPr id="22" name="Freeform 22"/>
            <p:cNvSpPr/>
            <p:nvPr/>
          </p:nvSpPr>
          <p:spPr>
            <a:xfrm>
              <a:off x="0" y="0"/>
              <a:ext cx="24401018" cy="555879"/>
            </a:xfrm>
            <a:custGeom>
              <a:avLst/>
              <a:gdLst/>
              <a:ahLst/>
              <a:cxnLst/>
              <a:rect l="l" t="t" r="r" b="b"/>
              <a:pathLst>
                <a:path w="24401018" h="555879">
                  <a:moveTo>
                    <a:pt x="8509" y="0"/>
                  </a:moveTo>
                  <a:lnTo>
                    <a:pt x="24392510" y="0"/>
                  </a:lnTo>
                  <a:cubicBezTo>
                    <a:pt x="24397208" y="0"/>
                    <a:pt x="24401018" y="3810"/>
                    <a:pt x="24401018" y="8509"/>
                  </a:cubicBezTo>
                  <a:lnTo>
                    <a:pt x="24401018" y="547370"/>
                  </a:lnTo>
                  <a:cubicBezTo>
                    <a:pt x="24401018" y="552069"/>
                    <a:pt x="24397208" y="555879"/>
                    <a:pt x="24392510" y="555879"/>
                  </a:cubicBezTo>
                  <a:lnTo>
                    <a:pt x="8509" y="555879"/>
                  </a:lnTo>
                  <a:cubicBezTo>
                    <a:pt x="3810" y="555879"/>
                    <a:pt x="0" y="552069"/>
                    <a:pt x="0" y="547370"/>
                  </a:cubicBezTo>
                  <a:lnTo>
                    <a:pt x="0" y="8509"/>
                  </a:lnTo>
                  <a:cubicBezTo>
                    <a:pt x="0" y="3810"/>
                    <a:pt x="3810" y="0"/>
                    <a:pt x="8509" y="0"/>
                  </a:cubicBezTo>
                  <a:moveTo>
                    <a:pt x="8509" y="16891"/>
                  </a:moveTo>
                  <a:lnTo>
                    <a:pt x="8509" y="8509"/>
                  </a:lnTo>
                  <a:lnTo>
                    <a:pt x="17018" y="8509"/>
                  </a:lnTo>
                  <a:lnTo>
                    <a:pt x="17018" y="547370"/>
                  </a:lnTo>
                  <a:lnTo>
                    <a:pt x="8509" y="547370"/>
                  </a:lnTo>
                  <a:lnTo>
                    <a:pt x="8509" y="538861"/>
                  </a:lnTo>
                  <a:lnTo>
                    <a:pt x="24392510" y="538861"/>
                  </a:lnTo>
                  <a:lnTo>
                    <a:pt x="24392510" y="547370"/>
                  </a:lnTo>
                  <a:lnTo>
                    <a:pt x="24384000" y="547370"/>
                  </a:lnTo>
                  <a:lnTo>
                    <a:pt x="24384000" y="8509"/>
                  </a:lnTo>
                  <a:lnTo>
                    <a:pt x="24392510" y="8509"/>
                  </a:lnTo>
                  <a:lnTo>
                    <a:pt x="24392510" y="17018"/>
                  </a:lnTo>
                  <a:lnTo>
                    <a:pt x="8509" y="17018"/>
                  </a:lnTo>
                  <a:close/>
                </a:path>
              </a:pathLst>
            </a:custGeom>
            <a:solidFill>
              <a:srgbClr val="ED7D31">
                <a:alpha val="56863"/>
              </a:srgbClr>
            </a:solidFill>
          </p:spPr>
          <p:txBody>
            <a:bodyPr/>
            <a:lstStyle/>
            <a:p>
              <a:endParaRPr lang="en-US"/>
            </a:p>
          </p:txBody>
        </p:sp>
      </p:grpSp>
      <p:grpSp>
        <p:nvGrpSpPr>
          <p:cNvPr id="23" name="Group 23"/>
          <p:cNvGrpSpPr/>
          <p:nvPr/>
        </p:nvGrpSpPr>
        <p:grpSpPr>
          <a:xfrm>
            <a:off x="787403" y="617597"/>
            <a:ext cx="2111216" cy="631706"/>
            <a:chOff x="0" y="0"/>
            <a:chExt cx="2814955" cy="842275"/>
          </a:xfrm>
        </p:grpSpPr>
        <p:sp>
          <p:nvSpPr>
            <p:cNvPr id="24" name="Freeform 24"/>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25" name="TextBox 25"/>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26" name="Group 26"/>
          <p:cNvGrpSpPr/>
          <p:nvPr/>
        </p:nvGrpSpPr>
        <p:grpSpPr>
          <a:xfrm>
            <a:off x="0" y="0"/>
            <a:ext cx="18288000" cy="550922"/>
            <a:chOff x="0" y="0"/>
            <a:chExt cx="24384000" cy="734563"/>
          </a:xfrm>
        </p:grpSpPr>
        <p:grpSp>
          <p:nvGrpSpPr>
            <p:cNvPr id="27" name="Group 27"/>
            <p:cNvGrpSpPr/>
            <p:nvPr/>
          </p:nvGrpSpPr>
          <p:grpSpPr>
            <a:xfrm>
              <a:off x="0" y="0"/>
              <a:ext cx="24384000" cy="734563"/>
              <a:chOff x="0" y="0"/>
              <a:chExt cx="4816593" cy="145099"/>
            </a:xfrm>
          </p:grpSpPr>
          <p:sp>
            <p:nvSpPr>
              <p:cNvPr id="28" name="Freeform 28"/>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29" name="TextBox 29"/>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30" name="Freeform 30"/>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31" name="Freeform 31"/>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32" name="Freeform 32"/>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grpSp>
        <p:nvGrpSpPr>
          <p:cNvPr id="33" name="Group 33"/>
          <p:cNvGrpSpPr/>
          <p:nvPr/>
        </p:nvGrpSpPr>
        <p:grpSpPr>
          <a:xfrm>
            <a:off x="1028700" y="2433323"/>
            <a:ext cx="1981514" cy="1981514"/>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570B">
                <a:alpha val="54902"/>
              </a:srgbClr>
            </a:solidFill>
          </p:spPr>
          <p:txBody>
            <a:bodyPr/>
            <a:lstStyle/>
            <a:p>
              <a:endParaRPr lang="en-US"/>
            </a:p>
          </p:txBody>
        </p:sp>
        <p:sp>
          <p:nvSpPr>
            <p:cNvPr id="35" name="TextBox 35"/>
            <p:cNvSpPr txBox="1"/>
            <p:nvPr/>
          </p:nvSpPr>
          <p:spPr>
            <a:xfrm>
              <a:off x="76200" y="19050"/>
              <a:ext cx="660400" cy="717550"/>
            </a:xfrm>
            <a:prstGeom prst="rect">
              <a:avLst/>
            </a:prstGeom>
          </p:spPr>
          <p:txBody>
            <a:bodyPr lIns="50800" tIns="50800" rIns="50800" bIns="50800" rtlCol="0" anchor="ctr"/>
            <a:lstStyle/>
            <a:p>
              <a:pPr algn="ctr">
                <a:lnSpc>
                  <a:spcPts val="2510"/>
                </a:lnSpc>
              </a:pPr>
              <a:r>
                <a:rPr lang="en-US" sz="1803" i="1">
                  <a:solidFill>
                    <a:srgbClr val="FFFFFF">
                      <a:alpha val="54902"/>
                    </a:srgbClr>
                  </a:solidFill>
                  <a:latin typeface="Arial Italics"/>
                  <a:ea typeface="Arial Italics"/>
                  <a:cs typeface="Arial Italics"/>
                  <a:sym typeface="Arial Italics"/>
                </a:rPr>
                <a:t>[Complaint Input]</a:t>
              </a:r>
            </a:p>
          </p:txBody>
        </p:sp>
      </p:grpSp>
      <p:sp>
        <p:nvSpPr>
          <p:cNvPr id="36" name="TextBox 36"/>
          <p:cNvSpPr txBox="1"/>
          <p:nvPr/>
        </p:nvSpPr>
        <p:spPr>
          <a:xfrm>
            <a:off x="15311123" y="802005"/>
            <a:ext cx="2075183" cy="24384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04 / 12 · SOLUTION</a:t>
            </a:r>
          </a:p>
        </p:txBody>
      </p:sp>
      <p:sp>
        <p:nvSpPr>
          <p:cNvPr id="37" name="TextBox 37"/>
          <p:cNvSpPr txBox="1"/>
          <p:nvPr/>
        </p:nvSpPr>
        <p:spPr>
          <a:xfrm>
            <a:off x="977903" y="1730378"/>
            <a:ext cx="1231463" cy="274320"/>
          </a:xfrm>
          <a:prstGeom prst="rect">
            <a:avLst/>
          </a:prstGeom>
        </p:spPr>
        <p:txBody>
          <a:bodyPr lIns="0" tIns="0" rIns="0" bIns="0" rtlCol="0" anchor="t">
            <a:spAutoFit/>
          </a:bodyPr>
          <a:lstStyle/>
          <a:p>
            <a:pPr algn="l">
              <a:lnSpc>
                <a:spcPts val="1980"/>
              </a:lnSpc>
            </a:pPr>
            <a:r>
              <a:rPr lang="en-US" sz="1650" b="1" spc="132">
                <a:solidFill>
                  <a:srgbClr val="0B615B"/>
                </a:solidFill>
                <a:latin typeface="Arial Bold"/>
                <a:ea typeface="Arial Bold"/>
                <a:cs typeface="Arial Bold"/>
                <a:sym typeface="Arial Bold"/>
              </a:rPr>
              <a:t>SOLUTION</a:t>
            </a:r>
          </a:p>
        </p:txBody>
      </p:sp>
      <p:sp>
        <p:nvSpPr>
          <p:cNvPr id="38" name="TextBox 38"/>
          <p:cNvSpPr txBox="1"/>
          <p:nvPr/>
        </p:nvSpPr>
        <p:spPr>
          <a:xfrm>
            <a:off x="987428" y="5805802"/>
            <a:ext cx="14665328" cy="933450"/>
          </a:xfrm>
          <a:prstGeom prst="rect">
            <a:avLst/>
          </a:prstGeom>
        </p:spPr>
        <p:txBody>
          <a:bodyPr lIns="0" tIns="0" rIns="0" bIns="0" rtlCol="0" anchor="t">
            <a:spAutoFit/>
          </a:bodyPr>
          <a:lstStyle/>
          <a:p>
            <a:pPr algn="l">
              <a:lnSpc>
                <a:spcPts val="3663"/>
              </a:lnSpc>
            </a:pPr>
            <a:r>
              <a:rPr lang="en-US" sz="3052" spc="-33">
                <a:solidFill>
                  <a:srgbClr val="0B1F23"/>
                </a:solidFill>
                <a:latin typeface="Arial"/>
                <a:ea typeface="Arial"/>
                <a:cs typeface="Arial"/>
                <a:sym typeface="Arial"/>
              </a:rPr>
              <a:t>Paste a raw complaint → 6 agents process it in under 10 seconds → seller reviews and approves the bilingual reply.</a:t>
            </a:r>
          </a:p>
        </p:txBody>
      </p:sp>
      <p:sp>
        <p:nvSpPr>
          <p:cNvPr id="39" name="TextBox 39"/>
          <p:cNvSpPr txBox="1"/>
          <p:nvPr/>
        </p:nvSpPr>
        <p:spPr>
          <a:xfrm>
            <a:off x="952500" y="7367902"/>
            <a:ext cx="3932368"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DECISION</a:t>
            </a:r>
          </a:p>
        </p:txBody>
      </p:sp>
      <p:sp>
        <p:nvSpPr>
          <p:cNvPr id="40" name="TextBox 40"/>
          <p:cNvSpPr txBox="1"/>
          <p:nvPr/>
        </p:nvSpPr>
        <p:spPr>
          <a:xfrm>
            <a:off x="952500" y="7790183"/>
            <a:ext cx="3932368"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REFUND</a:t>
            </a:r>
          </a:p>
        </p:txBody>
      </p:sp>
      <p:sp>
        <p:nvSpPr>
          <p:cNvPr id="41" name="TextBox 41"/>
          <p:cNvSpPr txBox="1"/>
          <p:nvPr/>
        </p:nvSpPr>
        <p:spPr>
          <a:xfrm>
            <a:off x="952500" y="8246107"/>
            <a:ext cx="3932368" cy="762638"/>
          </a:xfrm>
          <a:prstGeom prst="rect">
            <a:avLst/>
          </a:prstGeom>
        </p:spPr>
        <p:txBody>
          <a:bodyPr lIns="0" tIns="0" rIns="0" bIns="0" rtlCol="0" anchor="t">
            <a:spAutoFit/>
          </a:bodyPr>
          <a:lstStyle/>
          <a:p>
            <a:pPr algn="l">
              <a:lnSpc>
                <a:spcPts val="2510"/>
              </a:lnSpc>
            </a:pPr>
            <a:r>
              <a:rPr lang="en-US" sz="1803">
                <a:solidFill>
                  <a:srgbClr val="0B1F23"/>
                </a:solidFill>
                <a:latin typeface="Arial"/>
                <a:ea typeface="Arial"/>
                <a:cs typeface="Arial"/>
                <a:sym typeface="Arial"/>
              </a:rPr>
              <a:t>Damaged or missing item, policy permits.</a:t>
            </a:r>
          </a:p>
        </p:txBody>
      </p:sp>
      <p:sp>
        <p:nvSpPr>
          <p:cNvPr id="42" name="TextBox 42"/>
          <p:cNvSpPr txBox="1"/>
          <p:nvPr/>
        </p:nvSpPr>
        <p:spPr>
          <a:xfrm>
            <a:off x="5124450" y="7367902"/>
            <a:ext cx="3932368"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DECISION</a:t>
            </a:r>
          </a:p>
        </p:txBody>
      </p:sp>
      <p:sp>
        <p:nvSpPr>
          <p:cNvPr id="43" name="TextBox 43"/>
          <p:cNvSpPr txBox="1"/>
          <p:nvPr/>
        </p:nvSpPr>
        <p:spPr>
          <a:xfrm>
            <a:off x="5124450" y="7790183"/>
            <a:ext cx="3932368"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RESHIP</a:t>
            </a:r>
          </a:p>
        </p:txBody>
      </p:sp>
      <p:sp>
        <p:nvSpPr>
          <p:cNvPr id="44" name="TextBox 44"/>
          <p:cNvSpPr txBox="1"/>
          <p:nvPr/>
        </p:nvSpPr>
        <p:spPr>
          <a:xfrm>
            <a:off x="5124450" y="8217532"/>
            <a:ext cx="3932368" cy="432121"/>
          </a:xfrm>
          <a:prstGeom prst="rect">
            <a:avLst/>
          </a:prstGeom>
        </p:spPr>
        <p:txBody>
          <a:bodyPr lIns="0" tIns="0" rIns="0" bIns="0" rtlCol="0" anchor="t">
            <a:spAutoFit/>
          </a:bodyPr>
          <a:lstStyle/>
          <a:p>
            <a:pPr algn="l">
              <a:lnSpc>
                <a:spcPts val="2824"/>
              </a:lnSpc>
            </a:pPr>
            <a:r>
              <a:rPr lang="en-US" sz="1803">
                <a:solidFill>
                  <a:srgbClr val="0B1F23"/>
                </a:solidFill>
                <a:latin typeface="Arial"/>
                <a:ea typeface="Arial"/>
                <a:cs typeface="Arial"/>
                <a:sym typeface="Arial"/>
              </a:rPr>
              <a:t>Lost in transit, stock available.</a:t>
            </a:r>
          </a:p>
        </p:txBody>
      </p:sp>
      <p:sp>
        <p:nvSpPr>
          <p:cNvPr id="45" name="TextBox 45"/>
          <p:cNvSpPr txBox="1"/>
          <p:nvPr/>
        </p:nvSpPr>
        <p:spPr>
          <a:xfrm>
            <a:off x="9296400" y="7367902"/>
            <a:ext cx="3932368"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DECISION</a:t>
            </a:r>
          </a:p>
        </p:txBody>
      </p:sp>
      <p:sp>
        <p:nvSpPr>
          <p:cNvPr id="46" name="TextBox 46"/>
          <p:cNvSpPr txBox="1"/>
          <p:nvPr/>
        </p:nvSpPr>
        <p:spPr>
          <a:xfrm>
            <a:off x="9296400" y="7790183"/>
            <a:ext cx="1266468" cy="371475"/>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CLARIFY</a:t>
            </a:r>
          </a:p>
        </p:txBody>
      </p:sp>
      <p:sp>
        <p:nvSpPr>
          <p:cNvPr id="47" name="TextBox 47"/>
          <p:cNvSpPr txBox="1"/>
          <p:nvPr/>
        </p:nvSpPr>
        <p:spPr>
          <a:xfrm>
            <a:off x="9296400" y="8188957"/>
            <a:ext cx="3932368" cy="819788"/>
          </a:xfrm>
          <a:prstGeom prst="rect">
            <a:avLst/>
          </a:prstGeom>
        </p:spPr>
        <p:txBody>
          <a:bodyPr lIns="0" tIns="0" rIns="0" bIns="0" rtlCol="0" anchor="t">
            <a:spAutoFit/>
          </a:bodyPr>
          <a:lstStyle/>
          <a:p>
            <a:pPr algn="l">
              <a:lnSpc>
                <a:spcPts val="3138"/>
              </a:lnSpc>
            </a:pPr>
            <a:r>
              <a:rPr lang="en-US" sz="1803">
                <a:solidFill>
                  <a:srgbClr val="0B1F23"/>
                </a:solidFill>
                <a:latin typeface="Arial"/>
                <a:ea typeface="Arial"/>
                <a:cs typeface="Arial"/>
                <a:sym typeface="Arial"/>
              </a:rPr>
              <a:t>High-value, ambiguous, or fraud risk.</a:t>
            </a:r>
          </a:p>
        </p:txBody>
      </p:sp>
      <p:sp>
        <p:nvSpPr>
          <p:cNvPr id="48" name="TextBox 48"/>
          <p:cNvSpPr txBox="1"/>
          <p:nvPr/>
        </p:nvSpPr>
        <p:spPr>
          <a:xfrm>
            <a:off x="13468350" y="7367902"/>
            <a:ext cx="3932368"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DECISION</a:t>
            </a:r>
          </a:p>
        </p:txBody>
      </p:sp>
      <p:sp>
        <p:nvSpPr>
          <p:cNvPr id="49" name="TextBox 49"/>
          <p:cNvSpPr txBox="1"/>
          <p:nvPr/>
        </p:nvSpPr>
        <p:spPr>
          <a:xfrm>
            <a:off x="13468350" y="7790183"/>
            <a:ext cx="3932368"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DISMISS</a:t>
            </a:r>
          </a:p>
        </p:txBody>
      </p:sp>
      <p:sp>
        <p:nvSpPr>
          <p:cNvPr id="50" name="TextBox 50"/>
          <p:cNvSpPr txBox="1"/>
          <p:nvPr/>
        </p:nvSpPr>
        <p:spPr>
          <a:xfrm>
            <a:off x="13468350" y="8246107"/>
            <a:ext cx="3932368" cy="762638"/>
          </a:xfrm>
          <a:prstGeom prst="rect">
            <a:avLst/>
          </a:prstGeom>
        </p:spPr>
        <p:txBody>
          <a:bodyPr lIns="0" tIns="0" rIns="0" bIns="0" rtlCol="0" anchor="t">
            <a:spAutoFit/>
          </a:bodyPr>
          <a:lstStyle/>
          <a:p>
            <a:pPr algn="l">
              <a:lnSpc>
                <a:spcPts val="2510"/>
              </a:lnSpc>
            </a:pPr>
            <a:r>
              <a:rPr lang="en-US" sz="1803">
                <a:solidFill>
                  <a:srgbClr val="0B1F23"/>
                </a:solidFill>
                <a:latin typeface="Arial"/>
                <a:ea typeface="Arial"/>
                <a:cs typeface="Arial"/>
                <a:sym typeface="Arial"/>
              </a:rPr>
              <a:t>Out of policy, with a respectful explanation.</a:t>
            </a:r>
          </a:p>
        </p:txBody>
      </p:sp>
      <p:sp>
        <p:nvSpPr>
          <p:cNvPr id="51" name="TextBox 51"/>
          <p:cNvSpPr txBox="1"/>
          <p:nvPr/>
        </p:nvSpPr>
        <p:spPr>
          <a:xfrm>
            <a:off x="952500" y="9403080"/>
            <a:ext cx="16823693" cy="229867"/>
          </a:xfrm>
          <a:prstGeom prst="rect">
            <a:avLst/>
          </a:prstGeom>
        </p:spPr>
        <p:txBody>
          <a:bodyPr lIns="0" tIns="0" rIns="0" bIns="0" rtlCol="0" anchor="t">
            <a:spAutoFit/>
          </a:bodyPr>
          <a:lstStyle/>
          <a:p>
            <a:pPr algn="l">
              <a:lnSpc>
                <a:spcPts val="1800"/>
              </a:lnSpc>
            </a:pPr>
            <a:r>
              <a:rPr lang="en-US" sz="1500">
                <a:solidFill>
                  <a:srgbClr val="FFFFFF"/>
                </a:solidFill>
                <a:latin typeface="Arial"/>
                <a:ea typeface="Arial"/>
                <a:cs typeface="Arial"/>
                <a:sym typeface="Arial"/>
              </a:rPr>
              <a:t>EVERY OUTPUT IS BILINGUAL · POLICY-BOUNDED · SUPERVISOR-VALIDATED · HUMAN-APPROVED</a:t>
            </a:r>
          </a:p>
        </p:txBody>
      </p:sp>
      <p:grpSp>
        <p:nvGrpSpPr>
          <p:cNvPr id="52" name="Group 52"/>
          <p:cNvGrpSpPr/>
          <p:nvPr/>
        </p:nvGrpSpPr>
        <p:grpSpPr>
          <a:xfrm>
            <a:off x="5773970" y="2433323"/>
            <a:ext cx="1981514" cy="1981514"/>
            <a:chOff x="0" y="0"/>
            <a:chExt cx="812800" cy="812800"/>
          </a:xfrm>
        </p:grpSpPr>
        <p:sp>
          <p:nvSpPr>
            <p:cNvPr id="53" name="Freeform 5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570B">
                <a:alpha val="54902"/>
              </a:srgbClr>
            </a:solidFill>
          </p:spPr>
          <p:txBody>
            <a:bodyPr/>
            <a:lstStyle/>
            <a:p>
              <a:endParaRPr lang="en-US"/>
            </a:p>
          </p:txBody>
        </p:sp>
        <p:sp>
          <p:nvSpPr>
            <p:cNvPr id="54" name="TextBox 54"/>
            <p:cNvSpPr txBox="1"/>
            <p:nvPr/>
          </p:nvSpPr>
          <p:spPr>
            <a:xfrm>
              <a:off x="76200" y="19050"/>
              <a:ext cx="660400" cy="717550"/>
            </a:xfrm>
            <a:prstGeom prst="rect">
              <a:avLst/>
            </a:prstGeom>
          </p:spPr>
          <p:txBody>
            <a:bodyPr lIns="50800" tIns="50800" rIns="50800" bIns="50800" rtlCol="0" anchor="ctr"/>
            <a:lstStyle/>
            <a:p>
              <a:pPr algn="ctr">
                <a:lnSpc>
                  <a:spcPts val="2510"/>
                </a:lnSpc>
              </a:pPr>
              <a:r>
                <a:rPr lang="en-US" sz="1803" i="1">
                  <a:solidFill>
                    <a:srgbClr val="FFFFFF">
                      <a:alpha val="54902"/>
                    </a:srgbClr>
                  </a:solidFill>
                  <a:latin typeface="Arial Italics"/>
                  <a:ea typeface="Arial Italics"/>
                  <a:cs typeface="Arial Italics"/>
                  <a:sym typeface="Arial Italics"/>
                </a:rPr>
                <a:t>[6-Agent Pipeline]</a:t>
              </a:r>
            </a:p>
          </p:txBody>
        </p:sp>
      </p:grpSp>
      <p:grpSp>
        <p:nvGrpSpPr>
          <p:cNvPr id="55" name="Group 55"/>
          <p:cNvGrpSpPr/>
          <p:nvPr/>
        </p:nvGrpSpPr>
        <p:grpSpPr>
          <a:xfrm>
            <a:off x="10527260" y="2433323"/>
            <a:ext cx="1981514" cy="1981514"/>
            <a:chOff x="0" y="0"/>
            <a:chExt cx="812800" cy="812800"/>
          </a:xfrm>
        </p:grpSpPr>
        <p:sp>
          <p:nvSpPr>
            <p:cNvPr id="56" name="Freeform 5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570B">
                <a:alpha val="54902"/>
              </a:srgbClr>
            </a:solidFill>
          </p:spPr>
          <p:txBody>
            <a:bodyPr/>
            <a:lstStyle/>
            <a:p>
              <a:endParaRPr lang="en-US"/>
            </a:p>
          </p:txBody>
        </p:sp>
        <p:sp>
          <p:nvSpPr>
            <p:cNvPr id="57" name="TextBox 57"/>
            <p:cNvSpPr txBox="1"/>
            <p:nvPr/>
          </p:nvSpPr>
          <p:spPr>
            <a:xfrm>
              <a:off x="76200" y="19050"/>
              <a:ext cx="660400" cy="717550"/>
            </a:xfrm>
            <a:prstGeom prst="rect">
              <a:avLst/>
            </a:prstGeom>
          </p:spPr>
          <p:txBody>
            <a:bodyPr lIns="50800" tIns="50800" rIns="50800" bIns="50800" rtlCol="0" anchor="ctr"/>
            <a:lstStyle/>
            <a:p>
              <a:pPr algn="ctr">
                <a:lnSpc>
                  <a:spcPts val="2510"/>
                </a:lnSpc>
              </a:pPr>
              <a:r>
                <a:rPr lang="en-US" sz="1803" i="1">
                  <a:solidFill>
                    <a:srgbClr val="FFFFFF">
                      <a:alpha val="54902"/>
                    </a:srgbClr>
                  </a:solidFill>
                  <a:latin typeface="Arial Italics"/>
                  <a:ea typeface="Arial Italics"/>
                  <a:cs typeface="Arial Italics"/>
                  <a:sym typeface="Arial Italics"/>
                </a:rPr>
                <a:t>[Human Review]</a:t>
              </a:r>
            </a:p>
          </p:txBody>
        </p:sp>
      </p:grpSp>
      <p:grpSp>
        <p:nvGrpSpPr>
          <p:cNvPr id="58" name="Group 58"/>
          <p:cNvGrpSpPr/>
          <p:nvPr/>
        </p:nvGrpSpPr>
        <p:grpSpPr>
          <a:xfrm>
            <a:off x="15277786" y="2433323"/>
            <a:ext cx="1981514" cy="1981514"/>
            <a:chOff x="0" y="0"/>
            <a:chExt cx="812800" cy="812800"/>
          </a:xfrm>
        </p:grpSpPr>
        <p:sp>
          <p:nvSpPr>
            <p:cNvPr id="59" name="Freeform 5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570B">
                <a:alpha val="54902"/>
              </a:srgbClr>
            </a:solidFill>
          </p:spPr>
          <p:txBody>
            <a:bodyPr/>
            <a:lstStyle/>
            <a:p>
              <a:endParaRPr lang="en-US"/>
            </a:p>
          </p:txBody>
        </p:sp>
        <p:sp>
          <p:nvSpPr>
            <p:cNvPr id="60" name="TextBox 60"/>
            <p:cNvSpPr txBox="1"/>
            <p:nvPr/>
          </p:nvSpPr>
          <p:spPr>
            <a:xfrm>
              <a:off x="76200" y="19050"/>
              <a:ext cx="660400" cy="717550"/>
            </a:xfrm>
            <a:prstGeom prst="rect">
              <a:avLst/>
            </a:prstGeom>
          </p:spPr>
          <p:txBody>
            <a:bodyPr lIns="50800" tIns="50800" rIns="50800" bIns="50800" rtlCol="0" anchor="ctr"/>
            <a:lstStyle/>
            <a:p>
              <a:pPr algn="ctr">
                <a:lnSpc>
                  <a:spcPts val="2510"/>
                </a:lnSpc>
              </a:pPr>
              <a:r>
                <a:rPr lang="en-US" sz="1803" i="1">
                  <a:solidFill>
                    <a:srgbClr val="FFFFFF">
                      <a:alpha val="54902"/>
                    </a:srgbClr>
                  </a:solidFill>
                  <a:latin typeface="Arial Italics"/>
                  <a:ea typeface="Arial Italics"/>
                  <a:cs typeface="Arial Italics"/>
                  <a:sym typeface="Arial Italics"/>
                </a:rPr>
                <a:t>[Approved Reply]</a:t>
              </a:r>
            </a:p>
          </p:txBody>
        </p:sp>
      </p:grpSp>
      <p:sp>
        <p:nvSpPr>
          <p:cNvPr id="61" name="AutoShape 61"/>
          <p:cNvSpPr/>
          <p:nvPr/>
        </p:nvSpPr>
        <p:spPr>
          <a:xfrm>
            <a:off x="3619859" y="3424080"/>
            <a:ext cx="1544467" cy="0"/>
          </a:xfrm>
          <a:prstGeom prst="line">
            <a:avLst/>
          </a:prstGeom>
          <a:ln w="38100" cap="flat">
            <a:solidFill>
              <a:srgbClr val="000000"/>
            </a:solidFill>
            <a:prstDash val="sysDot"/>
            <a:headEnd type="none" w="sm" len="sm"/>
            <a:tailEnd type="arrow" w="med" len="sm"/>
          </a:ln>
        </p:spPr>
        <p:txBody>
          <a:bodyPr/>
          <a:lstStyle/>
          <a:p>
            <a:endParaRPr lang="en-US"/>
          </a:p>
        </p:txBody>
      </p:sp>
      <p:sp>
        <p:nvSpPr>
          <p:cNvPr id="62" name="AutoShape 62"/>
          <p:cNvSpPr/>
          <p:nvPr/>
        </p:nvSpPr>
        <p:spPr>
          <a:xfrm>
            <a:off x="8369139" y="3405030"/>
            <a:ext cx="1544467" cy="0"/>
          </a:xfrm>
          <a:prstGeom prst="line">
            <a:avLst/>
          </a:prstGeom>
          <a:ln w="38100" cap="flat">
            <a:solidFill>
              <a:srgbClr val="000000"/>
            </a:solidFill>
            <a:prstDash val="sysDot"/>
            <a:headEnd type="none" w="sm" len="sm"/>
            <a:tailEnd type="arrow" w="med" len="sm"/>
          </a:ln>
        </p:spPr>
        <p:txBody>
          <a:bodyPr/>
          <a:lstStyle/>
          <a:p>
            <a:endParaRPr lang="en-US"/>
          </a:p>
        </p:txBody>
      </p:sp>
      <p:sp>
        <p:nvSpPr>
          <p:cNvPr id="63" name="AutoShape 63"/>
          <p:cNvSpPr/>
          <p:nvPr/>
        </p:nvSpPr>
        <p:spPr>
          <a:xfrm>
            <a:off x="13118374" y="3405030"/>
            <a:ext cx="1544467" cy="0"/>
          </a:xfrm>
          <a:prstGeom prst="line">
            <a:avLst/>
          </a:prstGeom>
          <a:ln w="38100" cap="flat">
            <a:solidFill>
              <a:srgbClr val="000000"/>
            </a:solidFill>
            <a:prstDash val="sysDot"/>
            <a:headEnd type="none" w="sm" len="sm"/>
            <a:tailEnd type="arrow" w="med" len="sm"/>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977903" y="3801107"/>
            <a:ext cx="2572827" cy="2690593"/>
            <a:chOff x="0" y="0"/>
            <a:chExt cx="4124960" cy="4313771"/>
          </a:xfrm>
        </p:grpSpPr>
        <p:sp>
          <p:nvSpPr>
            <p:cNvPr id="6" name="Freeform 6"/>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FFFFFF"/>
            </a:solidFill>
          </p:spPr>
          <p:txBody>
            <a:bodyPr/>
            <a:lstStyle/>
            <a:p>
              <a:endParaRPr lang="en-US"/>
            </a:p>
          </p:txBody>
        </p:sp>
      </p:grpSp>
      <p:grpSp>
        <p:nvGrpSpPr>
          <p:cNvPr id="7" name="Group 7"/>
          <p:cNvGrpSpPr/>
          <p:nvPr/>
        </p:nvGrpSpPr>
        <p:grpSpPr>
          <a:xfrm>
            <a:off x="977903" y="6485893"/>
            <a:ext cx="2572827" cy="7921"/>
            <a:chOff x="0" y="0"/>
            <a:chExt cx="4124960" cy="12700"/>
          </a:xfrm>
        </p:grpSpPr>
        <p:sp>
          <p:nvSpPr>
            <p:cNvPr id="8" name="Freeform 8"/>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0F766E"/>
            </a:solidFill>
          </p:spPr>
          <p:txBody>
            <a:bodyPr/>
            <a:lstStyle/>
            <a:p>
              <a:endParaRPr lang="en-US"/>
            </a:p>
          </p:txBody>
        </p:sp>
      </p:grpSp>
      <p:grpSp>
        <p:nvGrpSpPr>
          <p:cNvPr id="9" name="Group 9"/>
          <p:cNvGrpSpPr/>
          <p:nvPr/>
        </p:nvGrpSpPr>
        <p:grpSpPr>
          <a:xfrm>
            <a:off x="977903" y="3801107"/>
            <a:ext cx="2572827" cy="23233"/>
            <a:chOff x="0" y="0"/>
            <a:chExt cx="4124960" cy="37249"/>
          </a:xfrm>
        </p:grpSpPr>
        <p:sp>
          <p:nvSpPr>
            <p:cNvPr id="10" name="Freeform 10"/>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11" name="Group 11"/>
          <p:cNvGrpSpPr/>
          <p:nvPr/>
        </p:nvGrpSpPr>
        <p:grpSpPr>
          <a:xfrm>
            <a:off x="3544924" y="3801107"/>
            <a:ext cx="7921" cy="2690593"/>
            <a:chOff x="0" y="0"/>
            <a:chExt cx="12700" cy="4313771"/>
          </a:xfrm>
        </p:grpSpPr>
        <p:sp>
          <p:nvSpPr>
            <p:cNvPr id="12" name="Freeform 12"/>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13" name="Group 13"/>
          <p:cNvGrpSpPr/>
          <p:nvPr/>
        </p:nvGrpSpPr>
        <p:grpSpPr>
          <a:xfrm>
            <a:off x="3740841" y="3801107"/>
            <a:ext cx="2572827" cy="2690593"/>
            <a:chOff x="0" y="0"/>
            <a:chExt cx="4124960" cy="4313771"/>
          </a:xfrm>
        </p:grpSpPr>
        <p:sp>
          <p:nvSpPr>
            <p:cNvPr id="14" name="Freeform 14"/>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FFFFFF"/>
            </a:solidFill>
          </p:spPr>
          <p:txBody>
            <a:bodyPr/>
            <a:lstStyle/>
            <a:p>
              <a:endParaRPr lang="en-US"/>
            </a:p>
          </p:txBody>
        </p:sp>
      </p:grpSp>
      <p:grpSp>
        <p:nvGrpSpPr>
          <p:cNvPr id="15" name="Group 15"/>
          <p:cNvGrpSpPr/>
          <p:nvPr/>
        </p:nvGrpSpPr>
        <p:grpSpPr>
          <a:xfrm>
            <a:off x="3740841" y="6485893"/>
            <a:ext cx="2572827" cy="7921"/>
            <a:chOff x="0" y="0"/>
            <a:chExt cx="4124960" cy="12700"/>
          </a:xfrm>
        </p:grpSpPr>
        <p:sp>
          <p:nvSpPr>
            <p:cNvPr id="16" name="Freeform 16"/>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0F766E"/>
            </a:solidFill>
          </p:spPr>
          <p:txBody>
            <a:bodyPr/>
            <a:lstStyle/>
            <a:p>
              <a:endParaRPr lang="en-US"/>
            </a:p>
          </p:txBody>
        </p:sp>
      </p:grpSp>
      <p:grpSp>
        <p:nvGrpSpPr>
          <p:cNvPr id="17" name="Group 17"/>
          <p:cNvGrpSpPr/>
          <p:nvPr/>
        </p:nvGrpSpPr>
        <p:grpSpPr>
          <a:xfrm>
            <a:off x="3740841" y="3801107"/>
            <a:ext cx="2572827" cy="23233"/>
            <a:chOff x="0" y="0"/>
            <a:chExt cx="4124960" cy="37249"/>
          </a:xfrm>
        </p:grpSpPr>
        <p:sp>
          <p:nvSpPr>
            <p:cNvPr id="18" name="Freeform 18"/>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19" name="Group 19"/>
          <p:cNvGrpSpPr/>
          <p:nvPr/>
        </p:nvGrpSpPr>
        <p:grpSpPr>
          <a:xfrm>
            <a:off x="3740841" y="3801107"/>
            <a:ext cx="7921" cy="2690593"/>
            <a:chOff x="0" y="0"/>
            <a:chExt cx="12700" cy="4313771"/>
          </a:xfrm>
        </p:grpSpPr>
        <p:sp>
          <p:nvSpPr>
            <p:cNvPr id="20" name="Freeform 20"/>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21" name="Group 21"/>
          <p:cNvGrpSpPr/>
          <p:nvPr/>
        </p:nvGrpSpPr>
        <p:grpSpPr>
          <a:xfrm>
            <a:off x="6307862" y="3801107"/>
            <a:ext cx="7921" cy="2690593"/>
            <a:chOff x="0" y="0"/>
            <a:chExt cx="12700" cy="4313771"/>
          </a:xfrm>
        </p:grpSpPr>
        <p:sp>
          <p:nvSpPr>
            <p:cNvPr id="22" name="Freeform 22"/>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23" name="Group 23"/>
          <p:cNvGrpSpPr/>
          <p:nvPr/>
        </p:nvGrpSpPr>
        <p:grpSpPr>
          <a:xfrm>
            <a:off x="981864" y="6559045"/>
            <a:ext cx="7921" cy="2690593"/>
            <a:chOff x="0" y="0"/>
            <a:chExt cx="12700" cy="4313771"/>
          </a:xfrm>
        </p:grpSpPr>
        <p:sp>
          <p:nvSpPr>
            <p:cNvPr id="24" name="Freeform 24"/>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25" name="Group 25"/>
          <p:cNvGrpSpPr/>
          <p:nvPr/>
        </p:nvGrpSpPr>
        <p:grpSpPr>
          <a:xfrm>
            <a:off x="3548885" y="6559045"/>
            <a:ext cx="7921" cy="2690593"/>
            <a:chOff x="0" y="0"/>
            <a:chExt cx="12700" cy="4313771"/>
          </a:xfrm>
        </p:grpSpPr>
        <p:sp>
          <p:nvSpPr>
            <p:cNvPr id="26" name="Freeform 26"/>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27" name="Group 27"/>
          <p:cNvGrpSpPr/>
          <p:nvPr/>
        </p:nvGrpSpPr>
        <p:grpSpPr>
          <a:xfrm>
            <a:off x="981864" y="6559045"/>
            <a:ext cx="2572827" cy="2690593"/>
            <a:chOff x="0" y="0"/>
            <a:chExt cx="4124960" cy="4313771"/>
          </a:xfrm>
        </p:grpSpPr>
        <p:sp>
          <p:nvSpPr>
            <p:cNvPr id="28" name="Freeform 28"/>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FFFFFF"/>
            </a:solidFill>
          </p:spPr>
          <p:txBody>
            <a:bodyPr/>
            <a:lstStyle/>
            <a:p>
              <a:endParaRPr lang="en-US"/>
            </a:p>
          </p:txBody>
        </p:sp>
      </p:grpSp>
      <p:grpSp>
        <p:nvGrpSpPr>
          <p:cNvPr id="29" name="Group 29"/>
          <p:cNvGrpSpPr/>
          <p:nvPr/>
        </p:nvGrpSpPr>
        <p:grpSpPr>
          <a:xfrm>
            <a:off x="981864" y="9243831"/>
            <a:ext cx="2572827" cy="7921"/>
            <a:chOff x="0" y="0"/>
            <a:chExt cx="4124960" cy="12700"/>
          </a:xfrm>
        </p:grpSpPr>
        <p:sp>
          <p:nvSpPr>
            <p:cNvPr id="30" name="Freeform 30"/>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0F766E"/>
            </a:solidFill>
          </p:spPr>
          <p:txBody>
            <a:bodyPr/>
            <a:lstStyle/>
            <a:p>
              <a:endParaRPr lang="en-US"/>
            </a:p>
          </p:txBody>
        </p:sp>
      </p:grpSp>
      <p:grpSp>
        <p:nvGrpSpPr>
          <p:cNvPr id="31" name="Group 31"/>
          <p:cNvGrpSpPr/>
          <p:nvPr/>
        </p:nvGrpSpPr>
        <p:grpSpPr>
          <a:xfrm>
            <a:off x="981864" y="6559045"/>
            <a:ext cx="2572827" cy="23233"/>
            <a:chOff x="0" y="0"/>
            <a:chExt cx="4124960" cy="37249"/>
          </a:xfrm>
        </p:grpSpPr>
        <p:sp>
          <p:nvSpPr>
            <p:cNvPr id="32" name="Freeform 32"/>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sp>
        <p:nvSpPr>
          <p:cNvPr id="33" name="TextBox 33"/>
          <p:cNvSpPr txBox="1"/>
          <p:nvPr/>
        </p:nvSpPr>
        <p:spPr>
          <a:xfrm>
            <a:off x="1198907" y="8708334"/>
            <a:ext cx="2204172" cy="333375"/>
          </a:xfrm>
          <a:prstGeom prst="rect">
            <a:avLst/>
          </a:prstGeom>
        </p:spPr>
        <p:txBody>
          <a:bodyPr lIns="0" tIns="0" rIns="0" bIns="0" rtlCol="0" anchor="t">
            <a:spAutoFit/>
          </a:bodyPr>
          <a:lstStyle/>
          <a:p>
            <a:pPr algn="l">
              <a:lnSpc>
                <a:spcPts val="1347"/>
              </a:lnSpc>
            </a:pPr>
            <a:r>
              <a:rPr lang="en-US" sz="1122" b="1" spc="44">
                <a:solidFill>
                  <a:srgbClr val="526664"/>
                </a:solidFill>
                <a:latin typeface="Arial Bold"/>
                <a:ea typeface="Arial Bold"/>
                <a:cs typeface="Arial Bold"/>
                <a:sym typeface="Arial Bold"/>
              </a:rPr>
              <a:t>REFUND / RESHIP / CLARIFY/ DISMISS</a:t>
            </a:r>
          </a:p>
        </p:txBody>
      </p:sp>
      <p:grpSp>
        <p:nvGrpSpPr>
          <p:cNvPr id="34" name="Group 34"/>
          <p:cNvGrpSpPr/>
          <p:nvPr/>
        </p:nvGrpSpPr>
        <p:grpSpPr>
          <a:xfrm>
            <a:off x="3747306" y="6559045"/>
            <a:ext cx="2572827" cy="2690593"/>
            <a:chOff x="0" y="0"/>
            <a:chExt cx="4124960" cy="4313771"/>
          </a:xfrm>
        </p:grpSpPr>
        <p:sp>
          <p:nvSpPr>
            <p:cNvPr id="35" name="Freeform 35"/>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FFFFFF"/>
            </a:solidFill>
          </p:spPr>
          <p:txBody>
            <a:bodyPr/>
            <a:lstStyle/>
            <a:p>
              <a:endParaRPr lang="en-US"/>
            </a:p>
          </p:txBody>
        </p:sp>
      </p:grpSp>
      <p:grpSp>
        <p:nvGrpSpPr>
          <p:cNvPr id="36" name="Group 36"/>
          <p:cNvGrpSpPr/>
          <p:nvPr/>
        </p:nvGrpSpPr>
        <p:grpSpPr>
          <a:xfrm>
            <a:off x="3747306" y="9243831"/>
            <a:ext cx="2572827" cy="7921"/>
            <a:chOff x="0" y="0"/>
            <a:chExt cx="4124960" cy="12700"/>
          </a:xfrm>
        </p:grpSpPr>
        <p:sp>
          <p:nvSpPr>
            <p:cNvPr id="37" name="Freeform 37"/>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0F766E"/>
            </a:solidFill>
          </p:spPr>
          <p:txBody>
            <a:bodyPr/>
            <a:lstStyle/>
            <a:p>
              <a:endParaRPr lang="en-US"/>
            </a:p>
          </p:txBody>
        </p:sp>
      </p:grpSp>
      <p:grpSp>
        <p:nvGrpSpPr>
          <p:cNvPr id="38" name="Group 38"/>
          <p:cNvGrpSpPr/>
          <p:nvPr/>
        </p:nvGrpSpPr>
        <p:grpSpPr>
          <a:xfrm>
            <a:off x="3747306" y="6559045"/>
            <a:ext cx="2572827" cy="23233"/>
            <a:chOff x="0" y="0"/>
            <a:chExt cx="4124960" cy="37249"/>
          </a:xfrm>
        </p:grpSpPr>
        <p:sp>
          <p:nvSpPr>
            <p:cNvPr id="39" name="Freeform 39"/>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40" name="Group 40"/>
          <p:cNvGrpSpPr/>
          <p:nvPr/>
        </p:nvGrpSpPr>
        <p:grpSpPr>
          <a:xfrm>
            <a:off x="3747306" y="6559045"/>
            <a:ext cx="7921" cy="2690593"/>
            <a:chOff x="0" y="0"/>
            <a:chExt cx="12700" cy="4313771"/>
          </a:xfrm>
        </p:grpSpPr>
        <p:sp>
          <p:nvSpPr>
            <p:cNvPr id="41" name="Freeform 41"/>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42" name="Group 42"/>
          <p:cNvGrpSpPr/>
          <p:nvPr/>
        </p:nvGrpSpPr>
        <p:grpSpPr>
          <a:xfrm>
            <a:off x="6314327" y="6559045"/>
            <a:ext cx="7921" cy="2690593"/>
            <a:chOff x="0" y="0"/>
            <a:chExt cx="12700" cy="4313771"/>
          </a:xfrm>
        </p:grpSpPr>
        <p:sp>
          <p:nvSpPr>
            <p:cNvPr id="43" name="Freeform 43"/>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44" name="Group 44"/>
          <p:cNvGrpSpPr/>
          <p:nvPr/>
        </p:nvGrpSpPr>
        <p:grpSpPr>
          <a:xfrm>
            <a:off x="6512748" y="6572776"/>
            <a:ext cx="2572827" cy="2690593"/>
            <a:chOff x="0" y="0"/>
            <a:chExt cx="4124960" cy="4313771"/>
          </a:xfrm>
        </p:grpSpPr>
        <p:sp>
          <p:nvSpPr>
            <p:cNvPr id="45" name="Freeform 45"/>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E9570B">
                <a:alpha val="28627"/>
              </a:srgbClr>
            </a:solidFill>
          </p:spPr>
          <p:txBody>
            <a:bodyPr/>
            <a:lstStyle/>
            <a:p>
              <a:endParaRPr lang="en-US"/>
            </a:p>
          </p:txBody>
        </p:sp>
      </p:grpSp>
      <p:grpSp>
        <p:nvGrpSpPr>
          <p:cNvPr id="46" name="Group 46"/>
          <p:cNvGrpSpPr/>
          <p:nvPr/>
        </p:nvGrpSpPr>
        <p:grpSpPr>
          <a:xfrm>
            <a:off x="6512748" y="9245946"/>
            <a:ext cx="2572827" cy="7921"/>
            <a:chOff x="0" y="0"/>
            <a:chExt cx="4124960" cy="12700"/>
          </a:xfrm>
        </p:grpSpPr>
        <p:sp>
          <p:nvSpPr>
            <p:cNvPr id="47" name="Freeform 47"/>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EA580C"/>
            </a:solidFill>
          </p:spPr>
          <p:txBody>
            <a:bodyPr/>
            <a:lstStyle/>
            <a:p>
              <a:endParaRPr lang="en-US"/>
            </a:p>
          </p:txBody>
        </p:sp>
      </p:grpSp>
      <p:grpSp>
        <p:nvGrpSpPr>
          <p:cNvPr id="48" name="Group 48"/>
          <p:cNvGrpSpPr/>
          <p:nvPr/>
        </p:nvGrpSpPr>
        <p:grpSpPr>
          <a:xfrm>
            <a:off x="6512748" y="6561160"/>
            <a:ext cx="2572827" cy="23233"/>
            <a:chOff x="0" y="0"/>
            <a:chExt cx="4124960" cy="37249"/>
          </a:xfrm>
        </p:grpSpPr>
        <p:sp>
          <p:nvSpPr>
            <p:cNvPr id="49" name="Freeform 49"/>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EA580C"/>
            </a:solidFill>
          </p:spPr>
          <p:txBody>
            <a:bodyPr/>
            <a:lstStyle/>
            <a:p>
              <a:endParaRPr lang="en-US"/>
            </a:p>
          </p:txBody>
        </p:sp>
      </p:grpSp>
      <p:grpSp>
        <p:nvGrpSpPr>
          <p:cNvPr id="50" name="Group 50"/>
          <p:cNvGrpSpPr/>
          <p:nvPr/>
        </p:nvGrpSpPr>
        <p:grpSpPr>
          <a:xfrm>
            <a:off x="6512748" y="6561160"/>
            <a:ext cx="7921" cy="2690593"/>
            <a:chOff x="0" y="0"/>
            <a:chExt cx="12700" cy="4313771"/>
          </a:xfrm>
        </p:grpSpPr>
        <p:sp>
          <p:nvSpPr>
            <p:cNvPr id="51" name="Freeform 51"/>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EA580C"/>
            </a:solidFill>
          </p:spPr>
          <p:txBody>
            <a:bodyPr/>
            <a:lstStyle/>
            <a:p>
              <a:endParaRPr lang="en-US"/>
            </a:p>
          </p:txBody>
        </p:sp>
      </p:grpSp>
      <p:grpSp>
        <p:nvGrpSpPr>
          <p:cNvPr id="52" name="Group 52"/>
          <p:cNvGrpSpPr/>
          <p:nvPr/>
        </p:nvGrpSpPr>
        <p:grpSpPr>
          <a:xfrm>
            <a:off x="6520670" y="3824340"/>
            <a:ext cx="2572827" cy="2690593"/>
            <a:chOff x="0" y="0"/>
            <a:chExt cx="4124960" cy="4313771"/>
          </a:xfrm>
        </p:grpSpPr>
        <p:sp>
          <p:nvSpPr>
            <p:cNvPr id="53" name="Freeform 53"/>
            <p:cNvSpPr/>
            <p:nvPr/>
          </p:nvSpPr>
          <p:spPr>
            <a:xfrm>
              <a:off x="0" y="0"/>
              <a:ext cx="4124960" cy="4313809"/>
            </a:xfrm>
            <a:custGeom>
              <a:avLst/>
              <a:gdLst/>
              <a:ahLst/>
              <a:cxnLst/>
              <a:rect l="l" t="t" r="r" b="b"/>
              <a:pathLst>
                <a:path w="4124960" h="4313809">
                  <a:moveTo>
                    <a:pt x="0" y="0"/>
                  </a:moveTo>
                  <a:lnTo>
                    <a:pt x="4124960" y="0"/>
                  </a:lnTo>
                  <a:lnTo>
                    <a:pt x="4124960" y="4313809"/>
                  </a:lnTo>
                  <a:lnTo>
                    <a:pt x="0" y="4313809"/>
                  </a:lnTo>
                  <a:close/>
                </a:path>
              </a:pathLst>
            </a:custGeom>
            <a:solidFill>
              <a:srgbClr val="FFFFFF"/>
            </a:solidFill>
          </p:spPr>
          <p:txBody>
            <a:bodyPr/>
            <a:lstStyle/>
            <a:p>
              <a:endParaRPr lang="en-US"/>
            </a:p>
          </p:txBody>
        </p:sp>
      </p:grpSp>
      <p:grpSp>
        <p:nvGrpSpPr>
          <p:cNvPr id="54" name="Group 54"/>
          <p:cNvGrpSpPr/>
          <p:nvPr/>
        </p:nvGrpSpPr>
        <p:grpSpPr>
          <a:xfrm>
            <a:off x="6508398" y="6477972"/>
            <a:ext cx="2572827" cy="7921"/>
            <a:chOff x="0" y="0"/>
            <a:chExt cx="4124960" cy="12700"/>
          </a:xfrm>
        </p:grpSpPr>
        <p:sp>
          <p:nvSpPr>
            <p:cNvPr id="55" name="Freeform 55"/>
            <p:cNvSpPr/>
            <p:nvPr/>
          </p:nvSpPr>
          <p:spPr>
            <a:xfrm>
              <a:off x="0" y="0"/>
              <a:ext cx="4124960" cy="12700"/>
            </a:xfrm>
            <a:custGeom>
              <a:avLst/>
              <a:gdLst/>
              <a:ahLst/>
              <a:cxnLst/>
              <a:rect l="l" t="t" r="r" b="b"/>
              <a:pathLst>
                <a:path w="4124960" h="12700">
                  <a:moveTo>
                    <a:pt x="0" y="0"/>
                  </a:moveTo>
                  <a:lnTo>
                    <a:pt x="4124960" y="0"/>
                  </a:lnTo>
                  <a:lnTo>
                    <a:pt x="4124960" y="12700"/>
                  </a:lnTo>
                  <a:lnTo>
                    <a:pt x="0" y="12700"/>
                  </a:lnTo>
                  <a:close/>
                </a:path>
              </a:pathLst>
            </a:custGeom>
            <a:solidFill>
              <a:srgbClr val="0F766E"/>
            </a:solidFill>
          </p:spPr>
          <p:txBody>
            <a:bodyPr/>
            <a:lstStyle/>
            <a:p>
              <a:endParaRPr lang="en-US"/>
            </a:p>
          </p:txBody>
        </p:sp>
      </p:grpSp>
      <p:grpSp>
        <p:nvGrpSpPr>
          <p:cNvPr id="56" name="Group 56"/>
          <p:cNvGrpSpPr/>
          <p:nvPr/>
        </p:nvGrpSpPr>
        <p:grpSpPr>
          <a:xfrm>
            <a:off x="6508398" y="3793185"/>
            <a:ext cx="2572827" cy="23233"/>
            <a:chOff x="0" y="0"/>
            <a:chExt cx="4124960" cy="37249"/>
          </a:xfrm>
        </p:grpSpPr>
        <p:sp>
          <p:nvSpPr>
            <p:cNvPr id="57" name="Freeform 57"/>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58" name="Group 58"/>
          <p:cNvGrpSpPr/>
          <p:nvPr/>
        </p:nvGrpSpPr>
        <p:grpSpPr>
          <a:xfrm>
            <a:off x="6506283" y="3795300"/>
            <a:ext cx="7921" cy="2690593"/>
            <a:chOff x="0" y="0"/>
            <a:chExt cx="12700" cy="4313771"/>
          </a:xfrm>
        </p:grpSpPr>
        <p:sp>
          <p:nvSpPr>
            <p:cNvPr id="59" name="Freeform 59"/>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60" name="Group 60"/>
          <p:cNvGrpSpPr/>
          <p:nvPr/>
        </p:nvGrpSpPr>
        <p:grpSpPr>
          <a:xfrm>
            <a:off x="9073304" y="3795300"/>
            <a:ext cx="7921" cy="2690593"/>
            <a:chOff x="0" y="0"/>
            <a:chExt cx="12700" cy="4313771"/>
          </a:xfrm>
        </p:grpSpPr>
        <p:sp>
          <p:nvSpPr>
            <p:cNvPr id="61" name="Freeform 61"/>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62" name="Group 62"/>
          <p:cNvGrpSpPr/>
          <p:nvPr/>
        </p:nvGrpSpPr>
        <p:grpSpPr>
          <a:xfrm>
            <a:off x="977903" y="6561160"/>
            <a:ext cx="7921" cy="2690593"/>
            <a:chOff x="0" y="0"/>
            <a:chExt cx="12700" cy="4313771"/>
          </a:xfrm>
        </p:grpSpPr>
        <p:sp>
          <p:nvSpPr>
            <p:cNvPr id="63" name="Freeform 63"/>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64" name="Group 64"/>
          <p:cNvGrpSpPr/>
          <p:nvPr/>
        </p:nvGrpSpPr>
        <p:grpSpPr>
          <a:xfrm>
            <a:off x="3544924" y="6561160"/>
            <a:ext cx="7921" cy="2690593"/>
            <a:chOff x="0" y="0"/>
            <a:chExt cx="12700" cy="4313771"/>
          </a:xfrm>
        </p:grpSpPr>
        <p:sp>
          <p:nvSpPr>
            <p:cNvPr id="65" name="Freeform 65"/>
            <p:cNvSpPr/>
            <p:nvPr/>
          </p:nvSpPr>
          <p:spPr>
            <a:xfrm>
              <a:off x="0" y="0"/>
              <a:ext cx="12700" cy="4313809"/>
            </a:xfrm>
            <a:custGeom>
              <a:avLst/>
              <a:gdLst/>
              <a:ahLst/>
              <a:cxnLst/>
              <a:rect l="l" t="t" r="r" b="b"/>
              <a:pathLst>
                <a:path w="12700" h="4313809">
                  <a:moveTo>
                    <a:pt x="0" y="0"/>
                  </a:moveTo>
                  <a:lnTo>
                    <a:pt x="12700" y="0"/>
                  </a:lnTo>
                  <a:lnTo>
                    <a:pt x="12700" y="4313809"/>
                  </a:lnTo>
                  <a:lnTo>
                    <a:pt x="0" y="4313809"/>
                  </a:lnTo>
                  <a:close/>
                </a:path>
              </a:pathLst>
            </a:custGeom>
            <a:solidFill>
              <a:srgbClr val="0F766E"/>
            </a:solidFill>
          </p:spPr>
          <p:txBody>
            <a:bodyPr/>
            <a:lstStyle/>
            <a:p>
              <a:endParaRPr lang="en-US"/>
            </a:p>
          </p:txBody>
        </p:sp>
      </p:grpSp>
      <p:grpSp>
        <p:nvGrpSpPr>
          <p:cNvPr id="66" name="Group 66"/>
          <p:cNvGrpSpPr/>
          <p:nvPr/>
        </p:nvGrpSpPr>
        <p:grpSpPr>
          <a:xfrm>
            <a:off x="-68128" y="9319098"/>
            <a:ext cx="18300697" cy="416881"/>
            <a:chOff x="0" y="0"/>
            <a:chExt cx="24400929" cy="555841"/>
          </a:xfrm>
        </p:grpSpPr>
        <p:sp>
          <p:nvSpPr>
            <p:cNvPr id="67" name="Freeform 67"/>
            <p:cNvSpPr/>
            <p:nvPr/>
          </p:nvSpPr>
          <p:spPr>
            <a:xfrm>
              <a:off x="8509" y="8509"/>
              <a:ext cx="24384001" cy="538861"/>
            </a:xfrm>
            <a:custGeom>
              <a:avLst/>
              <a:gdLst/>
              <a:ahLst/>
              <a:cxnLst/>
              <a:rect l="l" t="t" r="r" b="b"/>
              <a:pathLst>
                <a:path w="24384001" h="538861">
                  <a:moveTo>
                    <a:pt x="0" y="0"/>
                  </a:moveTo>
                  <a:lnTo>
                    <a:pt x="24384001" y="0"/>
                  </a:lnTo>
                  <a:lnTo>
                    <a:pt x="24384001" y="538861"/>
                  </a:lnTo>
                  <a:lnTo>
                    <a:pt x="0" y="538861"/>
                  </a:lnTo>
                  <a:close/>
                </a:path>
              </a:pathLst>
            </a:custGeom>
            <a:solidFill>
              <a:srgbClr val="EA580C">
                <a:alpha val="56863"/>
              </a:srgbClr>
            </a:solidFill>
          </p:spPr>
          <p:txBody>
            <a:bodyPr/>
            <a:lstStyle/>
            <a:p>
              <a:endParaRPr lang="en-US"/>
            </a:p>
          </p:txBody>
        </p:sp>
        <p:sp>
          <p:nvSpPr>
            <p:cNvPr id="68" name="Freeform 68"/>
            <p:cNvSpPr/>
            <p:nvPr/>
          </p:nvSpPr>
          <p:spPr>
            <a:xfrm>
              <a:off x="0" y="0"/>
              <a:ext cx="24401018" cy="555879"/>
            </a:xfrm>
            <a:custGeom>
              <a:avLst/>
              <a:gdLst/>
              <a:ahLst/>
              <a:cxnLst/>
              <a:rect l="l" t="t" r="r" b="b"/>
              <a:pathLst>
                <a:path w="24401018" h="555879">
                  <a:moveTo>
                    <a:pt x="8509" y="0"/>
                  </a:moveTo>
                  <a:lnTo>
                    <a:pt x="24392510" y="0"/>
                  </a:lnTo>
                  <a:cubicBezTo>
                    <a:pt x="24397208" y="0"/>
                    <a:pt x="24401018" y="3810"/>
                    <a:pt x="24401018" y="8509"/>
                  </a:cubicBezTo>
                  <a:lnTo>
                    <a:pt x="24401018" y="547370"/>
                  </a:lnTo>
                  <a:cubicBezTo>
                    <a:pt x="24401018" y="552069"/>
                    <a:pt x="24397208" y="555879"/>
                    <a:pt x="24392510" y="555879"/>
                  </a:cubicBezTo>
                  <a:lnTo>
                    <a:pt x="8509" y="555879"/>
                  </a:lnTo>
                  <a:cubicBezTo>
                    <a:pt x="3810" y="555879"/>
                    <a:pt x="0" y="552069"/>
                    <a:pt x="0" y="547370"/>
                  </a:cubicBezTo>
                  <a:lnTo>
                    <a:pt x="0" y="8509"/>
                  </a:lnTo>
                  <a:cubicBezTo>
                    <a:pt x="0" y="3810"/>
                    <a:pt x="3810" y="0"/>
                    <a:pt x="8509" y="0"/>
                  </a:cubicBezTo>
                  <a:moveTo>
                    <a:pt x="8509" y="16891"/>
                  </a:moveTo>
                  <a:lnTo>
                    <a:pt x="8509" y="8509"/>
                  </a:lnTo>
                  <a:lnTo>
                    <a:pt x="17018" y="8509"/>
                  </a:lnTo>
                  <a:lnTo>
                    <a:pt x="17018" y="547370"/>
                  </a:lnTo>
                  <a:lnTo>
                    <a:pt x="8509" y="547370"/>
                  </a:lnTo>
                  <a:lnTo>
                    <a:pt x="8509" y="538861"/>
                  </a:lnTo>
                  <a:lnTo>
                    <a:pt x="24392510" y="538861"/>
                  </a:lnTo>
                  <a:lnTo>
                    <a:pt x="24392510" y="547370"/>
                  </a:lnTo>
                  <a:lnTo>
                    <a:pt x="24384000" y="547370"/>
                  </a:lnTo>
                  <a:lnTo>
                    <a:pt x="24384000" y="8509"/>
                  </a:lnTo>
                  <a:lnTo>
                    <a:pt x="24392510" y="8509"/>
                  </a:lnTo>
                  <a:lnTo>
                    <a:pt x="24392510" y="17018"/>
                  </a:lnTo>
                  <a:lnTo>
                    <a:pt x="8509" y="17018"/>
                  </a:lnTo>
                  <a:close/>
                </a:path>
              </a:pathLst>
            </a:custGeom>
            <a:solidFill>
              <a:srgbClr val="ED7D31">
                <a:alpha val="56863"/>
              </a:srgbClr>
            </a:solidFill>
          </p:spPr>
          <p:txBody>
            <a:bodyPr/>
            <a:lstStyle/>
            <a:p>
              <a:endParaRPr lang="en-US"/>
            </a:p>
          </p:txBody>
        </p:sp>
      </p:grpSp>
      <p:grpSp>
        <p:nvGrpSpPr>
          <p:cNvPr id="69" name="Group 69"/>
          <p:cNvGrpSpPr/>
          <p:nvPr/>
        </p:nvGrpSpPr>
        <p:grpSpPr>
          <a:xfrm>
            <a:off x="787403" y="617597"/>
            <a:ext cx="2111216" cy="631706"/>
            <a:chOff x="0" y="0"/>
            <a:chExt cx="2814955" cy="842275"/>
          </a:xfrm>
        </p:grpSpPr>
        <p:sp>
          <p:nvSpPr>
            <p:cNvPr id="70" name="Freeform 70"/>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71" name="TextBox 71"/>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72" name="Group 72"/>
          <p:cNvGrpSpPr/>
          <p:nvPr/>
        </p:nvGrpSpPr>
        <p:grpSpPr>
          <a:xfrm>
            <a:off x="0" y="0"/>
            <a:ext cx="18288000" cy="550922"/>
            <a:chOff x="0" y="0"/>
            <a:chExt cx="24384000" cy="734563"/>
          </a:xfrm>
        </p:grpSpPr>
        <p:grpSp>
          <p:nvGrpSpPr>
            <p:cNvPr id="73" name="Group 73"/>
            <p:cNvGrpSpPr/>
            <p:nvPr/>
          </p:nvGrpSpPr>
          <p:grpSpPr>
            <a:xfrm>
              <a:off x="0" y="0"/>
              <a:ext cx="24384000" cy="734563"/>
              <a:chOff x="0" y="0"/>
              <a:chExt cx="4816593" cy="145099"/>
            </a:xfrm>
          </p:grpSpPr>
          <p:sp>
            <p:nvSpPr>
              <p:cNvPr id="74" name="Freeform 74"/>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75" name="TextBox 75"/>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76" name="Freeform 76"/>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77" name="Freeform 77"/>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78" name="Freeform 78"/>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
        <p:nvSpPr>
          <p:cNvPr id="79" name="Freeform 79"/>
          <p:cNvSpPr/>
          <p:nvPr/>
        </p:nvSpPr>
        <p:spPr>
          <a:xfrm>
            <a:off x="10327160" y="1319980"/>
            <a:ext cx="6705531" cy="7999118"/>
          </a:xfrm>
          <a:custGeom>
            <a:avLst/>
            <a:gdLst/>
            <a:ahLst/>
            <a:cxnLst/>
            <a:rect l="l" t="t" r="r" b="b"/>
            <a:pathLst>
              <a:path w="6705531" h="7999118">
                <a:moveTo>
                  <a:pt x="0" y="0"/>
                </a:moveTo>
                <a:lnTo>
                  <a:pt x="6705531" y="0"/>
                </a:lnTo>
                <a:lnTo>
                  <a:pt x="6705531" y="7999118"/>
                </a:lnTo>
                <a:lnTo>
                  <a:pt x="0" y="7999118"/>
                </a:lnTo>
                <a:lnTo>
                  <a:pt x="0" y="0"/>
                </a:lnTo>
                <a:close/>
              </a:path>
            </a:pathLst>
          </a:custGeom>
          <a:blipFill>
            <a:blip r:embed="rId7"/>
            <a:stretch>
              <a:fillRect/>
            </a:stretch>
          </a:blipFill>
        </p:spPr>
        <p:txBody>
          <a:bodyPr/>
          <a:lstStyle/>
          <a:p>
            <a:endParaRPr lang="en-US"/>
          </a:p>
        </p:txBody>
      </p:sp>
      <p:sp>
        <p:nvSpPr>
          <p:cNvPr id="80" name="TextBox 80"/>
          <p:cNvSpPr txBox="1"/>
          <p:nvPr/>
        </p:nvSpPr>
        <p:spPr>
          <a:xfrm>
            <a:off x="1198907" y="6815674"/>
            <a:ext cx="2204172" cy="199635"/>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04</a:t>
            </a:r>
          </a:p>
        </p:txBody>
      </p:sp>
      <p:sp>
        <p:nvSpPr>
          <p:cNvPr id="81" name="TextBox 81"/>
          <p:cNvSpPr txBox="1"/>
          <p:nvPr/>
        </p:nvSpPr>
        <p:spPr>
          <a:xfrm>
            <a:off x="1198907" y="7094484"/>
            <a:ext cx="2204172" cy="275699"/>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Reasoning</a:t>
            </a:r>
          </a:p>
        </p:txBody>
      </p:sp>
      <p:sp>
        <p:nvSpPr>
          <p:cNvPr id="82" name="TextBox 82"/>
          <p:cNvSpPr txBox="1"/>
          <p:nvPr/>
        </p:nvSpPr>
        <p:spPr>
          <a:xfrm>
            <a:off x="1198907" y="7398758"/>
            <a:ext cx="2204172" cy="534541"/>
          </a:xfrm>
          <a:prstGeom prst="rect">
            <a:avLst/>
          </a:prstGeom>
        </p:spPr>
        <p:txBody>
          <a:bodyPr lIns="0" tIns="0" rIns="0" bIns="0" rtlCol="0" anchor="t">
            <a:spAutoFit/>
          </a:bodyPr>
          <a:lstStyle/>
          <a:p>
            <a:pPr algn="l">
              <a:lnSpc>
                <a:spcPts val="1919"/>
              </a:lnSpc>
            </a:pPr>
            <a:r>
              <a:rPr lang="en-US" sz="1269">
                <a:solidFill>
                  <a:srgbClr val="526664"/>
                </a:solidFill>
                <a:latin typeface="Arial"/>
                <a:ea typeface="Arial"/>
                <a:cs typeface="Arial"/>
                <a:sym typeface="Arial"/>
              </a:rPr>
              <a:t>Evaluates complaint against policy. Outputs the decision.</a:t>
            </a:r>
          </a:p>
        </p:txBody>
      </p:sp>
      <p:sp>
        <p:nvSpPr>
          <p:cNvPr id="83" name="TextBox 83"/>
          <p:cNvSpPr txBox="1"/>
          <p:nvPr/>
        </p:nvSpPr>
        <p:spPr>
          <a:xfrm>
            <a:off x="1194946" y="4057736"/>
            <a:ext cx="2204172" cy="208087"/>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01</a:t>
            </a:r>
          </a:p>
        </p:txBody>
      </p:sp>
      <p:sp>
        <p:nvSpPr>
          <p:cNvPr id="84" name="TextBox 84"/>
          <p:cNvSpPr txBox="1"/>
          <p:nvPr/>
        </p:nvSpPr>
        <p:spPr>
          <a:xfrm>
            <a:off x="1194946" y="4336545"/>
            <a:ext cx="2204172" cy="275699"/>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Intake</a:t>
            </a:r>
          </a:p>
        </p:txBody>
      </p:sp>
      <p:sp>
        <p:nvSpPr>
          <p:cNvPr id="85" name="TextBox 85"/>
          <p:cNvSpPr txBox="1"/>
          <p:nvPr/>
        </p:nvSpPr>
        <p:spPr>
          <a:xfrm>
            <a:off x="1194946" y="4644874"/>
            <a:ext cx="2204172" cy="719770"/>
          </a:xfrm>
          <a:prstGeom prst="rect">
            <a:avLst/>
          </a:prstGeom>
        </p:spPr>
        <p:txBody>
          <a:bodyPr lIns="0" tIns="0" rIns="0" bIns="0" rtlCol="0" anchor="t">
            <a:spAutoFit/>
          </a:bodyPr>
          <a:lstStyle/>
          <a:p>
            <a:pPr algn="l">
              <a:lnSpc>
                <a:spcPts val="1919"/>
              </a:lnSpc>
            </a:pPr>
            <a:r>
              <a:rPr lang="en-US" sz="1269">
                <a:solidFill>
                  <a:srgbClr val="526664"/>
                </a:solidFill>
                <a:latin typeface="Arial"/>
                <a:ea typeface="Arial"/>
                <a:cs typeface="Arial"/>
                <a:sym typeface="Arial"/>
              </a:rPr>
              <a:t>Extracts order ID, complaint type, language, tone from raw text.</a:t>
            </a:r>
          </a:p>
        </p:txBody>
      </p:sp>
      <p:sp>
        <p:nvSpPr>
          <p:cNvPr id="86" name="TextBox 86"/>
          <p:cNvSpPr txBox="1"/>
          <p:nvPr/>
        </p:nvSpPr>
        <p:spPr>
          <a:xfrm>
            <a:off x="1194946" y="6113044"/>
            <a:ext cx="1352431" cy="161925"/>
          </a:xfrm>
          <a:prstGeom prst="rect">
            <a:avLst/>
          </a:prstGeom>
        </p:spPr>
        <p:txBody>
          <a:bodyPr lIns="0" tIns="0" rIns="0" bIns="0" rtlCol="0" anchor="t">
            <a:spAutoFit/>
          </a:bodyPr>
          <a:lstStyle/>
          <a:p>
            <a:pPr algn="l">
              <a:lnSpc>
                <a:spcPts val="1246"/>
              </a:lnSpc>
            </a:pPr>
            <a:r>
              <a:rPr lang="en-US" sz="1038" b="1" spc="44">
                <a:solidFill>
                  <a:srgbClr val="526664"/>
                </a:solidFill>
                <a:latin typeface="Arial Bold"/>
                <a:ea typeface="Arial Bold"/>
                <a:cs typeface="Arial Bold"/>
                <a:sym typeface="Arial Bold"/>
              </a:rPr>
              <a:t>EN / BM / MANGLISH</a:t>
            </a:r>
          </a:p>
        </p:txBody>
      </p:sp>
      <p:sp>
        <p:nvSpPr>
          <p:cNvPr id="87" name="TextBox 87"/>
          <p:cNvSpPr txBox="1"/>
          <p:nvPr/>
        </p:nvSpPr>
        <p:spPr>
          <a:xfrm>
            <a:off x="3957884" y="4057736"/>
            <a:ext cx="2204172" cy="208087"/>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02</a:t>
            </a:r>
          </a:p>
        </p:txBody>
      </p:sp>
      <p:sp>
        <p:nvSpPr>
          <p:cNvPr id="88" name="TextBox 88"/>
          <p:cNvSpPr txBox="1"/>
          <p:nvPr/>
        </p:nvSpPr>
        <p:spPr>
          <a:xfrm>
            <a:off x="3957884" y="4325986"/>
            <a:ext cx="2204172" cy="275699"/>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Context</a:t>
            </a:r>
          </a:p>
        </p:txBody>
      </p:sp>
      <p:sp>
        <p:nvSpPr>
          <p:cNvPr id="89" name="TextBox 89"/>
          <p:cNvSpPr txBox="1"/>
          <p:nvPr/>
        </p:nvSpPr>
        <p:spPr>
          <a:xfrm>
            <a:off x="3957884" y="4625824"/>
            <a:ext cx="2204172" cy="797566"/>
          </a:xfrm>
          <a:prstGeom prst="rect">
            <a:avLst/>
          </a:prstGeom>
        </p:spPr>
        <p:txBody>
          <a:bodyPr lIns="0" tIns="0" rIns="0" bIns="0" rtlCol="0" anchor="t">
            <a:spAutoFit/>
          </a:bodyPr>
          <a:lstStyle/>
          <a:p>
            <a:pPr algn="l">
              <a:lnSpc>
                <a:spcPts val="2132"/>
              </a:lnSpc>
            </a:pPr>
            <a:r>
              <a:rPr lang="en-US" sz="1269">
                <a:solidFill>
                  <a:srgbClr val="526664"/>
                </a:solidFill>
                <a:latin typeface="Arial"/>
                <a:ea typeface="Arial"/>
                <a:cs typeface="Arial"/>
                <a:sym typeface="Arial"/>
              </a:rPr>
              <a:t>Looks up the order; synthesises a contextual note.</a:t>
            </a:r>
          </a:p>
        </p:txBody>
      </p:sp>
      <p:sp>
        <p:nvSpPr>
          <p:cNvPr id="90" name="TextBox 90"/>
          <p:cNvSpPr txBox="1"/>
          <p:nvPr/>
        </p:nvSpPr>
        <p:spPr>
          <a:xfrm>
            <a:off x="3957884" y="6113044"/>
            <a:ext cx="803910" cy="161925"/>
          </a:xfrm>
          <a:prstGeom prst="rect">
            <a:avLst/>
          </a:prstGeom>
        </p:spPr>
        <p:txBody>
          <a:bodyPr lIns="0" tIns="0" rIns="0" bIns="0" rtlCol="0" anchor="t">
            <a:spAutoFit/>
          </a:bodyPr>
          <a:lstStyle/>
          <a:p>
            <a:pPr algn="l">
              <a:lnSpc>
                <a:spcPts val="1246"/>
              </a:lnSpc>
            </a:pPr>
            <a:r>
              <a:rPr lang="en-US" sz="1038" b="1" spc="44">
                <a:solidFill>
                  <a:srgbClr val="526664"/>
                </a:solidFill>
                <a:latin typeface="Arial Bold"/>
                <a:ea typeface="Arial Bold"/>
                <a:cs typeface="Arial Bold"/>
                <a:sym typeface="Arial Bold"/>
              </a:rPr>
              <a:t>RULE + LLM</a:t>
            </a:r>
          </a:p>
        </p:txBody>
      </p:sp>
      <p:sp>
        <p:nvSpPr>
          <p:cNvPr id="91" name="TextBox 91"/>
          <p:cNvSpPr txBox="1"/>
          <p:nvPr/>
        </p:nvSpPr>
        <p:spPr>
          <a:xfrm>
            <a:off x="3964349" y="6815674"/>
            <a:ext cx="868171" cy="199635"/>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05</a:t>
            </a:r>
          </a:p>
        </p:txBody>
      </p:sp>
      <p:sp>
        <p:nvSpPr>
          <p:cNvPr id="92" name="TextBox 92"/>
          <p:cNvSpPr txBox="1"/>
          <p:nvPr/>
        </p:nvSpPr>
        <p:spPr>
          <a:xfrm>
            <a:off x="3964349" y="7094484"/>
            <a:ext cx="2204172" cy="275699"/>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Response</a:t>
            </a:r>
          </a:p>
        </p:txBody>
      </p:sp>
      <p:sp>
        <p:nvSpPr>
          <p:cNvPr id="93" name="TextBox 93"/>
          <p:cNvSpPr txBox="1"/>
          <p:nvPr/>
        </p:nvSpPr>
        <p:spPr>
          <a:xfrm>
            <a:off x="3964349" y="7402812"/>
            <a:ext cx="2204172" cy="719770"/>
          </a:xfrm>
          <a:prstGeom prst="rect">
            <a:avLst/>
          </a:prstGeom>
        </p:spPr>
        <p:txBody>
          <a:bodyPr lIns="0" tIns="0" rIns="0" bIns="0" rtlCol="0" anchor="t">
            <a:spAutoFit/>
          </a:bodyPr>
          <a:lstStyle/>
          <a:p>
            <a:pPr algn="l">
              <a:lnSpc>
                <a:spcPts val="1919"/>
              </a:lnSpc>
            </a:pPr>
            <a:r>
              <a:rPr lang="en-US" sz="1269">
                <a:solidFill>
                  <a:srgbClr val="526664"/>
                </a:solidFill>
                <a:latin typeface="Arial"/>
                <a:ea typeface="Arial"/>
                <a:cs typeface="Arial"/>
                <a:sym typeface="Arial"/>
              </a:rPr>
              <a:t>Drafts a bilingual EN + BM customer reply aligned to the decision and the chosen tone .</a:t>
            </a:r>
          </a:p>
        </p:txBody>
      </p:sp>
      <p:sp>
        <p:nvSpPr>
          <p:cNvPr id="94" name="TextBox 94"/>
          <p:cNvSpPr txBox="1"/>
          <p:nvPr/>
        </p:nvSpPr>
        <p:spPr>
          <a:xfrm>
            <a:off x="3964349" y="8870982"/>
            <a:ext cx="1100971" cy="161925"/>
          </a:xfrm>
          <a:prstGeom prst="rect">
            <a:avLst/>
          </a:prstGeom>
        </p:spPr>
        <p:txBody>
          <a:bodyPr lIns="0" tIns="0" rIns="0" bIns="0" rtlCol="0" anchor="t">
            <a:spAutoFit/>
          </a:bodyPr>
          <a:lstStyle/>
          <a:p>
            <a:pPr algn="l">
              <a:lnSpc>
                <a:spcPts val="1246"/>
              </a:lnSpc>
            </a:pPr>
            <a:r>
              <a:rPr lang="en-US" sz="1038" b="1" spc="44">
                <a:solidFill>
                  <a:srgbClr val="526664"/>
                </a:solidFill>
                <a:latin typeface="Arial Bold"/>
                <a:ea typeface="Arial Bold"/>
                <a:cs typeface="Arial Bold"/>
                <a:sym typeface="Arial Bold"/>
              </a:rPr>
              <a:t>EN + BM PAIRED</a:t>
            </a:r>
          </a:p>
        </p:txBody>
      </p:sp>
      <p:sp>
        <p:nvSpPr>
          <p:cNvPr id="95" name="TextBox 95"/>
          <p:cNvSpPr txBox="1"/>
          <p:nvPr/>
        </p:nvSpPr>
        <p:spPr>
          <a:xfrm>
            <a:off x="6729791" y="6817789"/>
            <a:ext cx="868171" cy="199635"/>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06</a:t>
            </a:r>
          </a:p>
        </p:txBody>
      </p:sp>
      <p:sp>
        <p:nvSpPr>
          <p:cNvPr id="96" name="TextBox 96"/>
          <p:cNvSpPr txBox="1"/>
          <p:nvPr/>
        </p:nvSpPr>
        <p:spPr>
          <a:xfrm>
            <a:off x="6729791" y="7096599"/>
            <a:ext cx="2204172" cy="275699"/>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Supervisor</a:t>
            </a:r>
          </a:p>
        </p:txBody>
      </p:sp>
      <p:sp>
        <p:nvSpPr>
          <p:cNvPr id="97" name="TextBox 97"/>
          <p:cNvSpPr txBox="1"/>
          <p:nvPr/>
        </p:nvSpPr>
        <p:spPr>
          <a:xfrm>
            <a:off x="6729791" y="7404927"/>
            <a:ext cx="2204172" cy="778516"/>
          </a:xfrm>
          <a:prstGeom prst="rect">
            <a:avLst/>
          </a:prstGeom>
        </p:spPr>
        <p:txBody>
          <a:bodyPr lIns="0" tIns="0" rIns="0" bIns="0" rtlCol="0" anchor="t">
            <a:spAutoFit/>
          </a:bodyPr>
          <a:lstStyle/>
          <a:p>
            <a:pPr algn="l">
              <a:lnSpc>
                <a:spcPts val="1919"/>
              </a:lnSpc>
            </a:pPr>
            <a:r>
              <a:rPr lang="en-US" sz="1269">
                <a:solidFill>
                  <a:srgbClr val="526664"/>
                </a:solidFill>
                <a:latin typeface="Arial"/>
                <a:ea typeface="Arial"/>
                <a:cs typeface="Arial"/>
                <a:sym typeface="Arial"/>
              </a:rPr>
              <a:t>Independent validation, confidence flag, escalation priority.</a:t>
            </a:r>
          </a:p>
        </p:txBody>
      </p:sp>
      <p:sp>
        <p:nvSpPr>
          <p:cNvPr id="98" name="TextBox 98"/>
          <p:cNvSpPr txBox="1"/>
          <p:nvPr/>
        </p:nvSpPr>
        <p:spPr>
          <a:xfrm>
            <a:off x="6729791" y="8873097"/>
            <a:ext cx="1302901" cy="161925"/>
          </a:xfrm>
          <a:prstGeom prst="rect">
            <a:avLst/>
          </a:prstGeom>
        </p:spPr>
        <p:txBody>
          <a:bodyPr lIns="0" tIns="0" rIns="0" bIns="0" rtlCol="0" anchor="t">
            <a:spAutoFit/>
          </a:bodyPr>
          <a:lstStyle/>
          <a:p>
            <a:pPr algn="l">
              <a:lnSpc>
                <a:spcPts val="1246"/>
              </a:lnSpc>
            </a:pPr>
            <a:r>
              <a:rPr lang="en-US" sz="1038" b="1" spc="44">
                <a:solidFill>
                  <a:srgbClr val="526664"/>
                </a:solidFill>
                <a:latin typeface="Arial Bold"/>
                <a:ea typeface="Arial Bold"/>
                <a:cs typeface="Arial Bold"/>
                <a:sym typeface="Arial Bold"/>
              </a:rPr>
              <a:t>CONFIDENCE 0–100</a:t>
            </a:r>
          </a:p>
        </p:txBody>
      </p:sp>
      <p:sp>
        <p:nvSpPr>
          <p:cNvPr id="99" name="TextBox 99"/>
          <p:cNvSpPr txBox="1"/>
          <p:nvPr/>
        </p:nvSpPr>
        <p:spPr>
          <a:xfrm>
            <a:off x="6725441" y="4049815"/>
            <a:ext cx="868171" cy="199635"/>
          </a:xfrm>
          <a:prstGeom prst="rect">
            <a:avLst/>
          </a:prstGeom>
        </p:spPr>
        <p:txBody>
          <a:bodyPr lIns="0" tIns="0" rIns="0" bIns="0" rtlCol="0" anchor="t">
            <a:spAutoFit/>
          </a:bodyPr>
          <a:lstStyle/>
          <a:p>
            <a:pPr algn="l">
              <a:lnSpc>
                <a:spcPts val="1496"/>
              </a:lnSpc>
            </a:pPr>
            <a:r>
              <a:rPr lang="en-US" sz="1247" b="1" spc="99">
                <a:solidFill>
                  <a:srgbClr val="EA580C"/>
                </a:solidFill>
                <a:latin typeface="Arial Bold"/>
                <a:ea typeface="Arial Bold"/>
                <a:cs typeface="Arial Bold"/>
                <a:sym typeface="Arial Bold"/>
              </a:rPr>
              <a:t>AGENT 03</a:t>
            </a:r>
          </a:p>
        </p:txBody>
      </p:sp>
      <p:sp>
        <p:nvSpPr>
          <p:cNvPr id="100" name="TextBox 100"/>
          <p:cNvSpPr txBox="1"/>
          <p:nvPr/>
        </p:nvSpPr>
        <p:spPr>
          <a:xfrm>
            <a:off x="6726258" y="4325986"/>
            <a:ext cx="2272564" cy="541854"/>
          </a:xfrm>
          <a:prstGeom prst="rect">
            <a:avLst/>
          </a:prstGeom>
        </p:spPr>
        <p:txBody>
          <a:bodyPr lIns="0" tIns="0" rIns="0" bIns="0" rtlCol="0" anchor="t">
            <a:spAutoFit/>
          </a:bodyPr>
          <a:lstStyle/>
          <a:p>
            <a:pPr algn="l">
              <a:lnSpc>
                <a:spcPts val="2095"/>
              </a:lnSpc>
            </a:pPr>
            <a:r>
              <a:rPr lang="en-US" sz="1746" b="1" spc="-17">
                <a:solidFill>
                  <a:srgbClr val="0B1F23"/>
                </a:solidFill>
                <a:latin typeface="Arial Bold"/>
                <a:ea typeface="Arial Bold"/>
                <a:cs typeface="Arial Bold"/>
                <a:sym typeface="Arial Bold"/>
              </a:rPr>
              <a:t>Visual Evidence Optional </a:t>
            </a:r>
          </a:p>
        </p:txBody>
      </p:sp>
      <p:sp>
        <p:nvSpPr>
          <p:cNvPr id="101" name="TextBox 101"/>
          <p:cNvSpPr txBox="1"/>
          <p:nvPr/>
        </p:nvSpPr>
        <p:spPr>
          <a:xfrm>
            <a:off x="6726258" y="4883486"/>
            <a:ext cx="2204172" cy="482132"/>
          </a:xfrm>
          <a:prstGeom prst="rect">
            <a:avLst/>
          </a:prstGeom>
        </p:spPr>
        <p:txBody>
          <a:bodyPr lIns="0" tIns="0" rIns="0" bIns="0" rtlCol="0" anchor="t">
            <a:spAutoFit/>
          </a:bodyPr>
          <a:lstStyle/>
          <a:p>
            <a:pPr algn="l">
              <a:lnSpc>
                <a:spcPts val="1919"/>
              </a:lnSpc>
            </a:pPr>
            <a:r>
              <a:rPr lang="en-US" sz="1269">
                <a:solidFill>
                  <a:srgbClr val="526664"/>
                </a:solidFill>
                <a:latin typeface="Arial"/>
                <a:ea typeface="Arial"/>
                <a:cs typeface="Arial"/>
                <a:sym typeface="Arial"/>
              </a:rPr>
              <a:t>Extracts and summarises visual findings if present </a:t>
            </a:r>
          </a:p>
        </p:txBody>
      </p:sp>
      <p:sp>
        <p:nvSpPr>
          <p:cNvPr id="102" name="TextBox 102"/>
          <p:cNvSpPr txBox="1"/>
          <p:nvPr/>
        </p:nvSpPr>
        <p:spPr>
          <a:xfrm>
            <a:off x="6725441" y="6105122"/>
            <a:ext cx="1462921" cy="161925"/>
          </a:xfrm>
          <a:prstGeom prst="rect">
            <a:avLst/>
          </a:prstGeom>
        </p:spPr>
        <p:txBody>
          <a:bodyPr lIns="0" tIns="0" rIns="0" bIns="0" rtlCol="0" anchor="t">
            <a:spAutoFit/>
          </a:bodyPr>
          <a:lstStyle/>
          <a:p>
            <a:pPr algn="l">
              <a:lnSpc>
                <a:spcPts val="1246"/>
              </a:lnSpc>
            </a:pPr>
            <a:r>
              <a:rPr lang="en-US" sz="1038" b="1" spc="44">
                <a:solidFill>
                  <a:srgbClr val="526664"/>
                </a:solidFill>
                <a:latin typeface="Arial Bold"/>
                <a:ea typeface="Arial Bold"/>
                <a:cs typeface="Arial Bold"/>
                <a:sym typeface="Arial Bold"/>
              </a:rPr>
              <a:t>IMAGE / SKIP IF NONE</a:t>
            </a:r>
          </a:p>
        </p:txBody>
      </p:sp>
      <p:sp>
        <p:nvSpPr>
          <p:cNvPr id="103" name="TextBox 103"/>
          <p:cNvSpPr txBox="1"/>
          <p:nvPr/>
        </p:nvSpPr>
        <p:spPr>
          <a:xfrm>
            <a:off x="15439073" y="802005"/>
            <a:ext cx="1758791"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05 / 12 · PIPELINE</a:t>
            </a:r>
          </a:p>
        </p:txBody>
      </p:sp>
      <p:sp>
        <p:nvSpPr>
          <p:cNvPr id="104" name="TextBox 104"/>
          <p:cNvSpPr txBox="1"/>
          <p:nvPr/>
        </p:nvSpPr>
        <p:spPr>
          <a:xfrm>
            <a:off x="977903" y="1730378"/>
            <a:ext cx="12546291" cy="27432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AGENTIC WORKFLOW</a:t>
            </a:r>
          </a:p>
        </p:txBody>
      </p:sp>
      <p:sp>
        <p:nvSpPr>
          <p:cNvPr id="105" name="TextBox 105"/>
          <p:cNvSpPr txBox="1"/>
          <p:nvPr/>
        </p:nvSpPr>
        <p:spPr>
          <a:xfrm>
            <a:off x="952500" y="2109473"/>
            <a:ext cx="7563803" cy="7009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Six agents. One audit trail.</a:t>
            </a:r>
          </a:p>
        </p:txBody>
      </p:sp>
      <p:sp>
        <p:nvSpPr>
          <p:cNvPr id="106" name="TextBox 106"/>
          <p:cNvSpPr txBox="1"/>
          <p:nvPr/>
        </p:nvSpPr>
        <p:spPr>
          <a:xfrm>
            <a:off x="981864" y="2800866"/>
            <a:ext cx="8411847" cy="818784"/>
          </a:xfrm>
          <a:prstGeom prst="rect">
            <a:avLst/>
          </a:prstGeom>
        </p:spPr>
        <p:txBody>
          <a:bodyPr lIns="0" tIns="0" rIns="0" bIns="0" rtlCol="0" anchor="t">
            <a:spAutoFit/>
          </a:bodyPr>
          <a:lstStyle/>
          <a:p>
            <a:pPr algn="l">
              <a:lnSpc>
                <a:spcPts val="3283"/>
              </a:lnSpc>
            </a:pPr>
            <a:r>
              <a:rPr lang="en-US" sz="2358">
                <a:solidFill>
                  <a:srgbClr val="526664"/>
                </a:solidFill>
                <a:latin typeface="Arial"/>
                <a:ea typeface="Arial"/>
                <a:cs typeface="Arial"/>
                <a:sym typeface="Arial"/>
              </a:rPr>
              <a:t>Each agent has a typed contract, a measured latency, and a token bill. Nothing is hidden behind one big prompt.</a:t>
            </a:r>
          </a:p>
        </p:txBody>
      </p:sp>
      <p:sp>
        <p:nvSpPr>
          <p:cNvPr id="107" name="TextBox 107"/>
          <p:cNvSpPr txBox="1"/>
          <p:nvPr/>
        </p:nvSpPr>
        <p:spPr>
          <a:xfrm>
            <a:off x="952500" y="9403080"/>
            <a:ext cx="16823693" cy="229867"/>
          </a:xfrm>
          <a:prstGeom prst="rect">
            <a:avLst/>
          </a:prstGeom>
        </p:spPr>
        <p:txBody>
          <a:bodyPr lIns="0" tIns="0" rIns="0" bIns="0" rtlCol="0" anchor="t">
            <a:spAutoFit/>
          </a:bodyPr>
          <a:lstStyle/>
          <a:p>
            <a:pPr algn="l">
              <a:lnSpc>
                <a:spcPts val="1800"/>
              </a:lnSpc>
            </a:pPr>
            <a:r>
              <a:rPr lang="en-US" sz="1500">
                <a:solidFill>
                  <a:srgbClr val="FFFFFF"/>
                </a:solidFill>
                <a:latin typeface="Arial"/>
                <a:ea typeface="Arial"/>
                <a:cs typeface="Arial"/>
                <a:sym typeface="Arial"/>
              </a:rPr>
              <a:t>EVERY EVENT LOGGED · PER-AGENT LATENCY &amp; TOKENS · TYPED PYDANTIC I/O · JSON-MODE LLM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sp>
        <p:nvSpPr>
          <p:cNvPr id="5" name="TextBox 5"/>
          <p:cNvSpPr txBox="1"/>
          <p:nvPr/>
        </p:nvSpPr>
        <p:spPr>
          <a:xfrm>
            <a:off x="14707552" y="802005"/>
            <a:ext cx="2409468"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06 / 12 · ARCHITECTURE</a:t>
            </a:r>
          </a:p>
        </p:txBody>
      </p:sp>
      <p:sp>
        <p:nvSpPr>
          <p:cNvPr id="6" name="TextBox 6"/>
          <p:cNvSpPr txBox="1"/>
          <p:nvPr/>
        </p:nvSpPr>
        <p:spPr>
          <a:xfrm>
            <a:off x="977903" y="1720853"/>
            <a:ext cx="16823693"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PRODUCTION ARCHITECTURE &amp; DEPLOYMENT</a:t>
            </a:r>
          </a:p>
        </p:txBody>
      </p:sp>
      <p:sp>
        <p:nvSpPr>
          <p:cNvPr id="7" name="TextBox 7"/>
          <p:cNvSpPr txBox="1"/>
          <p:nvPr/>
        </p:nvSpPr>
        <p:spPr>
          <a:xfrm>
            <a:off x="977903" y="2314575"/>
            <a:ext cx="16823693" cy="6407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Boring stack. Honest seams.</a:t>
            </a:r>
          </a:p>
        </p:txBody>
      </p:sp>
      <p:grpSp>
        <p:nvGrpSpPr>
          <p:cNvPr id="8" name="Group 8"/>
          <p:cNvGrpSpPr/>
          <p:nvPr/>
        </p:nvGrpSpPr>
        <p:grpSpPr>
          <a:xfrm>
            <a:off x="949004" y="3472501"/>
            <a:ext cx="16389982" cy="4168778"/>
            <a:chOff x="0" y="0"/>
            <a:chExt cx="21853309" cy="5558371"/>
          </a:xfrm>
        </p:grpSpPr>
        <p:sp>
          <p:nvSpPr>
            <p:cNvPr id="9" name="Freeform 9"/>
            <p:cNvSpPr/>
            <p:nvPr/>
          </p:nvSpPr>
          <p:spPr>
            <a:xfrm>
              <a:off x="4699" y="4699"/>
              <a:ext cx="21844000" cy="5549011"/>
            </a:xfrm>
            <a:custGeom>
              <a:avLst/>
              <a:gdLst/>
              <a:ahLst/>
              <a:cxnLst/>
              <a:rect l="l" t="t" r="r" b="b"/>
              <a:pathLst>
                <a:path w="21844000" h="5549011">
                  <a:moveTo>
                    <a:pt x="0" y="0"/>
                  </a:moveTo>
                  <a:lnTo>
                    <a:pt x="21844000" y="0"/>
                  </a:lnTo>
                  <a:lnTo>
                    <a:pt x="21844000" y="5549011"/>
                  </a:lnTo>
                  <a:lnTo>
                    <a:pt x="0" y="5549011"/>
                  </a:lnTo>
                  <a:close/>
                </a:path>
              </a:pathLst>
            </a:custGeom>
            <a:solidFill>
              <a:srgbClr val="FFFFFF"/>
            </a:solidFill>
          </p:spPr>
          <p:txBody>
            <a:bodyPr/>
            <a:lstStyle/>
            <a:p>
              <a:endParaRPr lang="en-US"/>
            </a:p>
          </p:txBody>
        </p:sp>
        <p:sp>
          <p:nvSpPr>
            <p:cNvPr id="10" name="Freeform 10"/>
            <p:cNvSpPr/>
            <p:nvPr/>
          </p:nvSpPr>
          <p:spPr>
            <a:xfrm>
              <a:off x="0" y="0"/>
              <a:ext cx="21853398" cy="5558409"/>
            </a:xfrm>
            <a:custGeom>
              <a:avLst/>
              <a:gdLst/>
              <a:ahLst/>
              <a:cxnLst/>
              <a:rect l="l" t="t" r="r" b="b"/>
              <a:pathLst>
                <a:path w="21853398" h="5558409">
                  <a:moveTo>
                    <a:pt x="4699" y="0"/>
                  </a:moveTo>
                  <a:lnTo>
                    <a:pt x="21848699" y="0"/>
                  </a:lnTo>
                  <a:cubicBezTo>
                    <a:pt x="21851240" y="0"/>
                    <a:pt x="21853398" y="2032"/>
                    <a:pt x="21853398" y="4699"/>
                  </a:cubicBezTo>
                  <a:lnTo>
                    <a:pt x="21853398" y="5553710"/>
                  </a:lnTo>
                  <a:cubicBezTo>
                    <a:pt x="21853398" y="5556250"/>
                    <a:pt x="21851365" y="5558409"/>
                    <a:pt x="21848699" y="5558409"/>
                  </a:cubicBezTo>
                  <a:lnTo>
                    <a:pt x="4699" y="5558409"/>
                  </a:lnTo>
                  <a:cubicBezTo>
                    <a:pt x="2159" y="5558409"/>
                    <a:pt x="0" y="5556377"/>
                    <a:pt x="0" y="5553710"/>
                  </a:cubicBezTo>
                  <a:lnTo>
                    <a:pt x="0" y="4699"/>
                  </a:lnTo>
                  <a:cubicBezTo>
                    <a:pt x="0" y="2032"/>
                    <a:pt x="2032" y="0"/>
                    <a:pt x="4699" y="0"/>
                  </a:cubicBezTo>
                  <a:moveTo>
                    <a:pt x="4699" y="9271"/>
                  </a:moveTo>
                  <a:lnTo>
                    <a:pt x="4699" y="4699"/>
                  </a:lnTo>
                  <a:lnTo>
                    <a:pt x="9271" y="4699"/>
                  </a:lnTo>
                  <a:lnTo>
                    <a:pt x="9271" y="5553710"/>
                  </a:lnTo>
                  <a:lnTo>
                    <a:pt x="4699" y="5553710"/>
                  </a:lnTo>
                  <a:lnTo>
                    <a:pt x="4699" y="5549011"/>
                  </a:lnTo>
                  <a:lnTo>
                    <a:pt x="21848699" y="5549011"/>
                  </a:lnTo>
                  <a:lnTo>
                    <a:pt x="21848699" y="5553710"/>
                  </a:lnTo>
                  <a:lnTo>
                    <a:pt x="21844000" y="5553710"/>
                  </a:lnTo>
                  <a:lnTo>
                    <a:pt x="21844000" y="4699"/>
                  </a:lnTo>
                  <a:lnTo>
                    <a:pt x="21848699" y="4699"/>
                  </a:lnTo>
                  <a:lnTo>
                    <a:pt x="21848699" y="9271"/>
                  </a:lnTo>
                  <a:lnTo>
                    <a:pt x="4699" y="9271"/>
                  </a:lnTo>
                  <a:close/>
                </a:path>
              </a:pathLst>
            </a:custGeom>
            <a:solidFill>
              <a:srgbClr val="D9E5E1"/>
            </a:solidFill>
          </p:spPr>
          <p:txBody>
            <a:bodyPr/>
            <a:lstStyle/>
            <a:p>
              <a:endParaRPr lang="en-US"/>
            </a:p>
          </p:txBody>
        </p:sp>
      </p:grpSp>
      <p:grpSp>
        <p:nvGrpSpPr>
          <p:cNvPr id="11" name="Group 11"/>
          <p:cNvGrpSpPr/>
          <p:nvPr/>
        </p:nvGrpSpPr>
        <p:grpSpPr>
          <a:xfrm>
            <a:off x="959482" y="5549903"/>
            <a:ext cx="5456396" cy="9525"/>
            <a:chOff x="0" y="0"/>
            <a:chExt cx="7275195" cy="12700"/>
          </a:xfrm>
        </p:grpSpPr>
        <p:sp>
          <p:nvSpPr>
            <p:cNvPr id="12" name="Freeform 12"/>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grpSp>
        <p:nvGrpSpPr>
          <p:cNvPr id="13" name="Group 13"/>
          <p:cNvGrpSpPr/>
          <p:nvPr/>
        </p:nvGrpSpPr>
        <p:grpSpPr>
          <a:xfrm>
            <a:off x="6408896" y="3482978"/>
            <a:ext cx="9525" cy="2073907"/>
            <a:chOff x="0" y="0"/>
            <a:chExt cx="12700" cy="2765209"/>
          </a:xfrm>
        </p:grpSpPr>
        <p:sp>
          <p:nvSpPr>
            <p:cNvPr id="14" name="Freeform 14"/>
            <p:cNvSpPr/>
            <p:nvPr/>
          </p:nvSpPr>
          <p:spPr>
            <a:xfrm>
              <a:off x="0" y="0"/>
              <a:ext cx="12700" cy="2765171"/>
            </a:xfrm>
            <a:custGeom>
              <a:avLst/>
              <a:gdLst/>
              <a:ahLst/>
              <a:cxnLst/>
              <a:rect l="l" t="t" r="r" b="b"/>
              <a:pathLst>
                <a:path w="12700" h="2765171">
                  <a:moveTo>
                    <a:pt x="0" y="0"/>
                  </a:moveTo>
                  <a:lnTo>
                    <a:pt x="12700" y="0"/>
                  </a:lnTo>
                  <a:lnTo>
                    <a:pt x="12700" y="2765171"/>
                  </a:lnTo>
                  <a:lnTo>
                    <a:pt x="0" y="2765171"/>
                  </a:lnTo>
                  <a:close/>
                </a:path>
              </a:pathLst>
            </a:custGeom>
            <a:solidFill>
              <a:srgbClr val="D9E5E1"/>
            </a:solidFill>
          </p:spPr>
          <p:txBody>
            <a:bodyPr/>
            <a:lstStyle/>
            <a:p>
              <a:endParaRPr lang="en-US"/>
            </a:p>
          </p:txBody>
        </p:sp>
      </p:grpSp>
      <p:sp>
        <p:nvSpPr>
          <p:cNvPr id="15" name="TextBox 15"/>
          <p:cNvSpPr txBox="1"/>
          <p:nvPr/>
        </p:nvSpPr>
        <p:spPr>
          <a:xfrm>
            <a:off x="1289685" y="3841747"/>
            <a:ext cx="4934207"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FRONTEND</a:t>
            </a:r>
          </a:p>
        </p:txBody>
      </p:sp>
      <p:sp>
        <p:nvSpPr>
          <p:cNvPr id="16" name="TextBox 16"/>
          <p:cNvSpPr txBox="1"/>
          <p:nvPr/>
        </p:nvSpPr>
        <p:spPr>
          <a:xfrm>
            <a:off x="1289685" y="4142108"/>
            <a:ext cx="4934207"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React 18 UMD</a:t>
            </a:r>
          </a:p>
        </p:txBody>
      </p:sp>
      <p:sp>
        <p:nvSpPr>
          <p:cNvPr id="17" name="TextBox 17"/>
          <p:cNvSpPr txBox="1"/>
          <p:nvPr/>
        </p:nvSpPr>
        <p:spPr>
          <a:xfrm>
            <a:off x="1289685" y="4558027"/>
            <a:ext cx="4934207" cy="291007"/>
          </a:xfrm>
          <a:prstGeom prst="rect">
            <a:avLst/>
          </a:prstGeom>
        </p:spPr>
        <p:txBody>
          <a:bodyPr lIns="0" tIns="0" rIns="0" bIns="0" rtlCol="0" anchor="t">
            <a:spAutoFit/>
          </a:bodyPr>
          <a:lstStyle/>
          <a:p>
            <a:pPr algn="l">
              <a:lnSpc>
                <a:spcPts val="2390"/>
              </a:lnSpc>
            </a:pPr>
            <a:r>
              <a:rPr lang="en-US" sz="1526">
                <a:solidFill>
                  <a:srgbClr val="526664"/>
                </a:solidFill>
                <a:latin typeface="Arial"/>
                <a:ea typeface="Arial"/>
                <a:cs typeface="Arial"/>
                <a:sym typeface="Arial"/>
              </a:rPr>
              <a:t>No build step · hosted on Vercel</a:t>
            </a:r>
          </a:p>
        </p:txBody>
      </p:sp>
      <p:grpSp>
        <p:nvGrpSpPr>
          <p:cNvPr id="18" name="Group 18"/>
          <p:cNvGrpSpPr/>
          <p:nvPr/>
        </p:nvGrpSpPr>
        <p:grpSpPr>
          <a:xfrm>
            <a:off x="6415878" y="5549903"/>
            <a:ext cx="5456396" cy="9525"/>
            <a:chOff x="0" y="0"/>
            <a:chExt cx="7275195" cy="12700"/>
          </a:xfrm>
        </p:grpSpPr>
        <p:sp>
          <p:nvSpPr>
            <p:cNvPr id="19" name="Freeform 19"/>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grpSp>
        <p:nvGrpSpPr>
          <p:cNvPr id="20" name="Group 20"/>
          <p:cNvGrpSpPr/>
          <p:nvPr/>
        </p:nvGrpSpPr>
        <p:grpSpPr>
          <a:xfrm>
            <a:off x="11865293" y="3482978"/>
            <a:ext cx="9525" cy="2073907"/>
            <a:chOff x="0" y="0"/>
            <a:chExt cx="12700" cy="2765209"/>
          </a:xfrm>
        </p:grpSpPr>
        <p:sp>
          <p:nvSpPr>
            <p:cNvPr id="21" name="Freeform 21"/>
            <p:cNvSpPr/>
            <p:nvPr/>
          </p:nvSpPr>
          <p:spPr>
            <a:xfrm>
              <a:off x="0" y="0"/>
              <a:ext cx="12700" cy="2765171"/>
            </a:xfrm>
            <a:custGeom>
              <a:avLst/>
              <a:gdLst/>
              <a:ahLst/>
              <a:cxnLst/>
              <a:rect l="l" t="t" r="r" b="b"/>
              <a:pathLst>
                <a:path w="12700" h="2765171">
                  <a:moveTo>
                    <a:pt x="0" y="0"/>
                  </a:moveTo>
                  <a:lnTo>
                    <a:pt x="12700" y="0"/>
                  </a:lnTo>
                  <a:lnTo>
                    <a:pt x="12700" y="2765171"/>
                  </a:lnTo>
                  <a:lnTo>
                    <a:pt x="0" y="2765171"/>
                  </a:lnTo>
                  <a:close/>
                </a:path>
              </a:pathLst>
            </a:custGeom>
            <a:solidFill>
              <a:srgbClr val="D9E5E1"/>
            </a:solidFill>
          </p:spPr>
          <p:txBody>
            <a:bodyPr/>
            <a:lstStyle/>
            <a:p>
              <a:endParaRPr lang="en-US"/>
            </a:p>
          </p:txBody>
        </p:sp>
      </p:grpSp>
      <p:sp>
        <p:nvSpPr>
          <p:cNvPr id="22" name="TextBox 22"/>
          <p:cNvSpPr txBox="1"/>
          <p:nvPr/>
        </p:nvSpPr>
        <p:spPr>
          <a:xfrm>
            <a:off x="6746081" y="3841747"/>
            <a:ext cx="4934207"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BACKEND</a:t>
            </a:r>
          </a:p>
        </p:txBody>
      </p:sp>
      <p:sp>
        <p:nvSpPr>
          <p:cNvPr id="23" name="TextBox 23"/>
          <p:cNvSpPr txBox="1"/>
          <p:nvPr/>
        </p:nvSpPr>
        <p:spPr>
          <a:xfrm>
            <a:off x="6746081" y="4142108"/>
            <a:ext cx="4934207"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FastAPI · Python 3.13</a:t>
            </a:r>
          </a:p>
        </p:txBody>
      </p:sp>
      <p:sp>
        <p:nvSpPr>
          <p:cNvPr id="24" name="TextBox 24"/>
          <p:cNvSpPr txBox="1"/>
          <p:nvPr/>
        </p:nvSpPr>
        <p:spPr>
          <a:xfrm>
            <a:off x="6746081" y="4558027"/>
            <a:ext cx="4934207" cy="661673"/>
          </a:xfrm>
          <a:prstGeom prst="rect">
            <a:avLst/>
          </a:prstGeom>
        </p:spPr>
        <p:txBody>
          <a:bodyPr lIns="0" tIns="0" rIns="0" bIns="0" rtlCol="0" anchor="t">
            <a:spAutoFit/>
          </a:bodyPr>
          <a:lstStyle/>
          <a:p>
            <a:pPr algn="l">
              <a:lnSpc>
                <a:spcPts val="2390"/>
              </a:lnSpc>
            </a:pPr>
            <a:r>
              <a:rPr lang="en-US" sz="1526">
                <a:solidFill>
                  <a:srgbClr val="526664"/>
                </a:solidFill>
                <a:latin typeface="Arial"/>
                <a:ea typeface="Arial"/>
                <a:cs typeface="Arial"/>
                <a:sym typeface="Arial"/>
              </a:rPr>
              <a:t>Uvicorn · Pydantic v2 · SSE event stream · hosted on Render</a:t>
            </a:r>
          </a:p>
        </p:txBody>
      </p:sp>
      <p:grpSp>
        <p:nvGrpSpPr>
          <p:cNvPr id="25" name="Group 25"/>
          <p:cNvGrpSpPr/>
          <p:nvPr/>
        </p:nvGrpSpPr>
        <p:grpSpPr>
          <a:xfrm>
            <a:off x="11872274" y="5549903"/>
            <a:ext cx="5456396" cy="9525"/>
            <a:chOff x="0" y="0"/>
            <a:chExt cx="7275195" cy="12700"/>
          </a:xfrm>
        </p:grpSpPr>
        <p:sp>
          <p:nvSpPr>
            <p:cNvPr id="26" name="Freeform 26"/>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sp>
        <p:nvSpPr>
          <p:cNvPr id="27" name="TextBox 27"/>
          <p:cNvSpPr txBox="1"/>
          <p:nvPr/>
        </p:nvSpPr>
        <p:spPr>
          <a:xfrm>
            <a:off x="12202478" y="3841747"/>
            <a:ext cx="4941399"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LLM ENGINE</a:t>
            </a:r>
          </a:p>
        </p:txBody>
      </p:sp>
      <p:sp>
        <p:nvSpPr>
          <p:cNvPr id="28" name="TextBox 28"/>
          <p:cNvSpPr txBox="1"/>
          <p:nvPr/>
        </p:nvSpPr>
        <p:spPr>
          <a:xfrm>
            <a:off x="12202478" y="4142108"/>
            <a:ext cx="4941399"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Provider-agnostic</a:t>
            </a:r>
          </a:p>
        </p:txBody>
      </p:sp>
      <p:sp>
        <p:nvSpPr>
          <p:cNvPr id="29" name="TextBox 29"/>
          <p:cNvSpPr txBox="1"/>
          <p:nvPr/>
        </p:nvSpPr>
        <p:spPr>
          <a:xfrm>
            <a:off x="12202478" y="4558027"/>
            <a:ext cx="4941399" cy="661673"/>
          </a:xfrm>
          <a:prstGeom prst="rect">
            <a:avLst/>
          </a:prstGeom>
        </p:spPr>
        <p:txBody>
          <a:bodyPr lIns="0" tIns="0" rIns="0" bIns="0" rtlCol="0" anchor="t">
            <a:spAutoFit/>
          </a:bodyPr>
          <a:lstStyle/>
          <a:p>
            <a:pPr algn="l">
              <a:lnSpc>
                <a:spcPts val="2390"/>
              </a:lnSpc>
            </a:pPr>
            <a:r>
              <a:rPr lang="en-US" sz="1526">
                <a:solidFill>
                  <a:srgbClr val="526664"/>
                </a:solidFill>
                <a:latin typeface="Arial"/>
                <a:ea typeface="Arial"/>
                <a:cs typeface="Arial"/>
                <a:sym typeface="Arial"/>
              </a:rPr>
              <a:t>Groq today · GLM / z.ai next · OpenAI-compatible client · JSON mode + KV fallback</a:t>
            </a:r>
          </a:p>
        </p:txBody>
      </p:sp>
      <p:grpSp>
        <p:nvGrpSpPr>
          <p:cNvPr id="30" name="Group 30"/>
          <p:cNvGrpSpPr/>
          <p:nvPr/>
        </p:nvGrpSpPr>
        <p:grpSpPr>
          <a:xfrm>
            <a:off x="959482" y="7623810"/>
            <a:ext cx="5456396" cy="9525"/>
            <a:chOff x="0" y="0"/>
            <a:chExt cx="7275195" cy="12700"/>
          </a:xfrm>
        </p:grpSpPr>
        <p:sp>
          <p:nvSpPr>
            <p:cNvPr id="31" name="Freeform 31"/>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grpSp>
        <p:nvGrpSpPr>
          <p:cNvPr id="32" name="Group 32"/>
          <p:cNvGrpSpPr/>
          <p:nvPr/>
        </p:nvGrpSpPr>
        <p:grpSpPr>
          <a:xfrm>
            <a:off x="6408896" y="5556885"/>
            <a:ext cx="9525" cy="2073907"/>
            <a:chOff x="0" y="0"/>
            <a:chExt cx="12700" cy="2765209"/>
          </a:xfrm>
        </p:grpSpPr>
        <p:sp>
          <p:nvSpPr>
            <p:cNvPr id="33" name="Freeform 33"/>
            <p:cNvSpPr/>
            <p:nvPr/>
          </p:nvSpPr>
          <p:spPr>
            <a:xfrm>
              <a:off x="0" y="0"/>
              <a:ext cx="12700" cy="2765171"/>
            </a:xfrm>
            <a:custGeom>
              <a:avLst/>
              <a:gdLst/>
              <a:ahLst/>
              <a:cxnLst/>
              <a:rect l="l" t="t" r="r" b="b"/>
              <a:pathLst>
                <a:path w="12700" h="2765171">
                  <a:moveTo>
                    <a:pt x="0" y="0"/>
                  </a:moveTo>
                  <a:lnTo>
                    <a:pt x="12700" y="0"/>
                  </a:lnTo>
                  <a:lnTo>
                    <a:pt x="12700" y="2765171"/>
                  </a:lnTo>
                  <a:lnTo>
                    <a:pt x="0" y="2765171"/>
                  </a:lnTo>
                  <a:close/>
                </a:path>
              </a:pathLst>
            </a:custGeom>
            <a:solidFill>
              <a:srgbClr val="D9E5E1"/>
            </a:solidFill>
          </p:spPr>
          <p:txBody>
            <a:bodyPr/>
            <a:lstStyle/>
            <a:p>
              <a:endParaRPr lang="en-US"/>
            </a:p>
          </p:txBody>
        </p:sp>
      </p:grpSp>
      <p:sp>
        <p:nvSpPr>
          <p:cNvPr id="34" name="TextBox 34"/>
          <p:cNvSpPr txBox="1"/>
          <p:nvPr/>
        </p:nvSpPr>
        <p:spPr>
          <a:xfrm>
            <a:off x="1289685" y="5915663"/>
            <a:ext cx="4934207"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STORAGE</a:t>
            </a:r>
          </a:p>
        </p:txBody>
      </p:sp>
      <p:sp>
        <p:nvSpPr>
          <p:cNvPr id="35" name="TextBox 35"/>
          <p:cNvSpPr txBox="1"/>
          <p:nvPr/>
        </p:nvSpPr>
        <p:spPr>
          <a:xfrm>
            <a:off x="1289685" y="6216015"/>
            <a:ext cx="4934207"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JSON flat-file (MVP)</a:t>
            </a:r>
          </a:p>
        </p:txBody>
      </p:sp>
      <p:sp>
        <p:nvSpPr>
          <p:cNvPr id="36" name="TextBox 36"/>
          <p:cNvSpPr txBox="1"/>
          <p:nvPr/>
        </p:nvSpPr>
        <p:spPr>
          <a:xfrm>
            <a:off x="1289685" y="6631943"/>
            <a:ext cx="4934207" cy="661673"/>
          </a:xfrm>
          <a:prstGeom prst="rect">
            <a:avLst/>
          </a:prstGeom>
        </p:spPr>
        <p:txBody>
          <a:bodyPr lIns="0" tIns="0" rIns="0" bIns="0" rtlCol="0" anchor="t">
            <a:spAutoFit/>
          </a:bodyPr>
          <a:lstStyle/>
          <a:p>
            <a:pPr algn="l">
              <a:lnSpc>
                <a:spcPts val="2390"/>
              </a:lnSpc>
            </a:pPr>
            <a:r>
              <a:rPr lang="en-US" sz="1526">
                <a:solidFill>
                  <a:srgbClr val="526664"/>
                </a:solidFill>
                <a:latin typeface="Arial"/>
                <a:ea typeface="Arial"/>
                <a:cs typeface="Arial"/>
                <a:sym typeface="Arial"/>
              </a:rPr>
              <a:t>FIFO cap of 5 complaints · documented Postgres migration path in SAD</a:t>
            </a:r>
          </a:p>
        </p:txBody>
      </p:sp>
      <p:grpSp>
        <p:nvGrpSpPr>
          <p:cNvPr id="37" name="Group 37"/>
          <p:cNvGrpSpPr/>
          <p:nvPr/>
        </p:nvGrpSpPr>
        <p:grpSpPr>
          <a:xfrm>
            <a:off x="6415878" y="7623810"/>
            <a:ext cx="5456396" cy="9525"/>
            <a:chOff x="0" y="0"/>
            <a:chExt cx="7275195" cy="12700"/>
          </a:xfrm>
        </p:grpSpPr>
        <p:sp>
          <p:nvSpPr>
            <p:cNvPr id="38" name="Freeform 38"/>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grpSp>
        <p:nvGrpSpPr>
          <p:cNvPr id="39" name="Group 39"/>
          <p:cNvGrpSpPr/>
          <p:nvPr/>
        </p:nvGrpSpPr>
        <p:grpSpPr>
          <a:xfrm>
            <a:off x="11865293" y="5556885"/>
            <a:ext cx="9525" cy="2073907"/>
            <a:chOff x="0" y="0"/>
            <a:chExt cx="12700" cy="2765209"/>
          </a:xfrm>
        </p:grpSpPr>
        <p:sp>
          <p:nvSpPr>
            <p:cNvPr id="40" name="Freeform 40"/>
            <p:cNvSpPr/>
            <p:nvPr/>
          </p:nvSpPr>
          <p:spPr>
            <a:xfrm>
              <a:off x="0" y="0"/>
              <a:ext cx="12700" cy="2765171"/>
            </a:xfrm>
            <a:custGeom>
              <a:avLst/>
              <a:gdLst/>
              <a:ahLst/>
              <a:cxnLst/>
              <a:rect l="l" t="t" r="r" b="b"/>
              <a:pathLst>
                <a:path w="12700" h="2765171">
                  <a:moveTo>
                    <a:pt x="0" y="0"/>
                  </a:moveTo>
                  <a:lnTo>
                    <a:pt x="12700" y="0"/>
                  </a:lnTo>
                  <a:lnTo>
                    <a:pt x="12700" y="2765171"/>
                  </a:lnTo>
                  <a:lnTo>
                    <a:pt x="0" y="2765171"/>
                  </a:lnTo>
                  <a:close/>
                </a:path>
              </a:pathLst>
            </a:custGeom>
            <a:solidFill>
              <a:srgbClr val="D9E5E1"/>
            </a:solidFill>
          </p:spPr>
          <p:txBody>
            <a:bodyPr/>
            <a:lstStyle/>
            <a:p>
              <a:endParaRPr lang="en-US"/>
            </a:p>
          </p:txBody>
        </p:sp>
      </p:grpSp>
      <p:sp>
        <p:nvSpPr>
          <p:cNvPr id="41" name="TextBox 41"/>
          <p:cNvSpPr txBox="1"/>
          <p:nvPr/>
        </p:nvSpPr>
        <p:spPr>
          <a:xfrm>
            <a:off x="6746081" y="5915663"/>
            <a:ext cx="4934207"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CI / CD</a:t>
            </a:r>
          </a:p>
        </p:txBody>
      </p:sp>
      <p:sp>
        <p:nvSpPr>
          <p:cNvPr id="42" name="TextBox 42"/>
          <p:cNvSpPr txBox="1"/>
          <p:nvPr/>
        </p:nvSpPr>
        <p:spPr>
          <a:xfrm>
            <a:off x="6746081" y="6216015"/>
            <a:ext cx="4934207"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GitHub Actions</a:t>
            </a:r>
          </a:p>
        </p:txBody>
      </p:sp>
      <p:sp>
        <p:nvSpPr>
          <p:cNvPr id="43" name="TextBox 43"/>
          <p:cNvSpPr txBox="1"/>
          <p:nvPr/>
        </p:nvSpPr>
        <p:spPr>
          <a:xfrm>
            <a:off x="6746081" y="6603368"/>
            <a:ext cx="4934207" cy="690248"/>
          </a:xfrm>
          <a:prstGeom prst="rect">
            <a:avLst/>
          </a:prstGeom>
        </p:spPr>
        <p:txBody>
          <a:bodyPr lIns="0" tIns="0" rIns="0" bIns="0" rtlCol="0" anchor="t">
            <a:spAutoFit/>
          </a:bodyPr>
          <a:lstStyle/>
          <a:p>
            <a:pPr algn="l">
              <a:lnSpc>
                <a:spcPts val="2655"/>
              </a:lnSpc>
            </a:pPr>
            <a:r>
              <a:rPr lang="en-US" sz="1526">
                <a:solidFill>
                  <a:srgbClr val="526664"/>
                </a:solidFill>
                <a:latin typeface="Arial"/>
                <a:ea typeface="Arial"/>
                <a:cs typeface="Arial"/>
                <a:sym typeface="Arial"/>
              </a:rPr>
              <a:t>lint · test · security · runs on every push, PR, and dispatch</a:t>
            </a:r>
          </a:p>
        </p:txBody>
      </p:sp>
      <p:grpSp>
        <p:nvGrpSpPr>
          <p:cNvPr id="44" name="Group 44"/>
          <p:cNvGrpSpPr/>
          <p:nvPr/>
        </p:nvGrpSpPr>
        <p:grpSpPr>
          <a:xfrm>
            <a:off x="11872274" y="7623810"/>
            <a:ext cx="5456396" cy="9525"/>
            <a:chOff x="0" y="0"/>
            <a:chExt cx="7275195" cy="12700"/>
          </a:xfrm>
        </p:grpSpPr>
        <p:sp>
          <p:nvSpPr>
            <p:cNvPr id="45" name="Freeform 45"/>
            <p:cNvSpPr/>
            <p:nvPr/>
          </p:nvSpPr>
          <p:spPr>
            <a:xfrm>
              <a:off x="0" y="0"/>
              <a:ext cx="7275195" cy="12700"/>
            </a:xfrm>
            <a:custGeom>
              <a:avLst/>
              <a:gdLst/>
              <a:ahLst/>
              <a:cxnLst/>
              <a:rect l="l" t="t" r="r" b="b"/>
              <a:pathLst>
                <a:path w="7275195" h="12700">
                  <a:moveTo>
                    <a:pt x="0" y="0"/>
                  </a:moveTo>
                  <a:lnTo>
                    <a:pt x="7275195" y="0"/>
                  </a:lnTo>
                  <a:lnTo>
                    <a:pt x="7275195" y="12700"/>
                  </a:lnTo>
                  <a:lnTo>
                    <a:pt x="0" y="12700"/>
                  </a:lnTo>
                  <a:close/>
                </a:path>
              </a:pathLst>
            </a:custGeom>
            <a:solidFill>
              <a:srgbClr val="D9E5E1"/>
            </a:solidFill>
          </p:spPr>
          <p:txBody>
            <a:bodyPr/>
            <a:lstStyle/>
            <a:p>
              <a:endParaRPr lang="en-US"/>
            </a:p>
          </p:txBody>
        </p:sp>
      </p:grpSp>
      <p:sp>
        <p:nvSpPr>
          <p:cNvPr id="46" name="TextBox 46"/>
          <p:cNvSpPr txBox="1"/>
          <p:nvPr/>
        </p:nvSpPr>
        <p:spPr>
          <a:xfrm>
            <a:off x="12202478" y="5915663"/>
            <a:ext cx="4941399" cy="192405"/>
          </a:xfrm>
          <a:prstGeom prst="rect">
            <a:avLst/>
          </a:prstGeom>
        </p:spPr>
        <p:txBody>
          <a:bodyPr lIns="0" tIns="0" rIns="0" bIns="0" rtlCol="0" anchor="t">
            <a:spAutoFit/>
          </a:bodyPr>
          <a:lstStyle/>
          <a:p>
            <a:pPr algn="l">
              <a:lnSpc>
                <a:spcPts val="1498"/>
              </a:lnSpc>
            </a:pPr>
            <a:r>
              <a:rPr lang="en-US" sz="1248" spc="107">
                <a:solidFill>
                  <a:srgbClr val="EA580C"/>
                </a:solidFill>
                <a:latin typeface="Arial"/>
                <a:ea typeface="Arial"/>
                <a:cs typeface="Arial"/>
                <a:sym typeface="Arial"/>
              </a:rPr>
              <a:t>SECRETS</a:t>
            </a:r>
          </a:p>
        </p:txBody>
      </p:sp>
      <p:sp>
        <p:nvSpPr>
          <p:cNvPr id="47" name="TextBox 47"/>
          <p:cNvSpPr txBox="1"/>
          <p:nvPr/>
        </p:nvSpPr>
        <p:spPr>
          <a:xfrm>
            <a:off x="12202478" y="6216015"/>
            <a:ext cx="4941399" cy="355597"/>
          </a:xfrm>
          <a:prstGeom prst="rect">
            <a:avLst/>
          </a:prstGeom>
        </p:spPr>
        <p:txBody>
          <a:bodyPr lIns="0" tIns="0" rIns="0" bIns="0" rtlCol="0" anchor="t">
            <a:spAutoFit/>
          </a:bodyPr>
          <a:lstStyle/>
          <a:p>
            <a:pPr algn="l">
              <a:lnSpc>
                <a:spcPts val="2700"/>
              </a:lnSpc>
            </a:pPr>
            <a:r>
              <a:rPr lang="en-US" sz="2250" b="1">
                <a:solidFill>
                  <a:srgbClr val="0B1F23"/>
                </a:solidFill>
                <a:latin typeface="Arial Bold"/>
                <a:ea typeface="Arial Bold"/>
                <a:cs typeface="Arial Bold"/>
                <a:sym typeface="Arial Bold"/>
              </a:rPr>
              <a:t>Dashboard env vars</a:t>
            </a:r>
          </a:p>
        </p:txBody>
      </p:sp>
      <p:sp>
        <p:nvSpPr>
          <p:cNvPr id="48" name="TextBox 48"/>
          <p:cNvSpPr txBox="1"/>
          <p:nvPr/>
        </p:nvSpPr>
        <p:spPr>
          <a:xfrm>
            <a:off x="12202478" y="6631943"/>
            <a:ext cx="4941399" cy="661673"/>
          </a:xfrm>
          <a:prstGeom prst="rect">
            <a:avLst/>
          </a:prstGeom>
        </p:spPr>
        <p:txBody>
          <a:bodyPr lIns="0" tIns="0" rIns="0" bIns="0" rtlCol="0" anchor="t">
            <a:spAutoFit/>
          </a:bodyPr>
          <a:lstStyle/>
          <a:p>
            <a:pPr algn="l">
              <a:lnSpc>
                <a:spcPts val="2390"/>
              </a:lnSpc>
            </a:pPr>
            <a:r>
              <a:rPr lang="en-US" sz="1526">
                <a:solidFill>
                  <a:srgbClr val="526664"/>
                </a:solidFill>
                <a:latin typeface="Arial"/>
                <a:ea typeface="Arial"/>
                <a:cs typeface="Arial"/>
                <a:sym typeface="Arial"/>
              </a:rPr>
              <a:t>Never in repo · detect-secrets baseline · .env.example checked in</a:t>
            </a:r>
          </a:p>
        </p:txBody>
      </p:sp>
      <p:grpSp>
        <p:nvGrpSpPr>
          <p:cNvPr id="49" name="Group 49"/>
          <p:cNvGrpSpPr/>
          <p:nvPr/>
        </p:nvGrpSpPr>
        <p:grpSpPr>
          <a:xfrm>
            <a:off x="952500" y="8018783"/>
            <a:ext cx="5105400" cy="9525"/>
            <a:chOff x="0" y="0"/>
            <a:chExt cx="6807200" cy="12700"/>
          </a:xfrm>
        </p:grpSpPr>
        <p:sp>
          <p:nvSpPr>
            <p:cNvPr id="50" name="Freeform 50"/>
            <p:cNvSpPr/>
            <p:nvPr/>
          </p:nvSpPr>
          <p:spPr>
            <a:xfrm>
              <a:off x="0" y="0"/>
              <a:ext cx="6807200" cy="12700"/>
            </a:xfrm>
            <a:custGeom>
              <a:avLst/>
              <a:gdLst/>
              <a:ahLst/>
              <a:cxnLst/>
              <a:rect l="l" t="t" r="r" b="b"/>
              <a:pathLst>
                <a:path w="6807200" h="12700">
                  <a:moveTo>
                    <a:pt x="0" y="0"/>
                  </a:moveTo>
                  <a:lnTo>
                    <a:pt x="6807200" y="0"/>
                  </a:lnTo>
                  <a:lnTo>
                    <a:pt x="6807200" y="12700"/>
                  </a:lnTo>
                  <a:lnTo>
                    <a:pt x="0" y="12700"/>
                  </a:lnTo>
                  <a:close/>
                </a:path>
              </a:pathLst>
            </a:custGeom>
            <a:solidFill>
              <a:srgbClr val="D9E5E1"/>
            </a:solidFill>
          </p:spPr>
          <p:txBody>
            <a:bodyPr/>
            <a:lstStyle/>
            <a:p>
              <a:endParaRPr lang="en-US"/>
            </a:p>
          </p:txBody>
        </p:sp>
      </p:grpSp>
      <p:sp>
        <p:nvSpPr>
          <p:cNvPr id="51" name="TextBox 51"/>
          <p:cNvSpPr txBox="1"/>
          <p:nvPr/>
        </p:nvSpPr>
        <p:spPr>
          <a:xfrm>
            <a:off x="977903" y="8336918"/>
            <a:ext cx="5207765"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SCALABILITY</a:t>
            </a:r>
          </a:p>
        </p:txBody>
      </p:sp>
      <p:sp>
        <p:nvSpPr>
          <p:cNvPr id="52" name="TextBox 52"/>
          <p:cNvSpPr txBox="1"/>
          <p:nvPr/>
        </p:nvSpPr>
        <p:spPr>
          <a:xfrm>
            <a:off x="977903" y="8759190"/>
            <a:ext cx="5207765"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Stateless API</a:t>
            </a:r>
          </a:p>
        </p:txBody>
      </p:sp>
      <p:sp>
        <p:nvSpPr>
          <p:cNvPr id="53" name="TextBox 53"/>
          <p:cNvSpPr txBox="1"/>
          <p:nvPr/>
        </p:nvSpPr>
        <p:spPr>
          <a:xfrm>
            <a:off x="977903" y="9215123"/>
            <a:ext cx="5207765" cy="762638"/>
          </a:xfrm>
          <a:prstGeom prst="rect">
            <a:avLst/>
          </a:prstGeom>
        </p:spPr>
        <p:txBody>
          <a:bodyPr lIns="0" tIns="0" rIns="0" bIns="0" rtlCol="0" anchor="t">
            <a:spAutoFit/>
          </a:bodyPr>
          <a:lstStyle/>
          <a:p>
            <a:pPr algn="l">
              <a:lnSpc>
                <a:spcPts val="2510"/>
              </a:lnSpc>
            </a:pPr>
            <a:r>
              <a:rPr lang="en-US" sz="1803">
                <a:solidFill>
                  <a:srgbClr val="526664"/>
                </a:solidFill>
                <a:latin typeface="Arial"/>
                <a:ea typeface="Arial"/>
                <a:cs typeface="Arial"/>
                <a:sym typeface="Arial"/>
              </a:rPr>
              <a:t>Horizontal scaling on Render; storage is the only stateful boundary.</a:t>
            </a:r>
          </a:p>
        </p:txBody>
      </p:sp>
      <p:grpSp>
        <p:nvGrpSpPr>
          <p:cNvPr id="54" name="Group 54"/>
          <p:cNvGrpSpPr/>
          <p:nvPr/>
        </p:nvGrpSpPr>
        <p:grpSpPr>
          <a:xfrm>
            <a:off x="6591300" y="8018783"/>
            <a:ext cx="5105400" cy="9525"/>
            <a:chOff x="0" y="0"/>
            <a:chExt cx="6807200" cy="12700"/>
          </a:xfrm>
        </p:grpSpPr>
        <p:sp>
          <p:nvSpPr>
            <p:cNvPr id="55" name="Freeform 55"/>
            <p:cNvSpPr/>
            <p:nvPr/>
          </p:nvSpPr>
          <p:spPr>
            <a:xfrm>
              <a:off x="0" y="0"/>
              <a:ext cx="6807200" cy="12700"/>
            </a:xfrm>
            <a:custGeom>
              <a:avLst/>
              <a:gdLst/>
              <a:ahLst/>
              <a:cxnLst/>
              <a:rect l="l" t="t" r="r" b="b"/>
              <a:pathLst>
                <a:path w="6807200" h="12700">
                  <a:moveTo>
                    <a:pt x="0" y="0"/>
                  </a:moveTo>
                  <a:lnTo>
                    <a:pt x="6807200" y="0"/>
                  </a:lnTo>
                  <a:lnTo>
                    <a:pt x="6807200" y="12700"/>
                  </a:lnTo>
                  <a:lnTo>
                    <a:pt x="0" y="12700"/>
                  </a:lnTo>
                  <a:close/>
                </a:path>
              </a:pathLst>
            </a:custGeom>
            <a:solidFill>
              <a:srgbClr val="D9E5E1"/>
            </a:solidFill>
          </p:spPr>
          <p:txBody>
            <a:bodyPr/>
            <a:lstStyle/>
            <a:p>
              <a:endParaRPr lang="en-US"/>
            </a:p>
          </p:txBody>
        </p:sp>
      </p:grpSp>
      <p:sp>
        <p:nvSpPr>
          <p:cNvPr id="56" name="TextBox 56"/>
          <p:cNvSpPr txBox="1"/>
          <p:nvPr/>
        </p:nvSpPr>
        <p:spPr>
          <a:xfrm>
            <a:off x="6616703" y="8336918"/>
            <a:ext cx="5207765"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PORTABILITY</a:t>
            </a:r>
          </a:p>
        </p:txBody>
      </p:sp>
      <p:sp>
        <p:nvSpPr>
          <p:cNvPr id="57" name="TextBox 57"/>
          <p:cNvSpPr txBox="1"/>
          <p:nvPr/>
        </p:nvSpPr>
        <p:spPr>
          <a:xfrm>
            <a:off x="6616703" y="8759190"/>
            <a:ext cx="5207765"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One env var to switch LLM</a:t>
            </a:r>
          </a:p>
        </p:txBody>
      </p:sp>
      <p:sp>
        <p:nvSpPr>
          <p:cNvPr id="58" name="TextBox 58"/>
          <p:cNvSpPr txBox="1"/>
          <p:nvPr/>
        </p:nvSpPr>
        <p:spPr>
          <a:xfrm>
            <a:off x="6616703" y="9215123"/>
            <a:ext cx="5207765" cy="762638"/>
          </a:xfrm>
          <a:prstGeom prst="rect">
            <a:avLst/>
          </a:prstGeom>
        </p:spPr>
        <p:txBody>
          <a:bodyPr lIns="0" tIns="0" rIns="0" bIns="0" rtlCol="0" anchor="t">
            <a:spAutoFit/>
          </a:bodyPr>
          <a:lstStyle/>
          <a:p>
            <a:pPr algn="l">
              <a:lnSpc>
                <a:spcPts val="2510"/>
              </a:lnSpc>
            </a:pPr>
            <a:r>
              <a:rPr lang="en-US" sz="1803">
                <a:solidFill>
                  <a:srgbClr val="526664"/>
                </a:solidFill>
                <a:latin typeface="Arial"/>
                <a:ea typeface="Arial"/>
                <a:cs typeface="Arial"/>
                <a:sym typeface="Arial"/>
              </a:rPr>
              <a:t>Swap providers without code changes. Tested with mocked clients.</a:t>
            </a:r>
          </a:p>
        </p:txBody>
      </p:sp>
      <p:grpSp>
        <p:nvGrpSpPr>
          <p:cNvPr id="59" name="Group 59"/>
          <p:cNvGrpSpPr/>
          <p:nvPr/>
        </p:nvGrpSpPr>
        <p:grpSpPr>
          <a:xfrm>
            <a:off x="12230100" y="8018783"/>
            <a:ext cx="5105400" cy="9525"/>
            <a:chOff x="0" y="0"/>
            <a:chExt cx="6807200" cy="12700"/>
          </a:xfrm>
        </p:grpSpPr>
        <p:sp>
          <p:nvSpPr>
            <p:cNvPr id="60" name="Freeform 60"/>
            <p:cNvSpPr/>
            <p:nvPr/>
          </p:nvSpPr>
          <p:spPr>
            <a:xfrm>
              <a:off x="0" y="0"/>
              <a:ext cx="6807200" cy="12700"/>
            </a:xfrm>
            <a:custGeom>
              <a:avLst/>
              <a:gdLst/>
              <a:ahLst/>
              <a:cxnLst/>
              <a:rect l="l" t="t" r="r" b="b"/>
              <a:pathLst>
                <a:path w="6807200" h="12700">
                  <a:moveTo>
                    <a:pt x="0" y="0"/>
                  </a:moveTo>
                  <a:lnTo>
                    <a:pt x="6807200" y="0"/>
                  </a:lnTo>
                  <a:lnTo>
                    <a:pt x="6807200" y="12700"/>
                  </a:lnTo>
                  <a:lnTo>
                    <a:pt x="0" y="12700"/>
                  </a:lnTo>
                  <a:close/>
                </a:path>
              </a:pathLst>
            </a:custGeom>
            <a:solidFill>
              <a:srgbClr val="D9E5E1"/>
            </a:solidFill>
          </p:spPr>
          <p:txBody>
            <a:bodyPr/>
            <a:lstStyle/>
            <a:p>
              <a:endParaRPr lang="en-US"/>
            </a:p>
          </p:txBody>
        </p:sp>
      </p:grpSp>
      <p:sp>
        <p:nvSpPr>
          <p:cNvPr id="61" name="TextBox 61"/>
          <p:cNvSpPr txBox="1"/>
          <p:nvPr/>
        </p:nvSpPr>
        <p:spPr>
          <a:xfrm>
            <a:off x="12255503" y="8336918"/>
            <a:ext cx="5207765"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OBSERVABILITY</a:t>
            </a:r>
          </a:p>
        </p:txBody>
      </p:sp>
      <p:sp>
        <p:nvSpPr>
          <p:cNvPr id="62" name="TextBox 62"/>
          <p:cNvSpPr txBox="1"/>
          <p:nvPr/>
        </p:nvSpPr>
        <p:spPr>
          <a:xfrm>
            <a:off x="12255503" y="8759190"/>
            <a:ext cx="5207765"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Telemetry on every call</a:t>
            </a:r>
          </a:p>
        </p:txBody>
      </p:sp>
      <p:sp>
        <p:nvSpPr>
          <p:cNvPr id="63" name="TextBox 63"/>
          <p:cNvSpPr txBox="1"/>
          <p:nvPr/>
        </p:nvSpPr>
        <p:spPr>
          <a:xfrm>
            <a:off x="12255503" y="9186548"/>
            <a:ext cx="5207765" cy="432121"/>
          </a:xfrm>
          <a:prstGeom prst="rect">
            <a:avLst/>
          </a:prstGeom>
        </p:spPr>
        <p:txBody>
          <a:bodyPr lIns="0" tIns="0" rIns="0" bIns="0" rtlCol="0" anchor="t">
            <a:spAutoFit/>
          </a:bodyPr>
          <a:lstStyle/>
          <a:p>
            <a:pPr algn="l">
              <a:lnSpc>
                <a:spcPts val="2824"/>
              </a:lnSpc>
            </a:pPr>
            <a:r>
              <a:rPr lang="en-US" sz="1803">
                <a:solidFill>
                  <a:srgbClr val="526664"/>
                </a:solidFill>
                <a:latin typeface="Arial"/>
                <a:ea typeface="Arial"/>
                <a:cs typeface="Arial"/>
                <a:sym typeface="Arial"/>
              </a:rPr>
              <a:t>Latency, tokens, cost surfaced from API to UI.</a:t>
            </a:r>
          </a:p>
        </p:txBody>
      </p:sp>
      <p:grpSp>
        <p:nvGrpSpPr>
          <p:cNvPr id="64" name="Group 64"/>
          <p:cNvGrpSpPr/>
          <p:nvPr/>
        </p:nvGrpSpPr>
        <p:grpSpPr>
          <a:xfrm>
            <a:off x="787403" y="617597"/>
            <a:ext cx="2111216" cy="631706"/>
            <a:chOff x="0" y="0"/>
            <a:chExt cx="2814955" cy="842275"/>
          </a:xfrm>
        </p:grpSpPr>
        <p:sp>
          <p:nvSpPr>
            <p:cNvPr id="65" name="Freeform 65"/>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66" name="TextBox 66"/>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67" name="Group 67"/>
          <p:cNvGrpSpPr/>
          <p:nvPr/>
        </p:nvGrpSpPr>
        <p:grpSpPr>
          <a:xfrm>
            <a:off x="0" y="0"/>
            <a:ext cx="18288000" cy="550922"/>
            <a:chOff x="0" y="0"/>
            <a:chExt cx="24384000" cy="734563"/>
          </a:xfrm>
        </p:grpSpPr>
        <p:grpSp>
          <p:nvGrpSpPr>
            <p:cNvPr id="68" name="Group 68"/>
            <p:cNvGrpSpPr/>
            <p:nvPr/>
          </p:nvGrpSpPr>
          <p:grpSpPr>
            <a:xfrm>
              <a:off x="0" y="0"/>
              <a:ext cx="24384000" cy="734563"/>
              <a:chOff x="0" y="0"/>
              <a:chExt cx="4816593" cy="145099"/>
            </a:xfrm>
          </p:grpSpPr>
          <p:sp>
            <p:nvSpPr>
              <p:cNvPr id="69" name="Freeform 69"/>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70" name="TextBox 70"/>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71" name="Freeform 71"/>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72" name="Freeform 72"/>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73" name="Freeform 73"/>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sp>
        <p:nvSpPr>
          <p:cNvPr id="5" name="TextBox 5"/>
          <p:cNvSpPr txBox="1"/>
          <p:nvPr/>
        </p:nvSpPr>
        <p:spPr>
          <a:xfrm>
            <a:off x="16129949" y="802005"/>
            <a:ext cx="1129308"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07 / 12 · QA</a:t>
            </a:r>
          </a:p>
        </p:txBody>
      </p:sp>
      <p:grpSp>
        <p:nvGrpSpPr>
          <p:cNvPr id="6" name="Group 6"/>
          <p:cNvGrpSpPr/>
          <p:nvPr/>
        </p:nvGrpSpPr>
        <p:grpSpPr>
          <a:xfrm>
            <a:off x="952500" y="1333500"/>
            <a:ext cx="16383000" cy="9525"/>
            <a:chOff x="0" y="0"/>
            <a:chExt cx="21844000" cy="12700"/>
          </a:xfrm>
        </p:grpSpPr>
        <p:sp>
          <p:nvSpPr>
            <p:cNvPr id="7" name="Freeform 7"/>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D9E5E1"/>
            </a:solidFill>
          </p:spPr>
          <p:txBody>
            <a:bodyPr/>
            <a:lstStyle/>
            <a:p>
              <a:endParaRPr lang="en-US"/>
            </a:p>
          </p:txBody>
        </p:sp>
      </p:grpSp>
      <p:sp>
        <p:nvSpPr>
          <p:cNvPr id="8" name="TextBox 8"/>
          <p:cNvSpPr txBox="1"/>
          <p:nvPr/>
        </p:nvSpPr>
        <p:spPr>
          <a:xfrm>
            <a:off x="977903" y="1730378"/>
            <a:ext cx="16823693"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QUALITY ASSURANCE &amp; RELIABILITY</a:t>
            </a:r>
          </a:p>
        </p:txBody>
      </p:sp>
      <p:sp>
        <p:nvSpPr>
          <p:cNvPr id="9" name="TextBox 9"/>
          <p:cNvSpPr txBox="1"/>
          <p:nvPr/>
        </p:nvSpPr>
        <p:spPr>
          <a:xfrm>
            <a:off x="977903" y="2324100"/>
            <a:ext cx="14665328" cy="6407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No evidence, no points.</a:t>
            </a:r>
          </a:p>
        </p:txBody>
      </p:sp>
      <p:sp>
        <p:nvSpPr>
          <p:cNvPr id="10" name="TextBox 10"/>
          <p:cNvSpPr txBox="1"/>
          <p:nvPr/>
        </p:nvSpPr>
        <p:spPr>
          <a:xfrm>
            <a:off x="977903" y="3606165"/>
            <a:ext cx="754380" cy="757809"/>
          </a:xfrm>
          <a:prstGeom prst="rect">
            <a:avLst/>
          </a:prstGeom>
        </p:spPr>
        <p:txBody>
          <a:bodyPr lIns="0" tIns="0" rIns="0" bIns="0" rtlCol="0" anchor="t">
            <a:spAutoFit/>
          </a:bodyPr>
          <a:lstStyle/>
          <a:p>
            <a:pPr algn="l">
              <a:lnSpc>
                <a:spcPts val="5328"/>
              </a:lnSpc>
            </a:pPr>
            <a:r>
              <a:rPr lang="en-US" sz="5550" b="1" spc="-150">
                <a:solidFill>
                  <a:srgbClr val="0F766E"/>
                </a:solidFill>
                <a:latin typeface="Arial Bold"/>
                <a:ea typeface="Arial Bold"/>
                <a:cs typeface="Arial Bold"/>
                <a:sym typeface="Arial Bold"/>
              </a:rPr>
              <a:t>55</a:t>
            </a:r>
          </a:p>
        </p:txBody>
      </p:sp>
      <p:sp>
        <p:nvSpPr>
          <p:cNvPr id="11" name="TextBox 11"/>
          <p:cNvSpPr txBox="1"/>
          <p:nvPr/>
        </p:nvSpPr>
        <p:spPr>
          <a:xfrm>
            <a:off x="977903" y="4330065"/>
            <a:ext cx="7189537" cy="243840"/>
          </a:xfrm>
          <a:prstGeom prst="rect">
            <a:avLst/>
          </a:prstGeom>
        </p:spPr>
        <p:txBody>
          <a:bodyPr lIns="0" tIns="0" rIns="0" bIns="0" rtlCol="0" anchor="t">
            <a:spAutoFit/>
          </a:bodyPr>
          <a:lstStyle/>
          <a:p>
            <a:pPr algn="l">
              <a:lnSpc>
                <a:spcPts val="1831"/>
              </a:lnSpc>
            </a:pPr>
            <a:r>
              <a:rPr lang="en-US" sz="1526" spc="66">
                <a:solidFill>
                  <a:srgbClr val="526664"/>
                </a:solidFill>
                <a:latin typeface="Arial"/>
                <a:ea typeface="Arial"/>
                <a:cs typeface="Arial"/>
                <a:sym typeface="Arial"/>
              </a:rPr>
              <a:t>PASSING PYTEST TESTS</a:t>
            </a:r>
          </a:p>
        </p:txBody>
      </p:sp>
      <p:sp>
        <p:nvSpPr>
          <p:cNvPr id="12" name="TextBox 12"/>
          <p:cNvSpPr txBox="1"/>
          <p:nvPr/>
        </p:nvSpPr>
        <p:spPr>
          <a:xfrm>
            <a:off x="977903" y="5215252"/>
            <a:ext cx="754380" cy="757809"/>
          </a:xfrm>
          <a:prstGeom prst="rect">
            <a:avLst/>
          </a:prstGeom>
        </p:spPr>
        <p:txBody>
          <a:bodyPr lIns="0" tIns="0" rIns="0" bIns="0" rtlCol="0" anchor="t">
            <a:spAutoFit/>
          </a:bodyPr>
          <a:lstStyle/>
          <a:p>
            <a:pPr algn="l">
              <a:lnSpc>
                <a:spcPts val="5328"/>
              </a:lnSpc>
            </a:pPr>
            <a:r>
              <a:rPr lang="en-US" sz="5550" b="1" spc="-150">
                <a:solidFill>
                  <a:srgbClr val="0B1F23"/>
                </a:solidFill>
                <a:latin typeface="Arial Bold"/>
                <a:ea typeface="Arial Bold"/>
                <a:cs typeface="Arial Bold"/>
                <a:sym typeface="Arial Bold"/>
              </a:rPr>
              <a:t>10</a:t>
            </a:r>
          </a:p>
        </p:txBody>
      </p:sp>
      <p:sp>
        <p:nvSpPr>
          <p:cNvPr id="13" name="TextBox 13"/>
          <p:cNvSpPr txBox="1"/>
          <p:nvPr/>
        </p:nvSpPr>
        <p:spPr>
          <a:xfrm>
            <a:off x="977903" y="5939152"/>
            <a:ext cx="7189537" cy="243840"/>
          </a:xfrm>
          <a:prstGeom prst="rect">
            <a:avLst/>
          </a:prstGeom>
        </p:spPr>
        <p:txBody>
          <a:bodyPr lIns="0" tIns="0" rIns="0" bIns="0" rtlCol="0" anchor="t">
            <a:spAutoFit/>
          </a:bodyPr>
          <a:lstStyle/>
          <a:p>
            <a:pPr algn="l">
              <a:lnSpc>
                <a:spcPts val="1831"/>
              </a:lnSpc>
            </a:pPr>
            <a:r>
              <a:rPr lang="en-US" sz="1526" spc="66">
                <a:solidFill>
                  <a:srgbClr val="526664"/>
                </a:solidFill>
                <a:latin typeface="Arial"/>
                <a:ea typeface="Arial"/>
                <a:cs typeface="Arial"/>
                <a:sym typeface="Arial"/>
              </a:rPr>
              <a:t>POSTMAN API CONTRACTS</a:t>
            </a:r>
          </a:p>
        </p:txBody>
      </p:sp>
      <p:sp>
        <p:nvSpPr>
          <p:cNvPr id="14" name="TextBox 14"/>
          <p:cNvSpPr txBox="1"/>
          <p:nvPr/>
        </p:nvSpPr>
        <p:spPr>
          <a:xfrm>
            <a:off x="977903" y="6824348"/>
            <a:ext cx="377190" cy="757809"/>
          </a:xfrm>
          <a:prstGeom prst="rect">
            <a:avLst/>
          </a:prstGeom>
        </p:spPr>
        <p:txBody>
          <a:bodyPr lIns="0" tIns="0" rIns="0" bIns="0" rtlCol="0" anchor="t">
            <a:spAutoFit/>
          </a:bodyPr>
          <a:lstStyle/>
          <a:p>
            <a:pPr algn="l">
              <a:lnSpc>
                <a:spcPts val="5328"/>
              </a:lnSpc>
            </a:pPr>
            <a:r>
              <a:rPr lang="en-US" sz="5550" b="1" spc="-150">
                <a:solidFill>
                  <a:srgbClr val="0B1F23"/>
                </a:solidFill>
                <a:latin typeface="Arial Bold"/>
                <a:ea typeface="Arial Bold"/>
                <a:cs typeface="Arial Bold"/>
                <a:sym typeface="Arial Bold"/>
              </a:rPr>
              <a:t>3</a:t>
            </a:r>
          </a:p>
        </p:txBody>
      </p:sp>
      <p:sp>
        <p:nvSpPr>
          <p:cNvPr id="15" name="TextBox 15"/>
          <p:cNvSpPr txBox="1"/>
          <p:nvPr/>
        </p:nvSpPr>
        <p:spPr>
          <a:xfrm>
            <a:off x="977903" y="7548248"/>
            <a:ext cx="7189537" cy="243840"/>
          </a:xfrm>
          <a:prstGeom prst="rect">
            <a:avLst/>
          </a:prstGeom>
        </p:spPr>
        <p:txBody>
          <a:bodyPr lIns="0" tIns="0" rIns="0" bIns="0" rtlCol="0" anchor="t">
            <a:spAutoFit/>
          </a:bodyPr>
          <a:lstStyle/>
          <a:p>
            <a:pPr algn="l">
              <a:lnSpc>
                <a:spcPts val="1831"/>
              </a:lnSpc>
            </a:pPr>
            <a:r>
              <a:rPr lang="en-US" sz="1526" spc="66">
                <a:solidFill>
                  <a:srgbClr val="526664"/>
                </a:solidFill>
                <a:latin typeface="Arial"/>
                <a:ea typeface="Arial"/>
                <a:cs typeface="Arial"/>
                <a:sym typeface="Arial"/>
              </a:rPr>
              <a:t>CI GATES · LINT · TEST · SECURITY</a:t>
            </a:r>
          </a:p>
        </p:txBody>
      </p:sp>
      <p:sp>
        <p:nvSpPr>
          <p:cNvPr id="16" name="TextBox 16"/>
          <p:cNvSpPr txBox="1"/>
          <p:nvPr/>
        </p:nvSpPr>
        <p:spPr>
          <a:xfrm>
            <a:off x="977903" y="8433435"/>
            <a:ext cx="377190" cy="757809"/>
          </a:xfrm>
          <a:prstGeom prst="rect">
            <a:avLst/>
          </a:prstGeom>
        </p:spPr>
        <p:txBody>
          <a:bodyPr lIns="0" tIns="0" rIns="0" bIns="0" rtlCol="0" anchor="t">
            <a:spAutoFit/>
          </a:bodyPr>
          <a:lstStyle/>
          <a:p>
            <a:pPr algn="l">
              <a:lnSpc>
                <a:spcPts val="5328"/>
              </a:lnSpc>
            </a:pPr>
            <a:r>
              <a:rPr lang="en-US" sz="5550" b="1" spc="-150">
                <a:solidFill>
                  <a:srgbClr val="EA580C"/>
                </a:solidFill>
                <a:latin typeface="Arial Bold"/>
                <a:ea typeface="Arial Bold"/>
                <a:cs typeface="Arial Bold"/>
                <a:sym typeface="Arial Bold"/>
              </a:rPr>
              <a:t>5</a:t>
            </a:r>
          </a:p>
        </p:txBody>
      </p:sp>
      <p:sp>
        <p:nvSpPr>
          <p:cNvPr id="17" name="TextBox 17"/>
          <p:cNvSpPr txBox="1"/>
          <p:nvPr/>
        </p:nvSpPr>
        <p:spPr>
          <a:xfrm>
            <a:off x="977903" y="9157335"/>
            <a:ext cx="7189537" cy="243840"/>
          </a:xfrm>
          <a:prstGeom prst="rect">
            <a:avLst/>
          </a:prstGeom>
        </p:spPr>
        <p:txBody>
          <a:bodyPr lIns="0" tIns="0" rIns="0" bIns="0" rtlCol="0" anchor="t">
            <a:spAutoFit/>
          </a:bodyPr>
          <a:lstStyle/>
          <a:p>
            <a:pPr algn="l">
              <a:lnSpc>
                <a:spcPts val="1831"/>
              </a:lnSpc>
            </a:pPr>
            <a:r>
              <a:rPr lang="en-US" sz="1526" spc="66">
                <a:solidFill>
                  <a:srgbClr val="526664"/>
                </a:solidFill>
                <a:latin typeface="Arial"/>
                <a:ea typeface="Arial"/>
                <a:cs typeface="Arial"/>
                <a:sym typeface="Arial"/>
              </a:rPr>
              <a:t>KNOWN LIMITATIONS · DOCUMENTED</a:t>
            </a:r>
          </a:p>
        </p:txBody>
      </p:sp>
      <p:sp>
        <p:nvSpPr>
          <p:cNvPr id="18" name="TextBox 18"/>
          <p:cNvSpPr txBox="1"/>
          <p:nvPr/>
        </p:nvSpPr>
        <p:spPr>
          <a:xfrm>
            <a:off x="7584293" y="3501390"/>
            <a:ext cx="10217303" cy="400342"/>
          </a:xfrm>
          <a:prstGeom prst="rect">
            <a:avLst/>
          </a:prstGeom>
        </p:spPr>
        <p:txBody>
          <a:bodyPr lIns="0" tIns="0" rIns="0" bIns="0" rtlCol="0" anchor="t">
            <a:spAutoFit/>
          </a:bodyPr>
          <a:lstStyle/>
          <a:p>
            <a:pPr algn="l">
              <a:lnSpc>
                <a:spcPts val="2926"/>
              </a:lnSpc>
            </a:pPr>
            <a:r>
              <a:rPr lang="en-US" sz="2438" b="1" spc="146">
                <a:solidFill>
                  <a:srgbClr val="0F766E"/>
                </a:solidFill>
                <a:latin typeface="Arial Bold"/>
                <a:ea typeface="Arial Bold"/>
                <a:cs typeface="Arial Bold"/>
                <a:sym typeface="Arial Bold"/>
              </a:rPr>
              <a:t>DEFECT LOG · WHAT WE OPENLY DEFER</a:t>
            </a:r>
          </a:p>
        </p:txBody>
      </p:sp>
      <p:grpSp>
        <p:nvGrpSpPr>
          <p:cNvPr id="19" name="Group 19"/>
          <p:cNvGrpSpPr/>
          <p:nvPr/>
        </p:nvGrpSpPr>
        <p:grpSpPr>
          <a:xfrm>
            <a:off x="7554793" y="4152450"/>
            <a:ext cx="9976982" cy="11061"/>
            <a:chOff x="0" y="0"/>
            <a:chExt cx="11455400" cy="12700"/>
          </a:xfrm>
        </p:grpSpPr>
        <p:sp>
          <p:nvSpPr>
            <p:cNvPr id="20" name="Freeform 20"/>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a:ln w="38100" cap="sq">
              <a:solidFill>
                <a:srgbClr val="000000"/>
              </a:solidFill>
              <a:prstDash val="solid"/>
              <a:miter/>
            </a:ln>
          </p:spPr>
          <p:txBody>
            <a:bodyPr/>
            <a:lstStyle/>
            <a:p>
              <a:endParaRPr lang="en-US"/>
            </a:p>
          </p:txBody>
        </p:sp>
      </p:grpSp>
      <p:grpSp>
        <p:nvGrpSpPr>
          <p:cNvPr id="21" name="Group 21"/>
          <p:cNvGrpSpPr/>
          <p:nvPr/>
        </p:nvGrpSpPr>
        <p:grpSpPr>
          <a:xfrm>
            <a:off x="7554793" y="5251909"/>
            <a:ext cx="9976982" cy="11061"/>
            <a:chOff x="0" y="0"/>
            <a:chExt cx="11455400" cy="12700"/>
          </a:xfrm>
        </p:grpSpPr>
        <p:sp>
          <p:nvSpPr>
            <p:cNvPr id="22" name="Freeform 22"/>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p:spPr>
          <p:txBody>
            <a:bodyPr/>
            <a:lstStyle/>
            <a:p>
              <a:endParaRPr lang="en-US"/>
            </a:p>
          </p:txBody>
        </p:sp>
      </p:grpSp>
      <p:sp>
        <p:nvSpPr>
          <p:cNvPr id="23" name="TextBox 23"/>
          <p:cNvSpPr txBox="1"/>
          <p:nvPr/>
        </p:nvSpPr>
        <p:spPr>
          <a:xfrm>
            <a:off x="7584293" y="4392227"/>
            <a:ext cx="3780380" cy="653208"/>
          </a:xfrm>
          <a:prstGeom prst="rect">
            <a:avLst/>
          </a:prstGeom>
        </p:spPr>
        <p:txBody>
          <a:bodyPr lIns="0" tIns="0" rIns="0" bIns="0" rtlCol="0" anchor="t">
            <a:spAutoFit/>
          </a:bodyPr>
          <a:lstStyle/>
          <a:p>
            <a:pPr algn="l">
              <a:lnSpc>
                <a:spcPts val="2508"/>
              </a:lnSpc>
            </a:pPr>
            <a:r>
              <a:rPr lang="en-US" sz="2090" b="1">
                <a:solidFill>
                  <a:srgbClr val="0B1F23"/>
                </a:solidFill>
                <a:latin typeface="Arial Bold"/>
                <a:ea typeface="Arial Bold"/>
                <a:cs typeface="Arial Bold"/>
                <a:sym typeface="Arial Bold"/>
              </a:rPr>
              <a:t>JSON storage (FIFO cap of 5)</a:t>
            </a:r>
          </a:p>
        </p:txBody>
      </p:sp>
      <p:sp>
        <p:nvSpPr>
          <p:cNvPr id="24" name="TextBox 24"/>
          <p:cNvSpPr txBox="1"/>
          <p:nvPr/>
        </p:nvSpPr>
        <p:spPr>
          <a:xfrm>
            <a:off x="11577298" y="4438253"/>
            <a:ext cx="3780380" cy="546346"/>
          </a:xfrm>
          <a:prstGeom prst="rect">
            <a:avLst/>
          </a:prstGeom>
        </p:spPr>
        <p:txBody>
          <a:bodyPr lIns="0" tIns="0" rIns="0" bIns="0" rtlCol="0" anchor="t">
            <a:spAutoFit/>
          </a:bodyPr>
          <a:lstStyle/>
          <a:p>
            <a:pPr algn="l">
              <a:lnSpc>
                <a:spcPts val="2299"/>
              </a:lnSpc>
            </a:pPr>
            <a:r>
              <a:rPr lang="en-US" sz="1916">
                <a:solidFill>
                  <a:srgbClr val="526664"/>
                </a:solidFill>
                <a:latin typeface="Arial"/>
                <a:ea typeface="Arial"/>
                <a:cs typeface="Arial"/>
                <a:sym typeface="Arial"/>
              </a:rPr>
              <a:t>Postgres migration · SAD documented</a:t>
            </a:r>
          </a:p>
        </p:txBody>
      </p:sp>
      <p:sp>
        <p:nvSpPr>
          <p:cNvPr id="25" name="TextBox 25"/>
          <p:cNvSpPr txBox="1"/>
          <p:nvPr/>
        </p:nvSpPr>
        <p:spPr>
          <a:xfrm>
            <a:off x="15481815" y="4478813"/>
            <a:ext cx="2020472" cy="221895"/>
          </a:xfrm>
          <a:prstGeom prst="rect">
            <a:avLst/>
          </a:prstGeom>
        </p:spPr>
        <p:txBody>
          <a:bodyPr lIns="0" tIns="0" rIns="0" bIns="0" rtlCol="0" anchor="t">
            <a:spAutoFit/>
          </a:bodyPr>
          <a:lstStyle/>
          <a:p>
            <a:pPr algn="r">
              <a:lnSpc>
                <a:spcPts val="1740"/>
              </a:lnSpc>
            </a:pPr>
            <a:r>
              <a:rPr lang="en-US" sz="1450" spc="94">
                <a:solidFill>
                  <a:srgbClr val="FF3131"/>
                </a:solidFill>
                <a:latin typeface="Arial"/>
                <a:ea typeface="Arial"/>
                <a:cs typeface="Arial"/>
                <a:sym typeface="Arial"/>
              </a:rPr>
              <a:t>DEFERRED</a:t>
            </a:r>
          </a:p>
        </p:txBody>
      </p:sp>
      <p:grpSp>
        <p:nvGrpSpPr>
          <p:cNvPr id="26" name="Group 26"/>
          <p:cNvGrpSpPr/>
          <p:nvPr/>
        </p:nvGrpSpPr>
        <p:grpSpPr>
          <a:xfrm>
            <a:off x="7554793" y="6290533"/>
            <a:ext cx="9976982" cy="11061"/>
            <a:chOff x="0" y="0"/>
            <a:chExt cx="11455400" cy="12700"/>
          </a:xfrm>
        </p:grpSpPr>
        <p:sp>
          <p:nvSpPr>
            <p:cNvPr id="27" name="Freeform 27"/>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p:spPr>
          <p:txBody>
            <a:bodyPr/>
            <a:lstStyle/>
            <a:p>
              <a:endParaRPr lang="en-US"/>
            </a:p>
          </p:txBody>
        </p:sp>
      </p:grpSp>
      <p:sp>
        <p:nvSpPr>
          <p:cNvPr id="28" name="TextBox 28"/>
          <p:cNvSpPr txBox="1"/>
          <p:nvPr/>
        </p:nvSpPr>
        <p:spPr>
          <a:xfrm>
            <a:off x="7584293" y="5491686"/>
            <a:ext cx="3780380" cy="328757"/>
          </a:xfrm>
          <a:prstGeom prst="rect">
            <a:avLst/>
          </a:prstGeom>
        </p:spPr>
        <p:txBody>
          <a:bodyPr lIns="0" tIns="0" rIns="0" bIns="0" rtlCol="0" anchor="t">
            <a:spAutoFit/>
          </a:bodyPr>
          <a:lstStyle/>
          <a:p>
            <a:pPr algn="l">
              <a:lnSpc>
                <a:spcPts val="2508"/>
              </a:lnSpc>
            </a:pPr>
            <a:r>
              <a:rPr lang="en-US" sz="2090" b="1">
                <a:solidFill>
                  <a:srgbClr val="0B1F23"/>
                </a:solidFill>
                <a:latin typeface="Arial Bold"/>
                <a:ea typeface="Arial Bold"/>
                <a:cs typeface="Arial Bold"/>
                <a:sym typeface="Arial Bold"/>
              </a:rPr>
              <a:t>No auth / authz</a:t>
            </a:r>
          </a:p>
        </p:txBody>
      </p:sp>
      <p:sp>
        <p:nvSpPr>
          <p:cNvPr id="29" name="TextBox 29"/>
          <p:cNvSpPr txBox="1"/>
          <p:nvPr/>
        </p:nvSpPr>
        <p:spPr>
          <a:xfrm>
            <a:off x="11577298" y="5537712"/>
            <a:ext cx="3780380" cy="546346"/>
          </a:xfrm>
          <a:prstGeom prst="rect">
            <a:avLst/>
          </a:prstGeom>
        </p:spPr>
        <p:txBody>
          <a:bodyPr lIns="0" tIns="0" rIns="0" bIns="0" rtlCol="0" anchor="t">
            <a:spAutoFit/>
          </a:bodyPr>
          <a:lstStyle/>
          <a:p>
            <a:pPr algn="l">
              <a:lnSpc>
                <a:spcPts val="2299"/>
              </a:lnSpc>
            </a:pPr>
            <a:r>
              <a:rPr lang="en-US" sz="1916">
                <a:solidFill>
                  <a:srgbClr val="526664"/>
                </a:solidFill>
                <a:latin typeface="Arial"/>
                <a:ea typeface="Arial"/>
                <a:cs typeface="Arial"/>
                <a:sym typeface="Arial"/>
              </a:rPr>
              <a:t>Supabase Auth · multi-tenant scope</a:t>
            </a:r>
          </a:p>
        </p:txBody>
      </p:sp>
      <p:sp>
        <p:nvSpPr>
          <p:cNvPr id="30" name="TextBox 30"/>
          <p:cNvSpPr txBox="1"/>
          <p:nvPr/>
        </p:nvSpPr>
        <p:spPr>
          <a:xfrm>
            <a:off x="15481815" y="5578272"/>
            <a:ext cx="2020472" cy="221895"/>
          </a:xfrm>
          <a:prstGeom prst="rect">
            <a:avLst/>
          </a:prstGeom>
        </p:spPr>
        <p:txBody>
          <a:bodyPr lIns="0" tIns="0" rIns="0" bIns="0" rtlCol="0" anchor="t">
            <a:spAutoFit/>
          </a:bodyPr>
          <a:lstStyle/>
          <a:p>
            <a:pPr algn="r">
              <a:lnSpc>
                <a:spcPts val="1740"/>
              </a:lnSpc>
            </a:pPr>
            <a:r>
              <a:rPr lang="en-US" sz="1450" spc="94">
                <a:solidFill>
                  <a:srgbClr val="FF3131"/>
                </a:solidFill>
                <a:latin typeface="Arial"/>
                <a:ea typeface="Arial"/>
                <a:cs typeface="Arial"/>
                <a:sym typeface="Arial"/>
              </a:rPr>
              <a:t>DEFERRED</a:t>
            </a:r>
          </a:p>
        </p:txBody>
      </p:sp>
      <p:grpSp>
        <p:nvGrpSpPr>
          <p:cNvPr id="31" name="Group 31"/>
          <p:cNvGrpSpPr/>
          <p:nvPr/>
        </p:nvGrpSpPr>
        <p:grpSpPr>
          <a:xfrm>
            <a:off x="7554793" y="7065541"/>
            <a:ext cx="9976982" cy="11061"/>
            <a:chOff x="0" y="0"/>
            <a:chExt cx="11455400" cy="12700"/>
          </a:xfrm>
        </p:grpSpPr>
        <p:sp>
          <p:nvSpPr>
            <p:cNvPr id="32" name="Freeform 32"/>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p:spPr>
          <p:txBody>
            <a:bodyPr/>
            <a:lstStyle/>
            <a:p>
              <a:endParaRPr lang="en-US"/>
            </a:p>
          </p:txBody>
        </p:sp>
      </p:grpSp>
      <p:sp>
        <p:nvSpPr>
          <p:cNvPr id="33" name="TextBox 33"/>
          <p:cNvSpPr txBox="1"/>
          <p:nvPr/>
        </p:nvSpPr>
        <p:spPr>
          <a:xfrm>
            <a:off x="7584293" y="6530310"/>
            <a:ext cx="3780380" cy="328757"/>
          </a:xfrm>
          <a:prstGeom prst="rect">
            <a:avLst/>
          </a:prstGeom>
        </p:spPr>
        <p:txBody>
          <a:bodyPr lIns="0" tIns="0" rIns="0" bIns="0" rtlCol="0" anchor="t">
            <a:spAutoFit/>
          </a:bodyPr>
          <a:lstStyle/>
          <a:p>
            <a:pPr algn="l">
              <a:lnSpc>
                <a:spcPts val="2508"/>
              </a:lnSpc>
            </a:pPr>
            <a:r>
              <a:rPr lang="en-US" sz="2090" b="1">
                <a:solidFill>
                  <a:srgbClr val="0B1F23"/>
                </a:solidFill>
                <a:latin typeface="Arial Bold"/>
                <a:ea typeface="Arial Bold"/>
                <a:cs typeface="Arial Bold"/>
                <a:sym typeface="Arial Bold"/>
              </a:rPr>
              <a:t>No API rate limiting</a:t>
            </a:r>
          </a:p>
        </p:txBody>
      </p:sp>
      <p:sp>
        <p:nvSpPr>
          <p:cNvPr id="34" name="TextBox 34"/>
          <p:cNvSpPr txBox="1"/>
          <p:nvPr/>
        </p:nvSpPr>
        <p:spPr>
          <a:xfrm>
            <a:off x="11577298" y="6566811"/>
            <a:ext cx="3780380" cy="280089"/>
          </a:xfrm>
          <a:prstGeom prst="rect">
            <a:avLst/>
          </a:prstGeom>
        </p:spPr>
        <p:txBody>
          <a:bodyPr lIns="0" tIns="0" rIns="0" bIns="0" rtlCol="0" anchor="t">
            <a:spAutoFit/>
          </a:bodyPr>
          <a:lstStyle/>
          <a:p>
            <a:pPr algn="l">
              <a:lnSpc>
                <a:spcPts val="2126"/>
              </a:lnSpc>
            </a:pPr>
            <a:r>
              <a:rPr lang="en-US" sz="1772">
                <a:solidFill>
                  <a:srgbClr val="526664"/>
                </a:solidFill>
                <a:latin typeface="Arial"/>
                <a:ea typeface="Arial"/>
                <a:cs typeface="Arial"/>
                <a:sym typeface="Arial"/>
              </a:rPr>
              <a:t>slowapi · per-IP + per-tenant</a:t>
            </a:r>
          </a:p>
        </p:txBody>
      </p:sp>
      <p:sp>
        <p:nvSpPr>
          <p:cNvPr id="35" name="TextBox 35"/>
          <p:cNvSpPr txBox="1"/>
          <p:nvPr/>
        </p:nvSpPr>
        <p:spPr>
          <a:xfrm>
            <a:off x="15481815" y="6616896"/>
            <a:ext cx="2020472" cy="221895"/>
          </a:xfrm>
          <a:prstGeom prst="rect">
            <a:avLst/>
          </a:prstGeom>
        </p:spPr>
        <p:txBody>
          <a:bodyPr lIns="0" tIns="0" rIns="0" bIns="0" rtlCol="0" anchor="t">
            <a:spAutoFit/>
          </a:bodyPr>
          <a:lstStyle/>
          <a:p>
            <a:pPr algn="r">
              <a:lnSpc>
                <a:spcPts val="1740"/>
              </a:lnSpc>
            </a:pPr>
            <a:r>
              <a:rPr lang="en-US" sz="1450" spc="94">
                <a:solidFill>
                  <a:srgbClr val="FF3131"/>
                </a:solidFill>
                <a:latin typeface="Arial"/>
                <a:ea typeface="Arial"/>
                <a:cs typeface="Arial"/>
                <a:sym typeface="Arial"/>
              </a:rPr>
              <a:t>DEFERRED</a:t>
            </a:r>
          </a:p>
        </p:txBody>
      </p:sp>
      <p:grpSp>
        <p:nvGrpSpPr>
          <p:cNvPr id="36" name="Group 36"/>
          <p:cNvGrpSpPr/>
          <p:nvPr/>
        </p:nvGrpSpPr>
        <p:grpSpPr>
          <a:xfrm>
            <a:off x="7554793" y="7840538"/>
            <a:ext cx="9976982" cy="11061"/>
            <a:chOff x="0" y="0"/>
            <a:chExt cx="11455400" cy="12700"/>
          </a:xfrm>
        </p:grpSpPr>
        <p:sp>
          <p:nvSpPr>
            <p:cNvPr id="37" name="Freeform 37"/>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p:spPr>
          <p:txBody>
            <a:bodyPr/>
            <a:lstStyle/>
            <a:p>
              <a:endParaRPr lang="en-US"/>
            </a:p>
          </p:txBody>
        </p:sp>
      </p:grpSp>
      <p:sp>
        <p:nvSpPr>
          <p:cNvPr id="38" name="TextBox 38"/>
          <p:cNvSpPr txBox="1"/>
          <p:nvPr/>
        </p:nvSpPr>
        <p:spPr>
          <a:xfrm>
            <a:off x="7584293" y="7305318"/>
            <a:ext cx="3780380" cy="328757"/>
          </a:xfrm>
          <a:prstGeom prst="rect">
            <a:avLst/>
          </a:prstGeom>
        </p:spPr>
        <p:txBody>
          <a:bodyPr lIns="0" tIns="0" rIns="0" bIns="0" rtlCol="0" anchor="t">
            <a:spAutoFit/>
          </a:bodyPr>
          <a:lstStyle/>
          <a:p>
            <a:pPr algn="l">
              <a:lnSpc>
                <a:spcPts val="2508"/>
              </a:lnSpc>
            </a:pPr>
            <a:r>
              <a:rPr lang="en-US" sz="2090" b="1">
                <a:solidFill>
                  <a:srgbClr val="0B1F23"/>
                </a:solidFill>
                <a:latin typeface="Arial Bold"/>
                <a:ea typeface="Arial Bold"/>
                <a:cs typeface="Arial Bold"/>
                <a:sym typeface="Arial Bold"/>
              </a:rPr>
              <a:t>External LLM dependency</a:t>
            </a:r>
          </a:p>
        </p:txBody>
      </p:sp>
      <p:sp>
        <p:nvSpPr>
          <p:cNvPr id="39" name="TextBox 39"/>
          <p:cNvSpPr txBox="1"/>
          <p:nvPr/>
        </p:nvSpPr>
        <p:spPr>
          <a:xfrm>
            <a:off x="11577298" y="7341819"/>
            <a:ext cx="3780380" cy="280089"/>
          </a:xfrm>
          <a:prstGeom prst="rect">
            <a:avLst/>
          </a:prstGeom>
        </p:spPr>
        <p:txBody>
          <a:bodyPr lIns="0" tIns="0" rIns="0" bIns="0" rtlCol="0" anchor="t">
            <a:spAutoFit/>
          </a:bodyPr>
          <a:lstStyle/>
          <a:p>
            <a:pPr algn="l">
              <a:lnSpc>
                <a:spcPts val="2126"/>
              </a:lnSpc>
            </a:pPr>
            <a:r>
              <a:rPr lang="en-US" sz="1772">
                <a:solidFill>
                  <a:srgbClr val="526664"/>
                </a:solidFill>
                <a:latin typeface="Arial"/>
                <a:ea typeface="Arial"/>
                <a:cs typeface="Arial"/>
                <a:sym typeface="Arial"/>
              </a:rPr>
              <a:t>Provider-agnostic client mitigates</a:t>
            </a:r>
          </a:p>
        </p:txBody>
      </p:sp>
      <p:sp>
        <p:nvSpPr>
          <p:cNvPr id="40" name="TextBox 40"/>
          <p:cNvSpPr txBox="1"/>
          <p:nvPr/>
        </p:nvSpPr>
        <p:spPr>
          <a:xfrm>
            <a:off x="15481815" y="7391893"/>
            <a:ext cx="2020472" cy="221895"/>
          </a:xfrm>
          <a:prstGeom prst="rect">
            <a:avLst/>
          </a:prstGeom>
        </p:spPr>
        <p:txBody>
          <a:bodyPr lIns="0" tIns="0" rIns="0" bIns="0" rtlCol="0" anchor="t">
            <a:spAutoFit/>
          </a:bodyPr>
          <a:lstStyle/>
          <a:p>
            <a:pPr algn="r">
              <a:lnSpc>
                <a:spcPts val="1740"/>
              </a:lnSpc>
            </a:pPr>
            <a:r>
              <a:rPr lang="en-US" sz="1450" spc="94">
                <a:solidFill>
                  <a:srgbClr val="0F766E"/>
                </a:solidFill>
                <a:latin typeface="Arial"/>
                <a:ea typeface="Arial"/>
                <a:cs typeface="Arial"/>
                <a:sym typeface="Arial"/>
              </a:rPr>
              <a:t>MITIGATED</a:t>
            </a:r>
          </a:p>
        </p:txBody>
      </p:sp>
      <p:grpSp>
        <p:nvGrpSpPr>
          <p:cNvPr id="41" name="Group 41"/>
          <p:cNvGrpSpPr/>
          <p:nvPr/>
        </p:nvGrpSpPr>
        <p:grpSpPr>
          <a:xfrm>
            <a:off x="7554793" y="8615546"/>
            <a:ext cx="9976982" cy="11061"/>
            <a:chOff x="0" y="0"/>
            <a:chExt cx="11455400" cy="12700"/>
          </a:xfrm>
        </p:grpSpPr>
        <p:sp>
          <p:nvSpPr>
            <p:cNvPr id="42" name="Freeform 42"/>
            <p:cNvSpPr/>
            <p:nvPr/>
          </p:nvSpPr>
          <p:spPr>
            <a:xfrm>
              <a:off x="0" y="0"/>
              <a:ext cx="11455400" cy="12700"/>
            </a:xfrm>
            <a:custGeom>
              <a:avLst/>
              <a:gdLst/>
              <a:ahLst/>
              <a:cxnLst/>
              <a:rect l="l" t="t" r="r" b="b"/>
              <a:pathLst>
                <a:path w="11455400" h="12700">
                  <a:moveTo>
                    <a:pt x="0" y="0"/>
                  </a:moveTo>
                  <a:lnTo>
                    <a:pt x="11455400" y="0"/>
                  </a:lnTo>
                  <a:lnTo>
                    <a:pt x="11455400" y="12700"/>
                  </a:lnTo>
                  <a:lnTo>
                    <a:pt x="0" y="12700"/>
                  </a:lnTo>
                  <a:close/>
                </a:path>
              </a:pathLst>
            </a:custGeom>
            <a:solidFill>
              <a:srgbClr val="8B8F8D"/>
            </a:solidFill>
          </p:spPr>
          <p:txBody>
            <a:bodyPr/>
            <a:lstStyle/>
            <a:p>
              <a:endParaRPr lang="en-US"/>
            </a:p>
          </p:txBody>
        </p:sp>
      </p:grpSp>
      <p:sp>
        <p:nvSpPr>
          <p:cNvPr id="43" name="TextBox 43"/>
          <p:cNvSpPr txBox="1"/>
          <p:nvPr/>
        </p:nvSpPr>
        <p:spPr>
          <a:xfrm>
            <a:off x="7584293" y="8080314"/>
            <a:ext cx="3780380" cy="328757"/>
          </a:xfrm>
          <a:prstGeom prst="rect">
            <a:avLst/>
          </a:prstGeom>
        </p:spPr>
        <p:txBody>
          <a:bodyPr lIns="0" tIns="0" rIns="0" bIns="0" rtlCol="0" anchor="t">
            <a:spAutoFit/>
          </a:bodyPr>
          <a:lstStyle/>
          <a:p>
            <a:pPr algn="l">
              <a:lnSpc>
                <a:spcPts val="2508"/>
              </a:lnSpc>
            </a:pPr>
            <a:r>
              <a:rPr lang="en-US" sz="2090" b="1">
                <a:solidFill>
                  <a:srgbClr val="0B1F23"/>
                </a:solidFill>
                <a:latin typeface="Arial Bold"/>
                <a:ea typeface="Arial Bold"/>
                <a:cs typeface="Arial Bold"/>
                <a:sym typeface="Arial Bold"/>
              </a:rPr>
              <a:t>No frontend tests</a:t>
            </a:r>
          </a:p>
        </p:txBody>
      </p:sp>
      <p:sp>
        <p:nvSpPr>
          <p:cNvPr id="44" name="TextBox 44"/>
          <p:cNvSpPr txBox="1"/>
          <p:nvPr/>
        </p:nvSpPr>
        <p:spPr>
          <a:xfrm>
            <a:off x="11577298" y="8116816"/>
            <a:ext cx="3780380" cy="280089"/>
          </a:xfrm>
          <a:prstGeom prst="rect">
            <a:avLst/>
          </a:prstGeom>
        </p:spPr>
        <p:txBody>
          <a:bodyPr lIns="0" tIns="0" rIns="0" bIns="0" rtlCol="0" anchor="t">
            <a:spAutoFit/>
          </a:bodyPr>
          <a:lstStyle/>
          <a:p>
            <a:pPr algn="l">
              <a:lnSpc>
                <a:spcPts val="2126"/>
              </a:lnSpc>
            </a:pPr>
            <a:r>
              <a:rPr lang="en-US" sz="1772">
                <a:solidFill>
                  <a:srgbClr val="526664"/>
                </a:solidFill>
                <a:latin typeface="Arial"/>
                <a:ea typeface="Arial"/>
                <a:cs typeface="Arial"/>
                <a:sym typeface="Arial"/>
              </a:rPr>
              <a:t>Playwright in next sprint</a:t>
            </a:r>
          </a:p>
        </p:txBody>
      </p:sp>
      <p:sp>
        <p:nvSpPr>
          <p:cNvPr id="45" name="TextBox 45"/>
          <p:cNvSpPr txBox="1"/>
          <p:nvPr/>
        </p:nvSpPr>
        <p:spPr>
          <a:xfrm>
            <a:off x="15481815" y="8166901"/>
            <a:ext cx="2020472" cy="221895"/>
          </a:xfrm>
          <a:prstGeom prst="rect">
            <a:avLst/>
          </a:prstGeom>
        </p:spPr>
        <p:txBody>
          <a:bodyPr lIns="0" tIns="0" rIns="0" bIns="0" rtlCol="0" anchor="t">
            <a:spAutoFit/>
          </a:bodyPr>
          <a:lstStyle/>
          <a:p>
            <a:pPr algn="r">
              <a:lnSpc>
                <a:spcPts val="1740"/>
              </a:lnSpc>
            </a:pPr>
            <a:r>
              <a:rPr lang="en-US" sz="1450" spc="94">
                <a:solidFill>
                  <a:srgbClr val="FF3131"/>
                </a:solidFill>
                <a:latin typeface="Arial"/>
                <a:ea typeface="Arial"/>
                <a:cs typeface="Arial"/>
                <a:sym typeface="Arial"/>
              </a:rPr>
              <a:t>DEFERRED</a:t>
            </a:r>
          </a:p>
        </p:txBody>
      </p:sp>
      <p:grpSp>
        <p:nvGrpSpPr>
          <p:cNvPr id="46" name="Group 46"/>
          <p:cNvGrpSpPr/>
          <p:nvPr/>
        </p:nvGrpSpPr>
        <p:grpSpPr>
          <a:xfrm>
            <a:off x="787403" y="617597"/>
            <a:ext cx="2111216" cy="631706"/>
            <a:chOff x="0" y="0"/>
            <a:chExt cx="2814955" cy="842275"/>
          </a:xfrm>
        </p:grpSpPr>
        <p:sp>
          <p:nvSpPr>
            <p:cNvPr id="47" name="Freeform 47"/>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48" name="TextBox 48"/>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49" name="Group 49"/>
          <p:cNvGrpSpPr/>
          <p:nvPr/>
        </p:nvGrpSpPr>
        <p:grpSpPr>
          <a:xfrm>
            <a:off x="0" y="0"/>
            <a:ext cx="18288000" cy="550922"/>
            <a:chOff x="0" y="0"/>
            <a:chExt cx="24384000" cy="734563"/>
          </a:xfrm>
        </p:grpSpPr>
        <p:grpSp>
          <p:nvGrpSpPr>
            <p:cNvPr id="50" name="Group 50"/>
            <p:cNvGrpSpPr/>
            <p:nvPr/>
          </p:nvGrpSpPr>
          <p:grpSpPr>
            <a:xfrm>
              <a:off x="0" y="0"/>
              <a:ext cx="24384000" cy="734563"/>
              <a:chOff x="0" y="0"/>
              <a:chExt cx="4816593" cy="145099"/>
            </a:xfrm>
          </p:grpSpPr>
          <p:sp>
            <p:nvSpPr>
              <p:cNvPr id="51" name="Freeform 51"/>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52" name="TextBox 52"/>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53" name="Freeform 53"/>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54" name="Freeform 54"/>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55" name="Freeform 55"/>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
        <p:nvSpPr>
          <p:cNvPr id="56" name="TextBox 56"/>
          <p:cNvSpPr txBox="1"/>
          <p:nvPr/>
        </p:nvSpPr>
        <p:spPr>
          <a:xfrm>
            <a:off x="7584293" y="9070723"/>
            <a:ext cx="8889968" cy="285907"/>
          </a:xfrm>
          <a:prstGeom prst="rect">
            <a:avLst/>
          </a:prstGeom>
        </p:spPr>
        <p:txBody>
          <a:bodyPr lIns="0" tIns="0" rIns="0" bIns="0" rtlCol="0" anchor="t">
            <a:spAutoFit/>
          </a:bodyPr>
          <a:lstStyle/>
          <a:p>
            <a:pPr algn="l">
              <a:lnSpc>
                <a:spcPts val="2138"/>
              </a:lnSpc>
            </a:pPr>
            <a:r>
              <a:rPr lang="en-US" sz="1781" spc="77">
                <a:solidFill>
                  <a:srgbClr val="526664"/>
                </a:solidFill>
                <a:latin typeface="Arial"/>
                <a:ea typeface="Arial"/>
                <a:cs typeface="Arial"/>
                <a:sym typeface="Arial"/>
              </a:rPr>
              <a:t>THESE LIMITATIONS ARE ALREADY ISSUED AS TECHNICAL DEBT ON GITHUB</a:t>
            </a:r>
          </a:p>
        </p:txBody>
      </p:sp>
      <p:sp>
        <p:nvSpPr>
          <p:cNvPr id="57" name="TextBox 57"/>
          <p:cNvSpPr txBox="1"/>
          <p:nvPr/>
        </p:nvSpPr>
        <p:spPr>
          <a:xfrm>
            <a:off x="7584293" y="9547738"/>
            <a:ext cx="5352299" cy="285907"/>
          </a:xfrm>
          <a:prstGeom prst="rect">
            <a:avLst/>
          </a:prstGeom>
        </p:spPr>
        <p:txBody>
          <a:bodyPr lIns="0" tIns="0" rIns="0" bIns="0" rtlCol="0" anchor="t">
            <a:spAutoFit/>
          </a:bodyPr>
          <a:lstStyle/>
          <a:p>
            <a:pPr algn="l">
              <a:lnSpc>
                <a:spcPts val="2138"/>
              </a:lnSpc>
            </a:pPr>
            <a:r>
              <a:rPr lang="en-US" sz="1781" spc="77">
                <a:solidFill>
                  <a:srgbClr val="526664"/>
                </a:solidFill>
                <a:latin typeface="Arial"/>
                <a:ea typeface="Arial"/>
                <a:cs typeface="Arial"/>
                <a:sym typeface="Arial"/>
              </a:rPr>
              <a:t>https://github.com/Ph0enix19/Komplain.AI/issues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19050" y="1343025"/>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6348" y="508820"/>
            <a:ext cx="18288000" cy="811161"/>
            <a:chOff x="0" y="0"/>
            <a:chExt cx="4816593" cy="213639"/>
          </a:xfrm>
        </p:grpSpPr>
        <p:sp>
          <p:nvSpPr>
            <p:cNvPr id="6" name="Freeform 6"/>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7" name="TextBox 7"/>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8" name="Group 8"/>
          <p:cNvGrpSpPr/>
          <p:nvPr/>
        </p:nvGrpSpPr>
        <p:grpSpPr>
          <a:xfrm>
            <a:off x="-6348" y="1315978"/>
            <a:ext cx="18288000" cy="9037689"/>
            <a:chOff x="0" y="0"/>
            <a:chExt cx="24384000" cy="12050252"/>
          </a:xfrm>
        </p:grpSpPr>
        <p:sp>
          <p:nvSpPr>
            <p:cNvPr id="9" name="Freeform 9"/>
            <p:cNvSpPr/>
            <p:nvPr/>
          </p:nvSpPr>
          <p:spPr>
            <a:xfrm>
              <a:off x="0" y="0"/>
              <a:ext cx="24384000" cy="12050252"/>
            </a:xfrm>
            <a:custGeom>
              <a:avLst/>
              <a:gdLst/>
              <a:ahLst/>
              <a:cxnLst/>
              <a:rect l="l" t="t" r="r" b="b"/>
              <a:pathLst>
                <a:path w="24384000" h="12050252">
                  <a:moveTo>
                    <a:pt x="0" y="0"/>
                  </a:moveTo>
                  <a:lnTo>
                    <a:pt x="24384000" y="0"/>
                  </a:lnTo>
                  <a:lnTo>
                    <a:pt x="24384000" y="12050252"/>
                  </a:lnTo>
                  <a:lnTo>
                    <a:pt x="0" y="12050252"/>
                  </a:lnTo>
                  <a:close/>
                </a:path>
              </a:pathLst>
            </a:custGeom>
            <a:solidFill>
              <a:srgbClr val="F5F8F7"/>
            </a:solidFill>
          </p:spPr>
          <p:txBody>
            <a:bodyPr/>
            <a:lstStyle/>
            <a:p>
              <a:endParaRPr lang="en-US"/>
            </a:p>
          </p:txBody>
        </p:sp>
      </p:grpSp>
      <p:grpSp>
        <p:nvGrpSpPr>
          <p:cNvPr id="10" name="Group 10"/>
          <p:cNvGrpSpPr/>
          <p:nvPr/>
        </p:nvGrpSpPr>
        <p:grpSpPr>
          <a:xfrm>
            <a:off x="952500" y="1333500"/>
            <a:ext cx="16383000" cy="9525"/>
            <a:chOff x="0" y="0"/>
            <a:chExt cx="21844000" cy="12700"/>
          </a:xfrm>
        </p:grpSpPr>
        <p:sp>
          <p:nvSpPr>
            <p:cNvPr id="11" name="Freeform 11"/>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1961"/>
              </a:srgbClr>
            </a:solidFill>
          </p:spPr>
          <p:txBody>
            <a:bodyPr/>
            <a:lstStyle/>
            <a:p>
              <a:endParaRPr lang="en-US"/>
            </a:p>
          </p:txBody>
        </p:sp>
      </p:grpSp>
      <p:grpSp>
        <p:nvGrpSpPr>
          <p:cNvPr id="12" name="Group 12"/>
          <p:cNvGrpSpPr/>
          <p:nvPr/>
        </p:nvGrpSpPr>
        <p:grpSpPr>
          <a:xfrm>
            <a:off x="952500" y="9161145"/>
            <a:ext cx="16383000" cy="9525"/>
            <a:chOff x="0" y="0"/>
            <a:chExt cx="21844000" cy="12700"/>
          </a:xfrm>
        </p:grpSpPr>
        <p:sp>
          <p:nvSpPr>
            <p:cNvPr id="13" name="Freeform 13"/>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1176"/>
              </a:srgbClr>
            </a:solidFill>
          </p:spPr>
          <p:txBody>
            <a:bodyPr/>
            <a:lstStyle/>
            <a:p>
              <a:endParaRPr lang="en-US"/>
            </a:p>
          </p:txBody>
        </p:sp>
      </p:grpSp>
      <p:grpSp>
        <p:nvGrpSpPr>
          <p:cNvPr id="14" name="Group 14"/>
          <p:cNvGrpSpPr/>
          <p:nvPr/>
        </p:nvGrpSpPr>
        <p:grpSpPr>
          <a:xfrm>
            <a:off x="-12697" y="9288780"/>
            <a:ext cx="18300697" cy="416881"/>
            <a:chOff x="0" y="0"/>
            <a:chExt cx="24400929" cy="555841"/>
          </a:xfrm>
        </p:grpSpPr>
        <p:sp>
          <p:nvSpPr>
            <p:cNvPr id="15" name="Freeform 15"/>
            <p:cNvSpPr/>
            <p:nvPr/>
          </p:nvSpPr>
          <p:spPr>
            <a:xfrm>
              <a:off x="8509" y="8509"/>
              <a:ext cx="24384001" cy="538861"/>
            </a:xfrm>
            <a:custGeom>
              <a:avLst/>
              <a:gdLst/>
              <a:ahLst/>
              <a:cxnLst/>
              <a:rect l="l" t="t" r="r" b="b"/>
              <a:pathLst>
                <a:path w="24384001" h="538861">
                  <a:moveTo>
                    <a:pt x="0" y="0"/>
                  </a:moveTo>
                  <a:lnTo>
                    <a:pt x="24384001" y="0"/>
                  </a:lnTo>
                  <a:lnTo>
                    <a:pt x="24384001" y="538861"/>
                  </a:lnTo>
                  <a:lnTo>
                    <a:pt x="0" y="538861"/>
                  </a:lnTo>
                  <a:close/>
                </a:path>
              </a:pathLst>
            </a:custGeom>
            <a:solidFill>
              <a:srgbClr val="EA580C">
                <a:alpha val="56863"/>
              </a:srgbClr>
            </a:solidFill>
          </p:spPr>
          <p:txBody>
            <a:bodyPr/>
            <a:lstStyle/>
            <a:p>
              <a:endParaRPr lang="en-US"/>
            </a:p>
          </p:txBody>
        </p:sp>
        <p:sp>
          <p:nvSpPr>
            <p:cNvPr id="16" name="Freeform 16"/>
            <p:cNvSpPr/>
            <p:nvPr/>
          </p:nvSpPr>
          <p:spPr>
            <a:xfrm>
              <a:off x="0" y="0"/>
              <a:ext cx="24401018" cy="555879"/>
            </a:xfrm>
            <a:custGeom>
              <a:avLst/>
              <a:gdLst/>
              <a:ahLst/>
              <a:cxnLst/>
              <a:rect l="l" t="t" r="r" b="b"/>
              <a:pathLst>
                <a:path w="24401018" h="555879">
                  <a:moveTo>
                    <a:pt x="8509" y="0"/>
                  </a:moveTo>
                  <a:lnTo>
                    <a:pt x="24392510" y="0"/>
                  </a:lnTo>
                  <a:cubicBezTo>
                    <a:pt x="24397208" y="0"/>
                    <a:pt x="24401018" y="3810"/>
                    <a:pt x="24401018" y="8509"/>
                  </a:cubicBezTo>
                  <a:lnTo>
                    <a:pt x="24401018" y="547370"/>
                  </a:lnTo>
                  <a:cubicBezTo>
                    <a:pt x="24401018" y="552069"/>
                    <a:pt x="24397208" y="555879"/>
                    <a:pt x="24392510" y="555879"/>
                  </a:cubicBezTo>
                  <a:lnTo>
                    <a:pt x="8509" y="555879"/>
                  </a:lnTo>
                  <a:cubicBezTo>
                    <a:pt x="3810" y="555879"/>
                    <a:pt x="0" y="552069"/>
                    <a:pt x="0" y="547370"/>
                  </a:cubicBezTo>
                  <a:lnTo>
                    <a:pt x="0" y="8509"/>
                  </a:lnTo>
                  <a:cubicBezTo>
                    <a:pt x="0" y="3810"/>
                    <a:pt x="3810" y="0"/>
                    <a:pt x="8509" y="0"/>
                  </a:cubicBezTo>
                  <a:moveTo>
                    <a:pt x="8509" y="16891"/>
                  </a:moveTo>
                  <a:lnTo>
                    <a:pt x="8509" y="8509"/>
                  </a:lnTo>
                  <a:lnTo>
                    <a:pt x="17018" y="8509"/>
                  </a:lnTo>
                  <a:lnTo>
                    <a:pt x="17018" y="547370"/>
                  </a:lnTo>
                  <a:lnTo>
                    <a:pt x="8509" y="547370"/>
                  </a:lnTo>
                  <a:lnTo>
                    <a:pt x="8509" y="538861"/>
                  </a:lnTo>
                  <a:lnTo>
                    <a:pt x="24392510" y="538861"/>
                  </a:lnTo>
                  <a:lnTo>
                    <a:pt x="24392510" y="547370"/>
                  </a:lnTo>
                  <a:lnTo>
                    <a:pt x="24384000" y="547370"/>
                  </a:lnTo>
                  <a:lnTo>
                    <a:pt x="24384000" y="8509"/>
                  </a:lnTo>
                  <a:lnTo>
                    <a:pt x="24392510" y="8509"/>
                  </a:lnTo>
                  <a:lnTo>
                    <a:pt x="24392510" y="17018"/>
                  </a:lnTo>
                  <a:lnTo>
                    <a:pt x="8509" y="17018"/>
                  </a:lnTo>
                  <a:close/>
                </a:path>
              </a:pathLst>
            </a:custGeom>
            <a:solidFill>
              <a:srgbClr val="ED7D31">
                <a:alpha val="56863"/>
              </a:srgbClr>
            </a:solidFill>
          </p:spPr>
          <p:txBody>
            <a:bodyPr/>
            <a:lstStyle/>
            <a:p>
              <a:endParaRPr lang="en-US"/>
            </a:p>
          </p:txBody>
        </p:sp>
      </p:grpSp>
      <p:grpSp>
        <p:nvGrpSpPr>
          <p:cNvPr id="17" name="Group 17"/>
          <p:cNvGrpSpPr/>
          <p:nvPr/>
        </p:nvGrpSpPr>
        <p:grpSpPr>
          <a:xfrm>
            <a:off x="787403" y="617597"/>
            <a:ext cx="2111216" cy="631706"/>
            <a:chOff x="0" y="0"/>
            <a:chExt cx="2814955" cy="842275"/>
          </a:xfrm>
        </p:grpSpPr>
        <p:sp>
          <p:nvSpPr>
            <p:cNvPr id="18" name="Freeform 18"/>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19" name="TextBox 19"/>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20" name="Group 20"/>
          <p:cNvGrpSpPr/>
          <p:nvPr/>
        </p:nvGrpSpPr>
        <p:grpSpPr>
          <a:xfrm>
            <a:off x="0" y="0"/>
            <a:ext cx="18288000" cy="550922"/>
            <a:chOff x="0" y="0"/>
            <a:chExt cx="24384000" cy="734563"/>
          </a:xfrm>
        </p:grpSpPr>
        <p:grpSp>
          <p:nvGrpSpPr>
            <p:cNvPr id="21" name="Group 21"/>
            <p:cNvGrpSpPr/>
            <p:nvPr/>
          </p:nvGrpSpPr>
          <p:grpSpPr>
            <a:xfrm>
              <a:off x="0" y="0"/>
              <a:ext cx="24384000" cy="734563"/>
              <a:chOff x="0" y="0"/>
              <a:chExt cx="4816593" cy="145099"/>
            </a:xfrm>
          </p:grpSpPr>
          <p:sp>
            <p:nvSpPr>
              <p:cNvPr id="22" name="Freeform 22"/>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23" name="TextBox 23"/>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24" name="Freeform 24"/>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25" name="Freeform 25"/>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26" name="Freeform 26"/>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grpSp>
        <p:nvGrpSpPr>
          <p:cNvPr id="27" name="Group 27"/>
          <p:cNvGrpSpPr/>
          <p:nvPr/>
        </p:nvGrpSpPr>
        <p:grpSpPr>
          <a:xfrm>
            <a:off x="1028700" y="7719946"/>
            <a:ext cx="9631680" cy="740163"/>
            <a:chOff x="0" y="0"/>
            <a:chExt cx="2536739" cy="194940"/>
          </a:xfrm>
        </p:grpSpPr>
        <p:sp>
          <p:nvSpPr>
            <p:cNvPr id="28" name="Freeform 28"/>
            <p:cNvSpPr/>
            <p:nvPr/>
          </p:nvSpPr>
          <p:spPr>
            <a:xfrm>
              <a:off x="0" y="0"/>
              <a:ext cx="2536739" cy="194940"/>
            </a:xfrm>
            <a:custGeom>
              <a:avLst/>
              <a:gdLst/>
              <a:ahLst/>
              <a:cxnLst/>
              <a:rect l="l" t="t" r="r" b="b"/>
              <a:pathLst>
                <a:path w="2536739" h="194940">
                  <a:moveTo>
                    <a:pt x="0" y="0"/>
                  </a:moveTo>
                  <a:lnTo>
                    <a:pt x="2536739" y="0"/>
                  </a:lnTo>
                  <a:lnTo>
                    <a:pt x="2536739" y="194940"/>
                  </a:lnTo>
                  <a:lnTo>
                    <a:pt x="0" y="194940"/>
                  </a:lnTo>
                  <a:close/>
                </a:path>
              </a:pathLst>
            </a:custGeom>
            <a:solidFill>
              <a:srgbClr val="FFFFFF"/>
            </a:solidFill>
          </p:spPr>
          <p:txBody>
            <a:bodyPr/>
            <a:lstStyle/>
            <a:p>
              <a:endParaRPr lang="en-US"/>
            </a:p>
          </p:txBody>
        </p:sp>
        <p:sp>
          <p:nvSpPr>
            <p:cNvPr id="29" name="TextBox 29"/>
            <p:cNvSpPr txBox="1"/>
            <p:nvPr/>
          </p:nvSpPr>
          <p:spPr>
            <a:xfrm>
              <a:off x="0" y="-19050"/>
              <a:ext cx="2536739" cy="213990"/>
            </a:xfrm>
            <a:prstGeom prst="rect">
              <a:avLst/>
            </a:prstGeom>
          </p:spPr>
          <p:txBody>
            <a:bodyPr lIns="50800" tIns="50800" rIns="50800" bIns="50800" rtlCol="0" anchor="ctr"/>
            <a:lstStyle/>
            <a:p>
              <a:pPr algn="ctr">
                <a:lnSpc>
                  <a:spcPts val="2040"/>
                </a:lnSpc>
              </a:pPr>
              <a:endParaRPr/>
            </a:p>
          </p:txBody>
        </p:sp>
      </p:grpSp>
      <p:sp>
        <p:nvSpPr>
          <p:cNvPr id="30" name="TextBox 30"/>
          <p:cNvSpPr txBox="1"/>
          <p:nvPr/>
        </p:nvSpPr>
        <p:spPr>
          <a:xfrm>
            <a:off x="13330876" y="802005"/>
            <a:ext cx="3651528"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08 / 12 · PRODUCTION ENGINEERING</a:t>
            </a:r>
          </a:p>
        </p:txBody>
      </p:sp>
      <p:sp>
        <p:nvSpPr>
          <p:cNvPr id="31" name="TextBox 31"/>
          <p:cNvSpPr txBox="1"/>
          <p:nvPr/>
        </p:nvSpPr>
        <p:spPr>
          <a:xfrm>
            <a:off x="977903" y="1730378"/>
            <a:ext cx="16823693"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PRODUCTION ENGINEERING &amp; COST CONTROL</a:t>
            </a:r>
          </a:p>
        </p:txBody>
      </p:sp>
      <p:sp>
        <p:nvSpPr>
          <p:cNvPr id="32" name="TextBox 32"/>
          <p:cNvSpPr txBox="1"/>
          <p:nvPr/>
        </p:nvSpPr>
        <p:spPr>
          <a:xfrm>
            <a:off x="977903" y="2324100"/>
            <a:ext cx="16823693" cy="6407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Every complaint shows you what it cost.</a:t>
            </a:r>
          </a:p>
        </p:txBody>
      </p:sp>
      <p:sp>
        <p:nvSpPr>
          <p:cNvPr id="33" name="TextBox 33"/>
          <p:cNvSpPr txBox="1"/>
          <p:nvPr/>
        </p:nvSpPr>
        <p:spPr>
          <a:xfrm>
            <a:off x="977903" y="3834765"/>
            <a:ext cx="3757423" cy="750189"/>
          </a:xfrm>
          <a:prstGeom prst="rect">
            <a:avLst/>
          </a:prstGeom>
        </p:spPr>
        <p:txBody>
          <a:bodyPr lIns="0" tIns="0" rIns="0" bIns="0" rtlCol="0" anchor="t">
            <a:spAutoFit/>
          </a:bodyPr>
          <a:lstStyle/>
          <a:p>
            <a:pPr algn="l">
              <a:lnSpc>
                <a:spcPts val="5328"/>
              </a:lnSpc>
            </a:pPr>
            <a:r>
              <a:rPr lang="en-US" sz="5550" b="1" spc="-150">
                <a:solidFill>
                  <a:srgbClr val="0F766E"/>
                </a:solidFill>
                <a:latin typeface="Arial Bold"/>
                <a:ea typeface="Arial Bold"/>
                <a:cs typeface="Arial Bold"/>
                <a:sym typeface="Arial Bold"/>
              </a:rPr>
              <a:t>15.8–33.9</a:t>
            </a:r>
            <a:r>
              <a:rPr lang="en-US" sz="5550" b="1" spc="-150">
                <a:solidFill>
                  <a:srgbClr val="AABCB8"/>
                </a:solidFill>
                <a:latin typeface="Arial Bold"/>
                <a:ea typeface="Arial Bold"/>
                <a:cs typeface="Arial Bold"/>
                <a:sym typeface="Arial Bold"/>
              </a:rPr>
              <a:t>s</a:t>
            </a:r>
          </a:p>
        </p:txBody>
      </p:sp>
      <p:sp>
        <p:nvSpPr>
          <p:cNvPr id="34" name="TextBox 34"/>
          <p:cNvSpPr txBox="1"/>
          <p:nvPr/>
        </p:nvSpPr>
        <p:spPr>
          <a:xfrm>
            <a:off x="977903" y="4558665"/>
            <a:ext cx="7994018" cy="243840"/>
          </a:xfrm>
          <a:prstGeom prst="rect">
            <a:avLst/>
          </a:prstGeom>
        </p:spPr>
        <p:txBody>
          <a:bodyPr lIns="0" tIns="0" rIns="0" bIns="0" rtlCol="0" anchor="t">
            <a:spAutoFit/>
          </a:bodyPr>
          <a:lstStyle/>
          <a:p>
            <a:pPr algn="l">
              <a:lnSpc>
                <a:spcPts val="1831"/>
              </a:lnSpc>
            </a:pPr>
            <a:r>
              <a:rPr lang="en-US" sz="1526" spc="66">
                <a:solidFill>
                  <a:srgbClr val="AABCB8"/>
                </a:solidFill>
                <a:latin typeface="Arial"/>
                <a:ea typeface="Arial"/>
                <a:cs typeface="Arial"/>
                <a:sym typeface="Arial"/>
              </a:rPr>
              <a:t>TOTAL PIPELINE LATENCY · LIVE IN UI</a:t>
            </a:r>
          </a:p>
        </p:txBody>
      </p:sp>
      <p:sp>
        <p:nvSpPr>
          <p:cNvPr id="35" name="TextBox 35"/>
          <p:cNvSpPr txBox="1"/>
          <p:nvPr/>
        </p:nvSpPr>
        <p:spPr>
          <a:xfrm>
            <a:off x="9550403" y="3834765"/>
            <a:ext cx="7994018" cy="750189"/>
          </a:xfrm>
          <a:prstGeom prst="rect">
            <a:avLst/>
          </a:prstGeom>
        </p:spPr>
        <p:txBody>
          <a:bodyPr lIns="0" tIns="0" rIns="0" bIns="0" rtlCol="0" anchor="t">
            <a:spAutoFit/>
          </a:bodyPr>
          <a:lstStyle/>
          <a:p>
            <a:pPr algn="l">
              <a:lnSpc>
                <a:spcPts val="5328"/>
              </a:lnSpc>
            </a:pPr>
            <a:r>
              <a:rPr lang="en-US" sz="5550" b="1" spc="-333">
                <a:solidFill>
                  <a:srgbClr val="0F766E"/>
                </a:solidFill>
                <a:latin typeface="Arial Bold"/>
                <a:ea typeface="Arial Bold"/>
                <a:cs typeface="Arial Bold"/>
                <a:sym typeface="Arial Bold"/>
              </a:rPr>
              <a:t>2,133–2,896</a:t>
            </a:r>
            <a:r>
              <a:rPr lang="en-US" sz="5550" b="1" spc="-333">
                <a:solidFill>
                  <a:srgbClr val="AABCB8"/>
                </a:solidFill>
                <a:latin typeface="Arial Bold"/>
                <a:ea typeface="Arial Bold"/>
                <a:cs typeface="Arial Bold"/>
                <a:sym typeface="Arial Bold"/>
              </a:rPr>
              <a:t>tokens</a:t>
            </a:r>
          </a:p>
        </p:txBody>
      </p:sp>
      <p:sp>
        <p:nvSpPr>
          <p:cNvPr id="36" name="TextBox 36"/>
          <p:cNvSpPr txBox="1"/>
          <p:nvPr/>
        </p:nvSpPr>
        <p:spPr>
          <a:xfrm>
            <a:off x="9550403" y="4558665"/>
            <a:ext cx="7994018" cy="243840"/>
          </a:xfrm>
          <a:prstGeom prst="rect">
            <a:avLst/>
          </a:prstGeom>
        </p:spPr>
        <p:txBody>
          <a:bodyPr lIns="0" tIns="0" rIns="0" bIns="0" rtlCol="0" anchor="t">
            <a:spAutoFit/>
          </a:bodyPr>
          <a:lstStyle/>
          <a:p>
            <a:pPr algn="l">
              <a:lnSpc>
                <a:spcPts val="1831"/>
              </a:lnSpc>
            </a:pPr>
            <a:r>
              <a:rPr lang="en-US" sz="1526" spc="66">
                <a:solidFill>
                  <a:srgbClr val="AABCB8"/>
                </a:solidFill>
                <a:latin typeface="Arial"/>
                <a:ea typeface="Arial"/>
                <a:cs typeface="Arial"/>
                <a:sym typeface="Arial"/>
              </a:rPr>
              <a:t>PER COMPLAINT · MEASURED, NOT GUESSED</a:t>
            </a:r>
          </a:p>
        </p:txBody>
      </p:sp>
      <p:sp>
        <p:nvSpPr>
          <p:cNvPr id="37" name="TextBox 37"/>
          <p:cNvSpPr txBox="1"/>
          <p:nvPr/>
        </p:nvSpPr>
        <p:spPr>
          <a:xfrm>
            <a:off x="952500" y="5367652"/>
            <a:ext cx="4611367" cy="1426464"/>
          </a:xfrm>
          <a:prstGeom prst="rect">
            <a:avLst/>
          </a:prstGeom>
        </p:spPr>
        <p:txBody>
          <a:bodyPr lIns="0" tIns="0" rIns="0" bIns="0" rtlCol="0" anchor="t">
            <a:spAutoFit/>
          </a:bodyPr>
          <a:lstStyle/>
          <a:p>
            <a:pPr algn="l">
              <a:lnSpc>
                <a:spcPts val="5328"/>
              </a:lnSpc>
            </a:pPr>
            <a:r>
              <a:rPr lang="en-US" sz="5550" b="1" spc="-150">
                <a:solidFill>
                  <a:srgbClr val="EA580C"/>
                </a:solidFill>
                <a:latin typeface="Arial Bold"/>
                <a:ea typeface="Arial Bold"/>
                <a:cs typeface="Arial Bold"/>
                <a:sym typeface="Arial Bold"/>
              </a:rPr>
              <a:t>RM 0.004–RM 0.006</a:t>
            </a:r>
          </a:p>
        </p:txBody>
      </p:sp>
      <p:sp>
        <p:nvSpPr>
          <p:cNvPr id="38" name="TextBox 38"/>
          <p:cNvSpPr txBox="1"/>
          <p:nvPr/>
        </p:nvSpPr>
        <p:spPr>
          <a:xfrm>
            <a:off x="952500" y="6790306"/>
            <a:ext cx="7994018" cy="243840"/>
          </a:xfrm>
          <a:prstGeom prst="rect">
            <a:avLst/>
          </a:prstGeom>
        </p:spPr>
        <p:txBody>
          <a:bodyPr lIns="0" tIns="0" rIns="0" bIns="0" rtlCol="0" anchor="t">
            <a:spAutoFit/>
          </a:bodyPr>
          <a:lstStyle/>
          <a:p>
            <a:pPr algn="l">
              <a:lnSpc>
                <a:spcPts val="1831"/>
              </a:lnSpc>
            </a:pPr>
            <a:r>
              <a:rPr lang="en-US" sz="1526" spc="66">
                <a:solidFill>
                  <a:srgbClr val="AABCB8"/>
                </a:solidFill>
                <a:latin typeface="Arial"/>
                <a:ea typeface="Arial"/>
                <a:cs typeface="Arial"/>
                <a:sym typeface="Arial"/>
              </a:rPr>
              <a:t>COST PER COMPLAINT · PUBLISHED FORMULA</a:t>
            </a:r>
          </a:p>
        </p:txBody>
      </p:sp>
      <p:sp>
        <p:nvSpPr>
          <p:cNvPr id="39" name="TextBox 39"/>
          <p:cNvSpPr txBox="1"/>
          <p:nvPr/>
        </p:nvSpPr>
        <p:spPr>
          <a:xfrm>
            <a:off x="9533887" y="5367652"/>
            <a:ext cx="4730572" cy="750189"/>
          </a:xfrm>
          <a:prstGeom prst="rect">
            <a:avLst/>
          </a:prstGeom>
        </p:spPr>
        <p:txBody>
          <a:bodyPr lIns="0" tIns="0" rIns="0" bIns="0" rtlCol="0" anchor="t">
            <a:spAutoFit/>
          </a:bodyPr>
          <a:lstStyle/>
          <a:p>
            <a:pPr algn="l">
              <a:lnSpc>
                <a:spcPts val="5328"/>
              </a:lnSpc>
            </a:pPr>
            <a:r>
              <a:rPr lang="en-US" sz="5550" b="1" spc="-150">
                <a:solidFill>
                  <a:srgbClr val="0F766E"/>
                </a:solidFill>
                <a:latin typeface="Arial Bold"/>
                <a:ea typeface="Arial Bold"/>
                <a:cs typeface="Arial Bold"/>
                <a:sym typeface="Arial Bold"/>
              </a:rPr>
              <a:t>1</a:t>
            </a:r>
            <a:r>
              <a:rPr lang="en-US" sz="5550" b="1" spc="-150">
                <a:solidFill>
                  <a:srgbClr val="AABCB8"/>
                </a:solidFill>
                <a:latin typeface="Arial Bold"/>
                <a:ea typeface="Arial Bold"/>
                <a:cs typeface="Arial Bold"/>
                <a:sym typeface="Arial Bold"/>
              </a:rPr>
              <a:t>env var</a:t>
            </a:r>
          </a:p>
        </p:txBody>
      </p:sp>
      <p:sp>
        <p:nvSpPr>
          <p:cNvPr id="40" name="TextBox 40"/>
          <p:cNvSpPr txBox="1"/>
          <p:nvPr/>
        </p:nvSpPr>
        <p:spPr>
          <a:xfrm>
            <a:off x="9550403" y="6091552"/>
            <a:ext cx="7994018" cy="243840"/>
          </a:xfrm>
          <a:prstGeom prst="rect">
            <a:avLst/>
          </a:prstGeom>
        </p:spPr>
        <p:txBody>
          <a:bodyPr lIns="0" tIns="0" rIns="0" bIns="0" rtlCol="0" anchor="t">
            <a:spAutoFit/>
          </a:bodyPr>
          <a:lstStyle/>
          <a:p>
            <a:pPr algn="l">
              <a:lnSpc>
                <a:spcPts val="1831"/>
              </a:lnSpc>
            </a:pPr>
            <a:r>
              <a:rPr lang="en-US" sz="1526" spc="66">
                <a:solidFill>
                  <a:srgbClr val="AABCB8"/>
                </a:solidFill>
                <a:latin typeface="Arial"/>
                <a:ea typeface="Arial"/>
                <a:cs typeface="Arial"/>
                <a:sym typeface="Arial"/>
              </a:rPr>
              <a:t>SWITCHES GROQ → GLM · ZERO CODE CHANGE</a:t>
            </a:r>
          </a:p>
        </p:txBody>
      </p:sp>
      <p:sp>
        <p:nvSpPr>
          <p:cNvPr id="41" name="TextBox 41"/>
          <p:cNvSpPr txBox="1"/>
          <p:nvPr/>
        </p:nvSpPr>
        <p:spPr>
          <a:xfrm>
            <a:off x="1207770" y="7948546"/>
            <a:ext cx="9273540" cy="285750"/>
          </a:xfrm>
          <a:prstGeom prst="rect">
            <a:avLst/>
          </a:prstGeom>
        </p:spPr>
        <p:txBody>
          <a:bodyPr lIns="0" tIns="0" rIns="0" bIns="0" rtlCol="0" anchor="t">
            <a:spAutoFit/>
          </a:bodyPr>
          <a:lstStyle/>
          <a:p>
            <a:pPr algn="l">
              <a:lnSpc>
                <a:spcPts val="2160"/>
              </a:lnSpc>
            </a:pPr>
            <a:r>
              <a:rPr lang="en-US" sz="1800">
                <a:solidFill>
                  <a:srgbClr val="0B1F23"/>
                </a:solidFill>
                <a:latin typeface="Arial"/>
                <a:ea typeface="Arial"/>
                <a:cs typeface="Arial"/>
                <a:sym typeface="Arial"/>
              </a:rPr>
              <a:t>estimated_cost_rm = (total_tokens / 1000) × COST_PER_1K_TOKENS_RM</a:t>
            </a:r>
            <a:r>
              <a:rPr lang="en-US" sz="1800">
                <a:solidFill>
                  <a:srgbClr val="ED7D31"/>
                </a:solidFill>
                <a:latin typeface="Arial"/>
                <a:ea typeface="Arial"/>
                <a:cs typeface="Arial"/>
                <a:sym typeface="Arial"/>
              </a:rPr>
              <a:t> </a:t>
            </a:r>
            <a:r>
              <a:rPr lang="en-US" sz="1800">
                <a:solidFill>
                  <a:srgbClr val="EA580C"/>
                </a:solidFill>
                <a:latin typeface="Arial"/>
                <a:ea typeface="Arial"/>
                <a:cs typeface="Arial"/>
                <a:sym typeface="Arial"/>
              </a:rPr>
              <a:t>// 0.002 default</a:t>
            </a:r>
          </a:p>
        </p:txBody>
      </p:sp>
      <p:sp>
        <p:nvSpPr>
          <p:cNvPr id="42" name="TextBox 42"/>
          <p:cNvSpPr txBox="1"/>
          <p:nvPr/>
        </p:nvSpPr>
        <p:spPr>
          <a:xfrm>
            <a:off x="952500" y="9372762"/>
            <a:ext cx="16823693" cy="229867"/>
          </a:xfrm>
          <a:prstGeom prst="rect">
            <a:avLst/>
          </a:prstGeom>
        </p:spPr>
        <p:txBody>
          <a:bodyPr lIns="0" tIns="0" rIns="0" bIns="0" rtlCol="0" anchor="t">
            <a:spAutoFit/>
          </a:bodyPr>
          <a:lstStyle/>
          <a:p>
            <a:pPr algn="l">
              <a:lnSpc>
                <a:spcPts val="1800"/>
              </a:lnSpc>
            </a:pPr>
            <a:r>
              <a:rPr lang="en-US" sz="1500">
                <a:solidFill>
                  <a:srgbClr val="FFFFFF"/>
                </a:solidFill>
                <a:latin typeface="Arial"/>
                <a:ea typeface="Arial"/>
                <a:cs typeface="Arial"/>
                <a:sym typeface="Arial"/>
              </a:rPr>
              <a:t>RUFF · PIP-AUDIT · DETECT-SECRETS · TYPED PYDANTIC I/O · ENV-VAR SECRETS · FIFO BACKPRESSURE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977903" y="1956275"/>
            <a:ext cx="15609177" cy="994946"/>
            <a:chOff x="0" y="0"/>
            <a:chExt cx="20812235" cy="1326594"/>
          </a:xfrm>
        </p:grpSpPr>
        <p:sp>
          <p:nvSpPr>
            <p:cNvPr id="3" name="Freeform 3"/>
            <p:cNvSpPr/>
            <p:nvPr/>
          </p:nvSpPr>
          <p:spPr>
            <a:xfrm>
              <a:off x="0" y="0"/>
              <a:ext cx="20812235" cy="1326595"/>
            </a:xfrm>
            <a:custGeom>
              <a:avLst/>
              <a:gdLst/>
              <a:ahLst/>
              <a:cxnLst/>
              <a:rect l="l" t="t" r="r" b="b"/>
              <a:pathLst>
                <a:path w="20812235" h="1326595">
                  <a:moveTo>
                    <a:pt x="0" y="0"/>
                  </a:moveTo>
                  <a:lnTo>
                    <a:pt x="20812235" y="0"/>
                  </a:lnTo>
                  <a:lnTo>
                    <a:pt x="20812235" y="1326595"/>
                  </a:lnTo>
                  <a:lnTo>
                    <a:pt x="0" y="1326595"/>
                  </a:lnTo>
                  <a:close/>
                </a:path>
              </a:pathLst>
            </a:custGeom>
            <a:blipFill>
              <a:blip r:embed="rId3">
                <a:alphaModFix amt="0"/>
              </a:blip>
              <a:stretch>
                <a:fillRect t="-256166" r="-5445" b="-288508"/>
              </a:stretch>
            </a:blipFill>
          </p:spPr>
          <p:txBody>
            <a:bodyPr/>
            <a:lstStyle/>
            <a:p>
              <a:endParaRPr lang="en-US"/>
            </a:p>
          </p:txBody>
        </p:sp>
        <p:sp>
          <p:nvSpPr>
            <p:cNvPr id="4" name="TextBox 4"/>
            <p:cNvSpPr txBox="1"/>
            <p:nvPr/>
          </p:nvSpPr>
          <p:spPr>
            <a:xfrm>
              <a:off x="0" y="-19050"/>
              <a:ext cx="20812235" cy="1345644"/>
            </a:xfrm>
            <a:prstGeom prst="rect">
              <a:avLst/>
            </a:prstGeom>
          </p:spPr>
          <p:txBody>
            <a:bodyPr lIns="0" tIns="0" rIns="0" bIns="0" rtlCol="0" anchor="ctr"/>
            <a:lstStyle/>
            <a:p>
              <a:pPr algn="l">
                <a:lnSpc>
                  <a:spcPts val="5759"/>
                </a:lnSpc>
              </a:pPr>
              <a:r>
                <a:rPr lang="en-US" sz="4800" b="1">
                  <a:solidFill>
                    <a:srgbClr val="1F2D2B"/>
                  </a:solidFill>
                  <a:latin typeface="Arial Bold"/>
                  <a:ea typeface="Arial Bold"/>
                  <a:cs typeface="Arial Bold"/>
                  <a:sym typeface="Arial Bold"/>
                </a:rPr>
                <a:t>Land on free. </a:t>
              </a:r>
              <a:r>
                <a:rPr lang="en-US" sz="4800" b="1">
                  <a:solidFill>
                    <a:srgbClr val="F05A22"/>
                  </a:solidFill>
                  <a:latin typeface="Arial Bold"/>
                  <a:ea typeface="Arial Bold"/>
                  <a:cs typeface="Arial Bold"/>
                  <a:sym typeface="Arial Bold"/>
                </a:rPr>
                <a:t>Break even at Month 8.</a:t>
              </a:r>
            </a:p>
          </p:txBody>
        </p:sp>
      </p:grpSp>
      <p:grpSp>
        <p:nvGrpSpPr>
          <p:cNvPr id="5" name="Group 5"/>
          <p:cNvGrpSpPr/>
          <p:nvPr/>
        </p:nvGrpSpPr>
        <p:grpSpPr>
          <a:xfrm>
            <a:off x="977903" y="2903596"/>
            <a:ext cx="5267963" cy="3683003"/>
            <a:chOff x="0" y="0"/>
            <a:chExt cx="7023951" cy="4910671"/>
          </a:xfrm>
        </p:grpSpPr>
        <p:sp>
          <p:nvSpPr>
            <p:cNvPr id="6" name="Freeform 6"/>
            <p:cNvSpPr/>
            <p:nvPr/>
          </p:nvSpPr>
          <p:spPr>
            <a:xfrm>
              <a:off x="16891" y="16891"/>
              <a:ext cx="6990081" cy="4876800"/>
            </a:xfrm>
            <a:custGeom>
              <a:avLst/>
              <a:gdLst/>
              <a:ahLst/>
              <a:cxnLst/>
              <a:rect l="l" t="t" r="r" b="b"/>
              <a:pathLst>
                <a:path w="6990081" h="4876800">
                  <a:moveTo>
                    <a:pt x="0" y="0"/>
                  </a:moveTo>
                  <a:lnTo>
                    <a:pt x="6990081" y="0"/>
                  </a:lnTo>
                  <a:lnTo>
                    <a:pt x="6990081" y="4876800"/>
                  </a:lnTo>
                  <a:lnTo>
                    <a:pt x="0" y="4876800"/>
                  </a:lnTo>
                  <a:close/>
                </a:path>
              </a:pathLst>
            </a:custGeom>
            <a:solidFill>
              <a:srgbClr val="FFFFFF"/>
            </a:solidFill>
          </p:spPr>
          <p:txBody>
            <a:bodyPr/>
            <a:lstStyle/>
            <a:p>
              <a:endParaRPr lang="en-US"/>
            </a:p>
          </p:txBody>
        </p:sp>
        <p:sp>
          <p:nvSpPr>
            <p:cNvPr id="7" name="Freeform 7"/>
            <p:cNvSpPr/>
            <p:nvPr/>
          </p:nvSpPr>
          <p:spPr>
            <a:xfrm>
              <a:off x="0" y="0"/>
              <a:ext cx="7023862" cy="4910582"/>
            </a:xfrm>
            <a:custGeom>
              <a:avLst/>
              <a:gdLst/>
              <a:ahLst/>
              <a:cxnLst/>
              <a:rect l="l" t="t" r="r" b="b"/>
              <a:pathLst>
                <a:path w="7023862" h="4910582">
                  <a:moveTo>
                    <a:pt x="16891" y="0"/>
                  </a:moveTo>
                  <a:lnTo>
                    <a:pt x="7006972" y="0"/>
                  </a:lnTo>
                  <a:cubicBezTo>
                    <a:pt x="7016369" y="0"/>
                    <a:pt x="7023862" y="7620"/>
                    <a:pt x="7023862" y="16891"/>
                  </a:cubicBezTo>
                  <a:lnTo>
                    <a:pt x="7023862" y="4893691"/>
                  </a:lnTo>
                  <a:cubicBezTo>
                    <a:pt x="7023862" y="4903089"/>
                    <a:pt x="7016242" y="4910582"/>
                    <a:pt x="7006972"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006972" y="4876800"/>
                  </a:lnTo>
                  <a:lnTo>
                    <a:pt x="7006972" y="4893691"/>
                  </a:lnTo>
                  <a:lnTo>
                    <a:pt x="6990080" y="4893691"/>
                  </a:lnTo>
                  <a:lnTo>
                    <a:pt x="6990080" y="16891"/>
                  </a:lnTo>
                  <a:lnTo>
                    <a:pt x="7006972" y="16891"/>
                  </a:lnTo>
                  <a:lnTo>
                    <a:pt x="7006972" y="33909"/>
                  </a:lnTo>
                  <a:lnTo>
                    <a:pt x="16891" y="33909"/>
                  </a:lnTo>
                  <a:close/>
                </a:path>
              </a:pathLst>
            </a:custGeom>
            <a:solidFill>
              <a:srgbClr val="E7E9E6"/>
            </a:solidFill>
          </p:spPr>
          <p:txBody>
            <a:bodyPr/>
            <a:lstStyle/>
            <a:p>
              <a:endParaRPr lang="en-US"/>
            </a:p>
          </p:txBody>
        </p:sp>
      </p:grpSp>
      <p:grpSp>
        <p:nvGrpSpPr>
          <p:cNvPr id="8" name="Group 8"/>
          <p:cNvGrpSpPr/>
          <p:nvPr/>
        </p:nvGrpSpPr>
        <p:grpSpPr>
          <a:xfrm>
            <a:off x="1264920" y="3135749"/>
            <a:ext cx="4693920" cy="365485"/>
            <a:chOff x="0" y="0"/>
            <a:chExt cx="6258560" cy="487313"/>
          </a:xfrm>
        </p:grpSpPr>
        <p:sp>
          <p:nvSpPr>
            <p:cNvPr id="9" name="Freeform 9"/>
            <p:cNvSpPr/>
            <p:nvPr/>
          </p:nvSpPr>
          <p:spPr>
            <a:xfrm>
              <a:off x="0" y="0"/>
              <a:ext cx="6258560" cy="487313"/>
            </a:xfrm>
            <a:custGeom>
              <a:avLst/>
              <a:gdLst/>
              <a:ahLst/>
              <a:cxnLst/>
              <a:rect l="l" t="t" r="r" b="b"/>
              <a:pathLst>
                <a:path w="6258560" h="487313">
                  <a:moveTo>
                    <a:pt x="0" y="0"/>
                  </a:moveTo>
                  <a:lnTo>
                    <a:pt x="6258560" y="0"/>
                  </a:lnTo>
                  <a:lnTo>
                    <a:pt x="6258560" y="487313"/>
                  </a:lnTo>
                  <a:lnTo>
                    <a:pt x="0" y="487313"/>
                  </a:lnTo>
                  <a:close/>
                </a:path>
              </a:pathLst>
            </a:custGeom>
            <a:blipFill>
              <a:blip r:embed="rId3">
                <a:alphaModFix amt="0"/>
              </a:blip>
              <a:stretch>
                <a:fillRect t="-205212" b="-195280"/>
              </a:stretch>
            </a:blipFill>
          </p:spPr>
          <p:txBody>
            <a:bodyPr/>
            <a:lstStyle/>
            <a:p>
              <a:endParaRPr lang="en-US"/>
            </a:p>
          </p:txBody>
        </p:sp>
        <p:sp>
          <p:nvSpPr>
            <p:cNvPr id="10" name="TextBox 10"/>
            <p:cNvSpPr txBox="1"/>
            <p:nvPr/>
          </p:nvSpPr>
          <p:spPr>
            <a:xfrm>
              <a:off x="0" y="-19050"/>
              <a:ext cx="6258560" cy="506363"/>
            </a:xfrm>
            <a:prstGeom prst="rect">
              <a:avLst/>
            </a:prstGeom>
          </p:spPr>
          <p:txBody>
            <a:bodyPr lIns="0" tIns="0" rIns="0" bIns="0" rtlCol="0" anchor="ctr"/>
            <a:lstStyle/>
            <a:p>
              <a:pPr algn="l">
                <a:lnSpc>
                  <a:spcPts val="2160"/>
                </a:lnSpc>
              </a:pPr>
              <a:r>
                <a:rPr lang="en-US" sz="1800">
                  <a:solidFill>
                    <a:srgbClr val="6C7571"/>
                  </a:solidFill>
                  <a:latin typeface="Arial"/>
                  <a:ea typeface="Arial"/>
                  <a:cs typeface="Arial"/>
                  <a:sym typeface="Arial"/>
                </a:rPr>
                <a:t>Year 1 · 2026</a:t>
              </a:r>
            </a:p>
          </p:txBody>
        </p:sp>
      </p:grpSp>
      <p:grpSp>
        <p:nvGrpSpPr>
          <p:cNvPr id="11" name="Group 11"/>
          <p:cNvGrpSpPr/>
          <p:nvPr/>
        </p:nvGrpSpPr>
        <p:grpSpPr>
          <a:xfrm>
            <a:off x="1264920" y="3538085"/>
            <a:ext cx="4693920" cy="661392"/>
            <a:chOff x="0" y="0"/>
            <a:chExt cx="6258560" cy="881856"/>
          </a:xfrm>
        </p:grpSpPr>
        <p:sp>
          <p:nvSpPr>
            <p:cNvPr id="12" name="Freeform 12"/>
            <p:cNvSpPr/>
            <p:nvPr/>
          </p:nvSpPr>
          <p:spPr>
            <a:xfrm>
              <a:off x="0" y="0"/>
              <a:ext cx="6258560" cy="881856"/>
            </a:xfrm>
            <a:custGeom>
              <a:avLst/>
              <a:gdLst/>
              <a:ahLst/>
              <a:cxnLst/>
              <a:rect l="l" t="t" r="r" b="b"/>
              <a:pathLst>
                <a:path w="6258560" h="881856">
                  <a:moveTo>
                    <a:pt x="0" y="0"/>
                  </a:moveTo>
                  <a:lnTo>
                    <a:pt x="6258560" y="0"/>
                  </a:lnTo>
                  <a:lnTo>
                    <a:pt x="6258560" y="881856"/>
                  </a:lnTo>
                  <a:lnTo>
                    <a:pt x="0" y="881856"/>
                  </a:lnTo>
                  <a:close/>
                </a:path>
              </a:pathLst>
            </a:custGeom>
            <a:blipFill>
              <a:blip r:embed="rId3">
                <a:alphaModFix amt="0"/>
              </a:blip>
              <a:stretch>
                <a:fillRect t="-94044" b="-82527"/>
              </a:stretch>
            </a:blipFill>
          </p:spPr>
          <p:txBody>
            <a:bodyPr/>
            <a:lstStyle/>
            <a:p>
              <a:endParaRPr lang="en-US"/>
            </a:p>
          </p:txBody>
        </p:sp>
        <p:sp>
          <p:nvSpPr>
            <p:cNvPr id="13" name="TextBox 13"/>
            <p:cNvSpPr txBox="1"/>
            <p:nvPr/>
          </p:nvSpPr>
          <p:spPr>
            <a:xfrm>
              <a:off x="0" y="-28575"/>
              <a:ext cx="6258560" cy="910431"/>
            </a:xfrm>
            <a:prstGeom prst="rect">
              <a:avLst/>
            </a:prstGeom>
          </p:spPr>
          <p:txBody>
            <a:bodyPr lIns="0" tIns="0" rIns="0" bIns="0" rtlCol="0" anchor="ctr"/>
            <a:lstStyle/>
            <a:p>
              <a:pPr algn="l">
                <a:lnSpc>
                  <a:spcPts val="3840"/>
                </a:lnSpc>
              </a:pPr>
              <a:r>
                <a:rPr lang="en-US" sz="3200" b="1">
                  <a:solidFill>
                    <a:srgbClr val="1F2D2B"/>
                  </a:solidFill>
                  <a:latin typeface="Arial Bold"/>
                  <a:ea typeface="Arial Bold"/>
                  <a:cs typeface="Arial Bold"/>
                  <a:sym typeface="Arial Bold"/>
                </a:rPr>
                <a:t>Free MVP</a:t>
              </a:r>
            </a:p>
          </p:txBody>
        </p:sp>
      </p:grpSp>
      <p:grpSp>
        <p:nvGrpSpPr>
          <p:cNvPr id="14" name="Group 14"/>
          <p:cNvGrpSpPr/>
          <p:nvPr/>
        </p:nvGrpSpPr>
        <p:grpSpPr>
          <a:xfrm>
            <a:off x="1264920" y="4269605"/>
            <a:ext cx="4693920" cy="350472"/>
            <a:chOff x="0" y="0"/>
            <a:chExt cx="6258560" cy="467296"/>
          </a:xfrm>
        </p:grpSpPr>
        <p:sp>
          <p:nvSpPr>
            <p:cNvPr id="15" name="Freeform 15"/>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16" name="TextBox 16"/>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Users</a:t>
              </a:r>
            </a:p>
          </p:txBody>
        </p:sp>
      </p:grpSp>
      <p:grpSp>
        <p:nvGrpSpPr>
          <p:cNvPr id="17" name="Group 17"/>
          <p:cNvGrpSpPr/>
          <p:nvPr/>
        </p:nvGrpSpPr>
        <p:grpSpPr>
          <a:xfrm>
            <a:off x="1264920" y="4580501"/>
            <a:ext cx="4693920" cy="572765"/>
            <a:chOff x="0" y="0"/>
            <a:chExt cx="6258560" cy="763687"/>
          </a:xfrm>
        </p:grpSpPr>
        <p:sp>
          <p:nvSpPr>
            <p:cNvPr id="18" name="Freeform 18"/>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19" name="TextBox 19"/>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1F2D2B"/>
                  </a:solidFill>
                  <a:latin typeface="Arial Bold"/>
                  <a:ea typeface="Arial Bold"/>
                  <a:cs typeface="Arial Bold"/>
                  <a:sym typeface="Arial Bold"/>
                </a:rPr>
                <a:t>~150</a:t>
              </a:r>
            </a:p>
          </p:txBody>
        </p:sp>
      </p:grpSp>
      <p:grpSp>
        <p:nvGrpSpPr>
          <p:cNvPr id="20" name="Group 20"/>
          <p:cNvGrpSpPr/>
          <p:nvPr/>
        </p:nvGrpSpPr>
        <p:grpSpPr>
          <a:xfrm>
            <a:off x="1264920" y="5037701"/>
            <a:ext cx="4693920" cy="350472"/>
            <a:chOff x="0" y="0"/>
            <a:chExt cx="6258560" cy="467296"/>
          </a:xfrm>
        </p:grpSpPr>
        <p:sp>
          <p:nvSpPr>
            <p:cNvPr id="21" name="Freeform 21"/>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22" name="TextBox 22"/>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Revenue</a:t>
              </a:r>
            </a:p>
          </p:txBody>
        </p:sp>
      </p:grpSp>
      <p:grpSp>
        <p:nvGrpSpPr>
          <p:cNvPr id="23" name="Group 23"/>
          <p:cNvGrpSpPr/>
          <p:nvPr/>
        </p:nvGrpSpPr>
        <p:grpSpPr>
          <a:xfrm>
            <a:off x="1264920" y="5348597"/>
            <a:ext cx="4693920" cy="572765"/>
            <a:chOff x="0" y="0"/>
            <a:chExt cx="6258560" cy="763687"/>
          </a:xfrm>
        </p:grpSpPr>
        <p:sp>
          <p:nvSpPr>
            <p:cNvPr id="24" name="Freeform 24"/>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25" name="TextBox 25"/>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9AA09C"/>
                  </a:solidFill>
                  <a:latin typeface="Arial Bold"/>
                  <a:ea typeface="Arial Bold"/>
                  <a:cs typeface="Arial Bold"/>
                  <a:sym typeface="Arial Bold"/>
                </a:rPr>
                <a:t>RM 0</a:t>
              </a:r>
            </a:p>
          </p:txBody>
        </p:sp>
      </p:grpSp>
      <p:grpSp>
        <p:nvGrpSpPr>
          <p:cNvPr id="26" name="Group 26"/>
          <p:cNvGrpSpPr/>
          <p:nvPr/>
        </p:nvGrpSpPr>
        <p:grpSpPr>
          <a:xfrm>
            <a:off x="1264920" y="5878949"/>
            <a:ext cx="4693920" cy="607647"/>
            <a:chOff x="0" y="0"/>
            <a:chExt cx="6258560" cy="810196"/>
          </a:xfrm>
        </p:grpSpPr>
        <p:sp>
          <p:nvSpPr>
            <p:cNvPr id="27" name="Freeform 27"/>
            <p:cNvSpPr/>
            <p:nvPr/>
          </p:nvSpPr>
          <p:spPr>
            <a:xfrm>
              <a:off x="0" y="0"/>
              <a:ext cx="6258560" cy="810196"/>
            </a:xfrm>
            <a:custGeom>
              <a:avLst/>
              <a:gdLst/>
              <a:ahLst/>
              <a:cxnLst/>
              <a:rect l="l" t="t" r="r" b="b"/>
              <a:pathLst>
                <a:path w="6258560" h="810196">
                  <a:moveTo>
                    <a:pt x="0" y="0"/>
                  </a:moveTo>
                  <a:lnTo>
                    <a:pt x="6258560" y="0"/>
                  </a:lnTo>
                  <a:lnTo>
                    <a:pt x="6258560" y="810196"/>
                  </a:lnTo>
                  <a:lnTo>
                    <a:pt x="0" y="810196"/>
                  </a:lnTo>
                  <a:close/>
                </a:path>
              </a:pathLst>
            </a:custGeom>
            <a:blipFill>
              <a:blip r:embed="rId3">
                <a:alphaModFix amt="0"/>
              </a:blip>
              <a:stretch>
                <a:fillRect t="-102362" b="-98671"/>
              </a:stretch>
            </a:blipFill>
          </p:spPr>
          <p:txBody>
            <a:bodyPr/>
            <a:lstStyle/>
            <a:p>
              <a:endParaRPr lang="en-US"/>
            </a:p>
          </p:txBody>
        </p:sp>
        <p:sp>
          <p:nvSpPr>
            <p:cNvPr id="28" name="TextBox 28"/>
            <p:cNvSpPr txBox="1"/>
            <p:nvPr/>
          </p:nvSpPr>
          <p:spPr>
            <a:xfrm>
              <a:off x="0" y="-19050"/>
              <a:ext cx="6258560" cy="829246"/>
            </a:xfrm>
            <a:prstGeom prst="rect">
              <a:avLst/>
            </a:prstGeom>
          </p:spPr>
          <p:txBody>
            <a:bodyPr lIns="0" tIns="0" rIns="0" bIns="0" rtlCol="0" anchor="ctr"/>
            <a:lstStyle/>
            <a:p>
              <a:pPr algn="l">
                <a:lnSpc>
                  <a:spcPts val="2039"/>
                </a:lnSpc>
              </a:pPr>
              <a:r>
                <a:rPr lang="en-US" sz="1700">
                  <a:solidFill>
                    <a:srgbClr val="6C7571"/>
                  </a:solidFill>
                  <a:latin typeface="Arial"/>
                  <a:ea typeface="Arial"/>
                  <a:cs typeface="Arial"/>
                  <a:sym typeface="Arial"/>
                </a:rPr>
                <a:t>Beta testers from Shopee seller communities. Validate pipeline &amp; Manglish handling.</a:t>
              </a:r>
            </a:p>
          </p:txBody>
        </p:sp>
      </p:grpSp>
      <p:grpSp>
        <p:nvGrpSpPr>
          <p:cNvPr id="29" name="Group 29"/>
          <p:cNvGrpSpPr/>
          <p:nvPr/>
        </p:nvGrpSpPr>
        <p:grpSpPr>
          <a:xfrm>
            <a:off x="6586223" y="2903596"/>
            <a:ext cx="5267963" cy="3683003"/>
            <a:chOff x="0" y="0"/>
            <a:chExt cx="7023951" cy="4910671"/>
          </a:xfrm>
        </p:grpSpPr>
        <p:sp>
          <p:nvSpPr>
            <p:cNvPr id="30" name="Freeform 30"/>
            <p:cNvSpPr/>
            <p:nvPr/>
          </p:nvSpPr>
          <p:spPr>
            <a:xfrm>
              <a:off x="16891" y="16891"/>
              <a:ext cx="6990081" cy="4876800"/>
            </a:xfrm>
            <a:custGeom>
              <a:avLst/>
              <a:gdLst/>
              <a:ahLst/>
              <a:cxnLst/>
              <a:rect l="l" t="t" r="r" b="b"/>
              <a:pathLst>
                <a:path w="6990081" h="4876800">
                  <a:moveTo>
                    <a:pt x="0" y="0"/>
                  </a:moveTo>
                  <a:lnTo>
                    <a:pt x="6990081" y="0"/>
                  </a:lnTo>
                  <a:lnTo>
                    <a:pt x="6990081" y="4876800"/>
                  </a:lnTo>
                  <a:lnTo>
                    <a:pt x="0" y="4876800"/>
                  </a:lnTo>
                  <a:close/>
                </a:path>
              </a:pathLst>
            </a:custGeom>
            <a:solidFill>
              <a:srgbClr val="FFF4ED"/>
            </a:solidFill>
          </p:spPr>
          <p:txBody>
            <a:bodyPr/>
            <a:lstStyle/>
            <a:p>
              <a:endParaRPr lang="en-US"/>
            </a:p>
          </p:txBody>
        </p:sp>
        <p:sp>
          <p:nvSpPr>
            <p:cNvPr id="31" name="Freeform 31"/>
            <p:cNvSpPr/>
            <p:nvPr/>
          </p:nvSpPr>
          <p:spPr>
            <a:xfrm>
              <a:off x="0" y="0"/>
              <a:ext cx="7023862" cy="4910582"/>
            </a:xfrm>
            <a:custGeom>
              <a:avLst/>
              <a:gdLst/>
              <a:ahLst/>
              <a:cxnLst/>
              <a:rect l="l" t="t" r="r" b="b"/>
              <a:pathLst>
                <a:path w="7023862" h="4910582">
                  <a:moveTo>
                    <a:pt x="16891" y="0"/>
                  </a:moveTo>
                  <a:lnTo>
                    <a:pt x="7006972" y="0"/>
                  </a:lnTo>
                  <a:cubicBezTo>
                    <a:pt x="7016369" y="0"/>
                    <a:pt x="7023862" y="7620"/>
                    <a:pt x="7023862" y="16891"/>
                  </a:cubicBezTo>
                  <a:lnTo>
                    <a:pt x="7023862" y="4893691"/>
                  </a:lnTo>
                  <a:cubicBezTo>
                    <a:pt x="7023862" y="4903089"/>
                    <a:pt x="7016242" y="4910582"/>
                    <a:pt x="7006972"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006972" y="4876800"/>
                  </a:lnTo>
                  <a:lnTo>
                    <a:pt x="7006972" y="4893691"/>
                  </a:lnTo>
                  <a:lnTo>
                    <a:pt x="6990080" y="4893691"/>
                  </a:lnTo>
                  <a:lnTo>
                    <a:pt x="6990080" y="16891"/>
                  </a:lnTo>
                  <a:lnTo>
                    <a:pt x="7006972" y="16891"/>
                  </a:lnTo>
                  <a:lnTo>
                    <a:pt x="7006972" y="33909"/>
                  </a:lnTo>
                  <a:lnTo>
                    <a:pt x="16891" y="33909"/>
                  </a:lnTo>
                  <a:close/>
                </a:path>
              </a:pathLst>
            </a:custGeom>
            <a:solidFill>
              <a:srgbClr val="F05A22">
                <a:alpha val="8627"/>
              </a:srgbClr>
            </a:solidFill>
          </p:spPr>
          <p:txBody>
            <a:bodyPr/>
            <a:lstStyle/>
            <a:p>
              <a:endParaRPr lang="en-US"/>
            </a:p>
          </p:txBody>
        </p:sp>
      </p:grpSp>
      <p:grpSp>
        <p:nvGrpSpPr>
          <p:cNvPr id="32" name="Group 32"/>
          <p:cNvGrpSpPr/>
          <p:nvPr/>
        </p:nvGrpSpPr>
        <p:grpSpPr>
          <a:xfrm>
            <a:off x="9085583" y="3086476"/>
            <a:ext cx="2585723" cy="427739"/>
            <a:chOff x="0" y="0"/>
            <a:chExt cx="3447631" cy="570319"/>
          </a:xfrm>
        </p:grpSpPr>
        <p:sp>
          <p:nvSpPr>
            <p:cNvPr id="33" name="Freeform 33"/>
            <p:cNvSpPr/>
            <p:nvPr/>
          </p:nvSpPr>
          <p:spPr>
            <a:xfrm>
              <a:off x="16891" y="16891"/>
              <a:ext cx="3413760" cy="536448"/>
            </a:xfrm>
            <a:custGeom>
              <a:avLst/>
              <a:gdLst/>
              <a:ahLst/>
              <a:cxnLst/>
              <a:rect l="l" t="t" r="r" b="b"/>
              <a:pathLst>
                <a:path w="3413760" h="536448">
                  <a:moveTo>
                    <a:pt x="0" y="268224"/>
                  </a:moveTo>
                  <a:cubicBezTo>
                    <a:pt x="0" y="120142"/>
                    <a:pt x="126365" y="0"/>
                    <a:pt x="282321" y="0"/>
                  </a:cubicBezTo>
                  <a:lnTo>
                    <a:pt x="3131439" y="0"/>
                  </a:lnTo>
                  <a:cubicBezTo>
                    <a:pt x="3287395" y="0"/>
                    <a:pt x="3413760" y="120142"/>
                    <a:pt x="3413760" y="268224"/>
                  </a:cubicBezTo>
                  <a:cubicBezTo>
                    <a:pt x="3413760" y="416306"/>
                    <a:pt x="3287395" y="536448"/>
                    <a:pt x="3131439" y="536448"/>
                  </a:cubicBezTo>
                  <a:lnTo>
                    <a:pt x="282448" y="536448"/>
                  </a:lnTo>
                  <a:cubicBezTo>
                    <a:pt x="126492" y="536448"/>
                    <a:pt x="127" y="416306"/>
                    <a:pt x="127" y="268224"/>
                  </a:cubicBezTo>
                  <a:close/>
                </a:path>
              </a:pathLst>
            </a:custGeom>
            <a:solidFill>
              <a:srgbClr val="F05A22">
                <a:alpha val="784"/>
              </a:srgbClr>
            </a:solidFill>
          </p:spPr>
          <p:txBody>
            <a:bodyPr/>
            <a:lstStyle/>
            <a:p>
              <a:endParaRPr lang="en-US"/>
            </a:p>
          </p:txBody>
        </p:sp>
        <p:sp>
          <p:nvSpPr>
            <p:cNvPr id="34" name="Freeform 34"/>
            <p:cNvSpPr/>
            <p:nvPr/>
          </p:nvSpPr>
          <p:spPr>
            <a:xfrm>
              <a:off x="0" y="0"/>
              <a:ext cx="3447669" cy="570230"/>
            </a:xfrm>
            <a:custGeom>
              <a:avLst/>
              <a:gdLst/>
              <a:ahLst/>
              <a:cxnLst/>
              <a:rect l="l" t="t" r="r" b="b"/>
              <a:pathLst>
                <a:path w="3447669" h="570230">
                  <a:moveTo>
                    <a:pt x="0" y="285115"/>
                  </a:moveTo>
                  <a:cubicBezTo>
                    <a:pt x="0" y="126873"/>
                    <a:pt x="134874" y="0"/>
                    <a:pt x="299339" y="0"/>
                  </a:cubicBezTo>
                  <a:lnTo>
                    <a:pt x="3148330" y="0"/>
                  </a:lnTo>
                  <a:lnTo>
                    <a:pt x="3148330" y="16891"/>
                  </a:lnTo>
                  <a:lnTo>
                    <a:pt x="3148330" y="0"/>
                  </a:lnTo>
                  <a:cubicBezTo>
                    <a:pt x="3312795" y="0"/>
                    <a:pt x="3447669" y="126873"/>
                    <a:pt x="3447669" y="285115"/>
                  </a:cubicBezTo>
                  <a:lnTo>
                    <a:pt x="3430778" y="285115"/>
                  </a:lnTo>
                  <a:lnTo>
                    <a:pt x="3447669" y="285115"/>
                  </a:lnTo>
                  <a:lnTo>
                    <a:pt x="3430778" y="285115"/>
                  </a:lnTo>
                  <a:lnTo>
                    <a:pt x="3447669" y="285115"/>
                  </a:lnTo>
                  <a:cubicBezTo>
                    <a:pt x="3447669" y="443357"/>
                    <a:pt x="3312795" y="570230"/>
                    <a:pt x="3148330" y="570230"/>
                  </a:cubicBezTo>
                  <a:lnTo>
                    <a:pt x="3148330" y="553339"/>
                  </a:lnTo>
                  <a:lnTo>
                    <a:pt x="3148330" y="570230"/>
                  </a:lnTo>
                  <a:lnTo>
                    <a:pt x="299339" y="570230"/>
                  </a:lnTo>
                  <a:lnTo>
                    <a:pt x="299339" y="553339"/>
                  </a:lnTo>
                  <a:lnTo>
                    <a:pt x="299339" y="570230"/>
                  </a:lnTo>
                  <a:cubicBezTo>
                    <a:pt x="134874" y="570357"/>
                    <a:pt x="0" y="443484"/>
                    <a:pt x="0" y="285115"/>
                  </a:cubicBezTo>
                  <a:lnTo>
                    <a:pt x="16891" y="285115"/>
                  </a:lnTo>
                  <a:lnTo>
                    <a:pt x="0" y="285115"/>
                  </a:lnTo>
                  <a:moveTo>
                    <a:pt x="33909" y="285115"/>
                  </a:moveTo>
                  <a:lnTo>
                    <a:pt x="16891" y="285115"/>
                  </a:lnTo>
                  <a:lnTo>
                    <a:pt x="33909" y="285115"/>
                  </a:lnTo>
                  <a:cubicBezTo>
                    <a:pt x="33909" y="423037"/>
                    <a:pt x="151892" y="536448"/>
                    <a:pt x="299339" y="536448"/>
                  </a:cubicBezTo>
                  <a:lnTo>
                    <a:pt x="3148330" y="536448"/>
                  </a:lnTo>
                  <a:cubicBezTo>
                    <a:pt x="3295777" y="536448"/>
                    <a:pt x="3413760" y="423164"/>
                    <a:pt x="3413760" y="285115"/>
                  </a:cubicBezTo>
                  <a:cubicBezTo>
                    <a:pt x="3413760" y="147193"/>
                    <a:pt x="3295777" y="33782"/>
                    <a:pt x="3148330" y="33782"/>
                  </a:cubicBezTo>
                  <a:lnTo>
                    <a:pt x="299339" y="33782"/>
                  </a:lnTo>
                  <a:lnTo>
                    <a:pt x="299339" y="16891"/>
                  </a:lnTo>
                  <a:lnTo>
                    <a:pt x="299339" y="33909"/>
                  </a:lnTo>
                  <a:cubicBezTo>
                    <a:pt x="151892" y="33909"/>
                    <a:pt x="33909" y="147193"/>
                    <a:pt x="33909" y="285242"/>
                  </a:cubicBezTo>
                  <a:close/>
                </a:path>
              </a:pathLst>
            </a:custGeom>
            <a:solidFill>
              <a:srgbClr val="F05A22">
                <a:alpha val="8627"/>
              </a:srgbClr>
            </a:solidFill>
          </p:spPr>
          <p:txBody>
            <a:bodyPr/>
            <a:lstStyle/>
            <a:p>
              <a:endParaRPr lang="en-US"/>
            </a:p>
          </p:txBody>
        </p:sp>
      </p:grpSp>
      <p:grpSp>
        <p:nvGrpSpPr>
          <p:cNvPr id="35" name="Group 35"/>
          <p:cNvGrpSpPr/>
          <p:nvPr/>
        </p:nvGrpSpPr>
        <p:grpSpPr>
          <a:xfrm>
            <a:off x="9098280" y="3099173"/>
            <a:ext cx="2560320" cy="402336"/>
            <a:chOff x="0" y="0"/>
            <a:chExt cx="3413760" cy="536448"/>
          </a:xfrm>
        </p:grpSpPr>
        <p:sp>
          <p:nvSpPr>
            <p:cNvPr id="36" name="Freeform 36"/>
            <p:cNvSpPr/>
            <p:nvPr/>
          </p:nvSpPr>
          <p:spPr>
            <a:xfrm>
              <a:off x="0" y="0"/>
              <a:ext cx="3413760" cy="536448"/>
            </a:xfrm>
            <a:custGeom>
              <a:avLst/>
              <a:gdLst/>
              <a:ahLst/>
              <a:cxnLst/>
              <a:rect l="l" t="t" r="r" b="b"/>
              <a:pathLst>
                <a:path w="3413760" h="536448">
                  <a:moveTo>
                    <a:pt x="0" y="0"/>
                  </a:moveTo>
                  <a:lnTo>
                    <a:pt x="3413760" y="0"/>
                  </a:lnTo>
                  <a:lnTo>
                    <a:pt x="3413760" y="536448"/>
                  </a:lnTo>
                  <a:lnTo>
                    <a:pt x="0" y="536448"/>
                  </a:lnTo>
                  <a:close/>
                </a:path>
              </a:pathLst>
            </a:custGeom>
            <a:blipFill>
              <a:blip r:embed="rId3">
                <a:alphaModFix amt="0"/>
              </a:blip>
              <a:stretch>
                <a:fillRect t="-73995" b="-73995"/>
              </a:stretch>
            </a:blipFill>
          </p:spPr>
          <p:txBody>
            <a:bodyPr/>
            <a:lstStyle/>
            <a:p>
              <a:endParaRPr lang="en-US"/>
            </a:p>
          </p:txBody>
        </p:sp>
        <p:sp>
          <p:nvSpPr>
            <p:cNvPr id="37" name="TextBox 37"/>
            <p:cNvSpPr txBox="1"/>
            <p:nvPr/>
          </p:nvSpPr>
          <p:spPr>
            <a:xfrm>
              <a:off x="0" y="-19050"/>
              <a:ext cx="3413760" cy="555498"/>
            </a:xfrm>
            <a:prstGeom prst="rect">
              <a:avLst/>
            </a:prstGeom>
          </p:spPr>
          <p:txBody>
            <a:bodyPr lIns="0" tIns="0" rIns="0" bIns="0" rtlCol="0" anchor="ctr"/>
            <a:lstStyle/>
            <a:p>
              <a:pPr algn="ctr">
                <a:lnSpc>
                  <a:spcPts val="1800"/>
                </a:lnSpc>
              </a:pPr>
              <a:r>
                <a:rPr lang="en-US" sz="1500">
                  <a:solidFill>
                    <a:srgbClr val="F05A22"/>
                  </a:solidFill>
                  <a:latin typeface="Arial"/>
                  <a:ea typeface="Arial"/>
                  <a:cs typeface="Arial"/>
                  <a:sym typeface="Arial"/>
                </a:rPr>
                <a:t>Break-even Month 8</a:t>
              </a:r>
            </a:p>
          </p:txBody>
        </p:sp>
      </p:grpSp>
      <p:grpSp>
        <p:nvGrpSpPr>
          <p:cNvPr id="38" name="Group 38"/>
          <p:cNvGrpSpPr/>
          <p:nvPr/>
        </p:nvGrpSpPr>
        <p:grpSpPr>
          <a:xfrm>
            <a:off x="6873240" y="3135749"/>
            <a:ext cx="4693920" cy="365485"/>
            <a:chOff x="0" y="0"/>
            <a:chExt cx="6258560" cy="487313"/>
          </a:xfrm>
        </p:grpSpPr>
        <p:sp>
          <p:nvSpPr>
            <p:cNvPr id="39" name="Freeform 39"/>
            <p:cNvSpPr/>
            <p:nvPr/>
          </p:nvSpPr>
          <p:spPr>
            <a:xfrm>
              <a:off x="0" y="0"/>
              <a:ext cx="6258560" cy="487313"/>
            </a:xfrm>
            <a:custGeom>
              <a:avLst/>
              <a:gdLst/>
              <a:ahLst/>
              <a:cxnLst/>
              <a:rect l="l" t="t" r="r" b="b"/>
              <a:pathLst>
                <a:path w="6258560" h="487313">
                  <a:moveTo>
                    <a:pt x="0" y="0"/>
                  </a:moveTo>
                  <a:lnTo>
                    <a:pt x="6258560" y="0"/>
                  </a:lnTo>
                  <a:lnTo>
                    <a:pt x="6258560" y="487313"/>
                  </a:lnTo>
                  <a:lnTo>
                    <a:pt x="0" y="487313"/>
                  </a:lnTo>
                  <a:close/>
                </a:path>
              </a:pathLst>
            </a:custGeom>
            <a:blipFill>
              <a:blip r:embed="rId3">
                <a:alphaModFix amt="0"/>
              </a:blip>
              <a:stretch>
                <a:fillRect t="-205212" b="-195280"/>
              </a:stretch>
            </a:blipFill>
          </p:spPr>
          <p:txBody>
            <a:bodyPr/>
            <a:lstStyle/>
            <a:p>
              <a:endParaRPr lang="en-US"/>
            </a:p>
          </p:txBody>
        </p:sp>
        <p:sp>
          <p:nvSpPr>
            <p:cNvPr id="40" name="TextBox 40"/>
            <p:cNvSpPr txBox="1"/>
            <p:nvPr/>
          </p:nvSpPr>
          <p:spPr>
            <a:xfrm>
              <a:off x="0" y="-19050"/>
              <a:ext cx="6258560" cy="506363"/>
            </a:xfrm>
            <a:prstGeom prst="rect">
              <a:avLst/>
            </a:prstGeom>
          </p:spPr>
          <p:txBody>
            <a:bodyPr lIns="0" tIns="0" rIns="0" bIns="0" rtlCol="0" anchor="ctr"/>
            <a:lstStyle/>
            <a:p>
              <a:pPr algn="l">
                <a:lnSpc>
                  <a:spcPts val="2160"/>
                </a:lnSpc>
              </a:pPr>
              <a:r>
                <a:rPr lang="en-US" sz="1800">
                  <a:solidFill>
                    <a:srgbClr val="F05A22"/>
                  </a:solidFill>
                  <a:latin typeface="Arial"/>
                  <a:ea typeface="Arial"/>
                  <a:cs typeface="Arial"/>
                  <a:sym typeface="Arial"/>
                </a:rPr>
                <a:t>Year 2 · 2027</a:t>
              </a:r>
            </a:p>
          </p:txBody>
        </p:sp>
      </p:grpSp>
      <p:grpSp>
        <p:nvGrpSpPr>
          <p:cNvPr id="41" name="Group 41"/>
          <p:cNvGrpSpPr/>
          <p:nvPr/>
        </p:nvGrpSpPr>
        <p:grpSpPr>
          <a:xfrm>
            <a:off x="6873240" y="3538085"/>
            <a:ext cx="4693920" cy="661392"/>
            <a:chOff x="0" y="0"/>
            <a:chExt cx="6258560" cy="881856"/>
          </a:xfrm>
        </p:grpSpPr>
        <p:sp>
          <p:nvSpPr>
            <p:cNvPr id="42" name="Freeform 42"/>
            <p:cNvSpPr/>
            <p:nvPr/>
          </p:nvSpPr>
          <p:spPr>
            <a:xfrm>
              <a:off x="0" y="0"/>
              <a:ext cx="6258560" cy="881856"/>
            </a:xfrm>
            <a:custGeom>
              <a:avLst/>
              <a:gdLst/>
              <a:ahLst/>
              <a:cxnLst/>
              <a:rect l="l" t="t" r="r" b="b"/>
              <a:pathLst>
                <a:path w="6258560" h="881856">
                  <a:moveTo>
                    <a:pt x="0" y="0"/>
                  </a:moveTo>
                  <a:lnTo>
                    <a:pt x="6258560" y="0"/>
                  </a:lnTo>
                  <a:lnTo>
                    <a:pt x="6258560" y="881856"/>
                  </a:lnTo>
                  <a:lnTo>
                    <a:pt x="0" y="881856"/>
                  </a:lnTo>
                  <a:close/>
                </a:path>
              </a:pathLst>
            </a:custGeom>
            <a:blipFill>
              <a:blip r:embed="rId3">
                <a:alphaModFix amt="0"/>
              </a:blip>
              <a:stretch>
                <a:fillRect t="-94044" b="-82527"/>
              </a:stretch>
            </a:blipFill>
          </p:spPr>
          <p:txBody>
            <a:bodyPr/>
            <a:lstStyle/>
            <a:p>
              <a:endParaRPr lang="en-US"/>
            </a:p>
          </p:txBody>
        </p:sp>
        <p:sp>
          <p:nvSpPr>
            <p:cNvPr id="43" name="TextBox 43"/>
            <p:cNvSpPr txBox="1"/>
            <p:nvPr/>
          </p:nvSpPr>
          <p:spPr>
            <a:xfrm>
              <a:off x="0" y="-28575"/>
              <a:ext cx="6258560" cy="910431"/>
            </a:xfrm>
            <a:prstGeom prst="rect">
              <a:avLst/>
            </a:prstGeom>
          </p:spPr>
          <p:txBody>
            <a:bodyPr lIns="0" tIns="0" rIns="0" bIns="0" rtlCol="0" anchor="ctr"/>
            <a:lstStyle/>
            <a:p>
              <a:pPr algn="l">
                <a:lnSpc>
                  <a:spcPts val="3840"/>
                </a:lnSpc>
              </a:pPr>
              <a:r>
                <a:rPr lang="en-US" sz="3200" b="1">
                  <a:solidFill>
                    <a:srgbClr val="1F2D2B"/>
                  </a:solidFill>
                  <a:latin typeface="Arial Bold"/>
                  <a:ea typeface="Arial Bold"/>
                  <a:cs typeface="Arial Bold"/>
                  <a:sym typeface="Arial Bold"/>
                </a:rPr>
                <a:t>Freemium</a:t>
              </a:r>
            </a:p>
          </p:txBody>
        </p:sp>
      </p:grpSp>
      <p:grpSp>
        <p:nvGrpSpPr>
          <p:cNvPr id="44" name="Group 44"/>
          <p:cNvGrpSpPr/>
          <p:nvPr/>
        </p:nvGrpSpPr>
        <p:grpSpPr>
          <a:xfrm>
            <a:off x="6873240" y="4269605"/>
            <a:ext cx="4693920" cy="350472"/>
            <a:chOff x="0" y="0"/>
            <a:chExt cx="6258560" cy="467296"/>
          </a:xfrm>
        </p:grpSpPr>
        <p:sp>
          <p:nvSpPr>
            <p:cNvPr id="45" name="Freeform 45"/>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46" name="TextBox 46"/>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Paying users</a:t>
              </a:r>
            </a:p>
          </p:txBody>
        </p:sp>
      </p:grpSp>
      <p:grpSp>
        <p:nvGrpSpPr>
          <p:cNvPr id="47" name="Group 47"/>
          <p:cNvGrpSpPr/>
          <p:nvPr/>
        </p:nvGrpSpPr>
        <p:grpSpPr>
          <a:xfrm>
            <a:off x="6873240" y="4580501"/>
            <a:ext cx="4693920" cy="572765"/>
            <a:chOff x="0" y="0"/>
            <a:chExt cx="6258560" cy="763687"/>
          </a:xfrm>
        </p:grpSpPr>
        <p:sp>
          <p:nvSpPr>
            <p:cNvPr id="48" name="Freeform 48"/>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49" name="TextBox 49"/>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F05A22"/>
                  </a:solidFill>
                  <a:latin typeface="Arial Bold"/>
                  <a:ea typeface="Arial Bold"/>
                  <a:cs typeface="Arial Bold"/>
                  <a:sym typeface="Arial Bold"/>
                </a:rPr>
                <a:t>~100</a:t>
              </a:r>
            </a:p>
          </p:txBody>
        </p:sp>
      </p:grpSp>
      <p:grpSp>
        <p:nvGrpSpPr>
          <p:cNvPr id="50" name="Group 50"/>
          <p:cNvGrpSpPr/>
          <p:nvPr/>
        </p:nvGrpSpPr>
        <p:grpSpPr>
          <a:xfrm>
            <a:off x="6873240" y="5037701"/>
            <a:ext cx="4693920" cy="350472"/>
            <a:chOff x="0" y="0"/>
            <a:chExt cx="6258560" cy="467296"/>
          </a:xfrm>
        </p:grpSpPr>
        <p:sp>
          <p:nvSpPr>
            <p:cNvPr id="51" name="Freeform 51"/>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52" name="TextBox 52"/>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Annual revenue</a:t>
              </a:r>
            </a:p>
          </p:txBody>
        </p:sp>
      </p:grpSp>
      <p:grpSp>
        <p:nvGrpSpPr>
          <p:cNvPr id="53" name="Group 53"/>
          <p:cNvGrpSpPr/>
          <p:nvPr/>
        </p:nvGrpSpPr>
        <p:grpSpPr>
          <a:xfrm>
            <a:off x="6873240" y="5348597"/>
            <a:ext cx="4693920" cy="572765"/>
            <a:chOff x="0" y="0"/>
            <a:chExt cx="6258560" cy="763687"/>
          </a:xfrm>
        </p:grpSpPr>
        <p:sp>
          <p:nvSpPr>
            <p:cNvPr id="54" name="Freeform 54"/>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55" name="TextBox 55"/>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F05A22"/>
                  </a:solidFill>
                  <a:latin typeface="Arial Bold"/>
                  <a:ea typeface="Arial Bold"/>
                  <a:cs typeface="Arial Bold"/>
                  <a:sym typeface="Arial Bold"/>
                </a:rPr>
                <a:t>RM 58,800</a:t>
              </a:r>
            </a:p>
          </p:txBody>
        </p:sp>
      </p:grpSp>
      <p:grpSp>
        <p:nvGrpSpPr>
          <p:cNvPr id="56" name="Group 56"/>
          <p:cNvGrpSpPr/>
          <p:nvPr/>
        </p:nvGrpSpPr>
        <p:grpSpPr>
          <a:xfrm>
            <a:off x="6873240" y="5878949"/>
            <a:ext cx="4693920" cy="607647"/>
            <a:chOff x="0" y="0"/>
            <a:chExt cx="6258560" cy="810196"/>
          </a:xfrm>
        </p:grpSpPr>
        <p:sp>
          <p:nvSpPr>
            <p:cNvPr id="57" name="Freeform 57"/>
            <p:cNvSpPr/>
            <p:nvPr/>
          </p:nvSpPr>
          <p:spPr>
            <a:xfrm>
              <a:off x="0" y="0"/>
              <a:ext cx="6258560" cy="810196"/>
            </a:xfrm>
            <a:custGeom>
              <a:avLst/>
              <a:gdLst/>
              <a:ahLst/>
              <a:cxnLst/>
              <a:rect l="l" t="t" r="r" b="b"/>
              <a:pathLst>
                <a:path w="6258560" h="810196">
                  <a:moveTo>
                    <a:pt x="0" y="0"/>
                  </a:moveTo>
                  <a:lnTo>
                    <a:pt x="6258560" y="0"/>
                  </a:lnTo>
                  <a:lnTo>
                    <a:pt x="6258560" y="810196"/>
                  </a:lnTo>
                  <a:lnTo>
                    <a:pt x="0" y="810196"/>
                  </a:lnTo>
                  <a:close/>
                </a:path>
              </a:pathLst>
            </a:custGeom>
            <a:blipFill>
              <a:blip r:embed="rId3">
                <a:alphaModFix amt="0"/>
              </a:blip>
              <a:stretch>
                <a:fillRect t="-102362" b="-98671"/>
              </a:stretch>
            </a:blipFill>
          </p:spPr>
          <p:txBody>
            <a:bodyPr/>
            <a:lstStyle/>
            <a:p>
              <a:endParaRPr lang="en-US"/>
            </a:p>
          </p:txBody>
        </p:sp>
        <p:sp>
          <p:nvSpPr>
            <p:cNvPr id="58" name="TextBox 58"/>
            <p:cNvSpPr txBox="1"/>
            <p:nvPr/>
          </p:nvSpPr>
          <p:spPr>
            <a:xfrm>
              <a:off x="0" y="-19050"/>
              <a:ext cx="6258560" cy="829246"/>
            </a:xfrm>
            <a:prstGeom prst="rect">
              <a:avLst/>
            </a:prstGeom>
          </p:spPr>
          <p:txBody>
            <a:bodyPr lIns="0" tIns="0" rIns="0" bIns="0" rtlCol="0" anchor="ctr"/>
            <a:lstStyle/>
            <a:p>
              <a:pPr algn="l">
                <a:lnSpc>
                  <a:spcPts val="2039"/>
                </a:lnSpc>
              </a:pPr>
              <a:r>
                <a:rPr lang="en-US" sz="1700">
                  <a:solidFill>
                    <a:srgbClr val="6C7571"/>
                  </a:solidFill>
                  <a:latin typeface="Arial"/>
                  <a:ea typeface="Arial"/>
                  <a:cs typeface="Arial"/>
                  <a:sym typeface="Arial"/>
                </a:rPr>
                <a:t>30 free resolutions/month → RM49 Starter. 20% conversion target.</a:t>
              </a:r>
            </a:p>
          </p:txBody>
        </p:sp>
      </p:grpSp>
      <p:grpSp>
        <p:nvGrpSpPr>
          <p:cNvPr id="59" name="Group 59"/>
          <p:cNvGrpSpPr/>
          <p:nvPr/>
        </p:nvGrpSpPr>
        <p:grpSpPr>
          <a:xfrm>
            <a:off x="12194543" y="2903596"/>
            <a:ext cx="5267963" cy="3683003"/>
            <a:chOff x="0" y="0"/>
            <a:chExt cx="7023951" cy="4910671"/>
          </a:xfrm>
        </p:grpSpPr>
        <p:sp>
          <p:nvSpPr>
            <p:cNvPr id="60" name="Freeform 60"/>
            <p:cNvSpPr/>
            <p:nvPr/>
          </p:nvSpPr>
          <p:spPr>
            <a:xfrm>
              <a:off x="16891" y="16891"/>
              <a:ext cx="6990081" cy="4876800"/>
            </a:xfrm>
            <a:custGeom>
              <a:avLst/>
              <a:gdLst/>
              <a:ahLst/>
              <a:cxnLst/>
              <a:rect l="l" t="t" r="r" b="b"/>
              <a:pathLst>
                <a:path w="6990081" h="4876800">
                  <a:moveTo>
                    <a:pt x="0" y="0"/>
                  </a:moveTo>
                  <a:lnTo>
                    <a:pt x="6990081" y="0"/>
                  </a:lnTo>
                  <a:lnTo>
                    <a:pt x="6990081" y="4876800"/>
                  </a:lnTo>
                  <a:lnTo>
                    <a:pt x="0" y="4876800"/>
                  </a:lnTo>
                  <a:close/>
                </a:path>
              </a:pathLst>
            </a:custGeom>
            <a:solidFill>
              <a:srgbClr val="FFFFFF"/>
            </a:solidFill>
          </p:spPr>
          <p:txBody>
            <a:bodyPr/>
            <a:lstStyle/>
            <a:p>
              <a:endParaRPr lang="en-US"/>
            </a:p>
          </p:txBody>
        </p:sp>
        <p:sp>
          <p:nvSpPr>
            <p:cNvPr id="61" name="Freeform 61"/>
            <p:cNvSpPr/>
            <p:nvPr/>
          </p:nvSpPr>
          <p:spPr>
            <a:xfrm>
              <a:off x="0" y="0"/>
              <a:ext cx="7023862" cy="4910582"/>
            </a:xfrm>
            <a:custGeom>
              <a:avLst/>
              <a:gdLst/>
              <a:ahLst/>
              <a:cxnLst/>
              <a:rect l="l" t="t" r="r" b="b"/>
              <a:pathLst>
                <a:path w="7023862" h="4910582">
                  <a:moveTo>
                    <a:pt x="16891" y="0"/>
                  </a:moveTo>
                  <a:lnTo>
                    <a:pt x="7006972" y="0"/>
                  </a:lnTo>
                  <a:cubicBezTo>
                    <a:pt x="7016369" y="0"/>
                    <a:pt x="7023862" y="7620"/>
                    <a:pt x="7023862" y="16891"/>
                  </a:cubicBezTo>
                  <a:lnTo>
                    <a:pt x="7023862" y="4893691"/>
                  </a:lnTo>
                  <a:cubicBezTo>
                    <a:pt x="7023862" y="4903089"/>
                    <a:pt x="7016242" y="4910582"/>
                    <a:pt x="7006972" y="4910582"/>
                  </a:cubicBezTo>
                  <a:lnTo>
                    <a:pt x="16891" y="4910582"/>
                  </a:lnTo>
                  <a:cubicBezTo>
                    <a:pt x="7493" y="4910582"/>
                    <a:pt x="0" y="4902962"/>
                    <a:pt x="0" y="4893691"/>
                  </a:cubicBezTo>
                  <a:lnTo>
                    <a:pt x="0" y="16891"/>
                  </a:lnTo>
                  <a:cubicBezTo>
                    <a:pt x="0" y="7620"/>
                    <a:pt x="7620" y="0"/>
                    <a:pt x="16891" y="0"/>
                  </a:cubicBezTo>
                  <a:moveTo>
                    <a:pt x="16891" y="33909"/>
                  </a:moveTo>
                  <a:lnTo>
                    <a:pt x="16891" y="16891"/>
                  </a:lnTo>
                  <a:lnTo>
                    <a:pt x="33909" y="16891"/>
                  </a:lnTo>
                  <a:lnTo>
                    <a:pt x="33909" y="4893691"/>
                  </a:lnTo>
                  <a:lnTo>
                    <a:pt x="16891" y="4893691"/>
                  </a:lnTo>
                  <a:lnTo>
                    <a:pt x="16891" y="4876800"/>
                  </a:lnTo>
                  <a:lnTo>
                    <a:pt x="7006972" y="4876800"/>
                  </a:lnTo>
                  <a:lnTo>
                    <a:pt x="7006972" y="4893691"/>
                  </a:lnTo>
                  <a:lnTo>
                    <a:pt x="6990080" y="4893691"/>
                  </a:lnTo>
                  <a:lnTo>
                    <a:pt x="6990080" y="16891"/>
                  </a:lnTo>
                  <a:lnTo>
                    <a:pt x="7006972" y="16891"/>
                  </a:lnTo>
                  <a:lnTo>
                    <a:pt x="7006972" y="33909"/>
                  </a:lnTo>
                  <a:lnTo>
                    <a:pt x="16891" y="33909"/>
                  </a:lnTo>
                  <a:close/>
                </a:path>
              </a:pathLst>
            </a:custGeom>
            <a:solidFill>
              <a:srgbClr val="E7E9E6"/>
            </a:solidFill>
          </p:spPr>
          <p:txBody>
            <a:bodyPr/>
            <a:lstStyle/>
            <a:p>
              <a:endParaRPr lang="en-US"/>
            </a:p>
          </p:txBody>
        </p:sp>
      </p:grpSp>
      <p:grpSp>
        <p:nvGrpSpPr>
          <p:cNvPr id="62" name="Group 62"/>
          <p:cNvGrpSpPr/>
          <p:nvPr/>
        </p:nvGrpSpPr>
        <p:grpSpPr>
          <a:xfrm>
            <a:off x="12481560" y="3135749"/>
            <a:ext cx="4693920" cy="365485"/>
            <a:chOff x="0" y="0"/>
            <a:chExt cx="6258560" cy="487313"/>
          </a:xfrm>
        </p:grpSpPr>
        <p:sp>
          <p:nvSpPr>
            <p:cNvPr id="63" name="Freeform 63"/>
            <p:cNvSpPr/>
            <p:nvPr/>
          </p:nvSpPr>
          <p:spPr>
            <a:xfrm>
              <a:off x="0" y="0"/>
              <a:ext cx="6258560" cy="487313"/>
            </a:xfrm>
            <a:custGeom>
              <a:avLst/>
              <a:gdLst/>
              <a:ahLst/>
              <a:cxnLst/>
              <a:rect l="l" t="t" r="r" b="b"/>
              <a:pathLst>
                <a:path w="6258560" h="487313">
                  <a:moveTo>
                    <a:pt x="0" y="0"/>
                  </a:moveTo>
                  <a:lnTo>
                    <a:pt x="6258560" y="0"/>
                  </a:lnTo>
                  <a:lnTo>
                    <a:pt x="6258560" y="487313"/>
                  </a:lnTo>
                  <a:lnTo>
                    <a:pt x="0" y="487313"/>
                  </a:lnTo>
                  <a:close/>
                </a:path>
              </a:pathLst>
            </a:custGeom>
            <a:blipFill>
              <a:blip r:embed="rId3">
                <a:alphaModFix amt="0"/>
              </a:blip>
              <a:stretch>
                <a:fillRect t="-205212" b="-195280"/>
              </a:stretch>
            </a:blipFill>
          </p:spPr>
          <p:txBody>
            <a:bodyPr/>
            <a:lstStyle/>
            <a:p>
              <a:endParaRPr lang="en-US"/>
            </a:p>
          </p:txBody>
        </p:sp>
        <p:sp>
          <p:nvSpPr>
            <p:cNvPr id="64" name="TextBox 64"/>
            <p:cNvSpPr txBox="1"/>
            <p:nvPr/>
          </p:nvSpPr>
          <p:spPr>
            <a:xfrm>
              <a:off x="0" y="-19050"/>
              <a:ext cx="6258560" cy="506363"/>
            </a:xfrm>
            <a:prstGeom prst="rect">
              <a:avLst/>
            </a:prstGeom>
          </p:spPr>
          <p:txBody>
            <a:bodyPr lIns="0" tIns="0" rIns="0" bIns="0" rtlCol="0" anchor="ctr"/>
            <a:lstStyle/>
            <a:p>
              <a:pPr algn="l">
                <a:lnSpc>
                  <a:spcPts val="2160"/>
                </a:lnSpc>
              </a:pPr>
              <a:r>
                <a:rPr lang="en-US" sz="1800">
                  <a:solidFill>
                    <a:srgbClr val="6C7571"/>
                  </a:solidFill>
                  <a:latin typeface="Arial"/>
                  <a:ea typeface="Arial"/>
                  <a:cs typeface="Arial"/>
                  <a:sym typeface="Arial"/>
                </a:rPr>
                <a:t>Year 3 · 2028</a:t>
              </a:r>
            </a:p>
          </p:txBody>
        </p:sp>
      </p:grpSp>
      <p:grpSp>
        <p:nvGrpSpPr>
          <p:cNvPr id="65" name="Group 65"/>
          <p:cNvGrpSpPr/>
          <p:nvPr/>
        </p:nvGrpSpPr>
        <p:grpSpPr>
          <a:xfrm>
            <a:off x="12481560" y="3538085"/>
            <a:ext cx="4693920" cy="661392"/>
            <a:chOff x="0" y="0"/>
            <a:chExt cx="6258560" cy="881856"/>
          </a:xfrm>
        </p:grpSpPr>
        <p:sp>
          <p:nvSpPr>
            <p:cNvPr id="66" name="Freeform 66"/>
            <p:cNvSpPr/>
            <p:nvPr/>
          </p:nvSpPr>
          <p:spPr>
            <a:xfrm>
              <a:off x="0" y="0"/>
              <a:ext cx="6258560" cy="881856"/>
            </a:xfrm>
            <a:custGeom>
              <a:avLst/>
              <a:gdLst/>
              <a:ahLst/>
              <a:cxnLst/>
              <a:rect l="l" t="t" r="r" b="b"/>
              <a:pathLst>
                <a:path w="6258560" h="881856">
                  <a:moveTo>
                    <a:pt x="0" y="0"/>
                  </a:moveTo>
                  <a:lnTo>
                    <a:pt x="6258560" y="0"/>
                  </a:lnTo>
                  <a:lnTo>
                    <a:pt x="6258560" y="881856"/>
                  </a:lnTo>
                  <a:lnTo>
                    <a:pt x="0" y="881856"/>
                  </a:lnTo>
                  <a:close/>
                </a:path>
              </a:pathLst>
            </a:custGeom>
            <a:blipFill>
              <a:blip r:embed="rId3">
                <a:alphaModFix amt="0"/>
              </a:blip>
              <a:stretch>
                <a:fillRect t="-94044" b="-82527"/>
              </a:stretch>
            </a:blipFill>
          </p:spPr>
          <p:txBody>
            <a:bodyPr/>
            <a:lstStyle/>
            <a:p>
              <a:endParaRPr lang="en-US"/>
            </a:p>
          </p:txBody>
        </p:sp>
        <p:sp>
          <p:nvSpPr>
            <p:cNvPr id="67" name="TextBox 67"/>
            <p:cNvSpPr txBox="1"/>
            <p:nvPr/>
          </p:nvSpPr>
          <p:spPr>
            <a:xfrm>
              <a:off x="0" y="-28575"/>
              <a:ext cx="6258560" cy="910431"/>
            </a:xfrm>
            <a:prstGeom prst="rect">
              <a:avLst/>
            </a:prstGeom>
          </p:spPr>
          <p:txBody>
            <a:bodyPr lIns="0" tIns="0" rIns="0" bIns="0" rtlCol="0" anchor="ctr"/>
            <a:lstStyle/>
            <a:p>
              <a:pPr algn="l">
                <a:lnSpc>
                  <a:spcPts val="3840"/>
                </a:lnSpc>
              </a:pPr>
              <a:r>
                <a:rPr lang="en-US" sz="3200" b="1">
                  <a:solidFill>
                    <a:srgbClr val="1F2D2B"/>
                  </a:solidFill>
                  <a:latin typeface="Arial Bold"/>
                  <a:ea typeface="Arial Bold"/>
                  <a:cs typeface="Arial Bold"/>
                  <a:sym typeface="Arial Bold"/>
                </a:rPr>
                <a:t>SaaS Scale</a:t>
              </a:r>
            </a:p>
          </p:txBody>
        </p:sp>
      </p:grpSp>
      <p:grpSp>
        <p:nvGrpSpPr>
          <p:cNvPr id="68" name="Group 68"/>
          <p:cNvGrpSpPr/>
          <p:nvPr/>
        </p:nvGrpSpPr>
        <p:grpSpPr>
          <a:xfrm>
            <a:off x="12481560" y="4269605"/>
            <a:ext cx="4693920" cy="350472"/>
            <a:chOff x="0" y="0"/>
            <a:chExt cx="6258560" cy="467296"/>
          </a:xfrm>
        </p:grpSpPr>
        <p:sp>
          <p:nvSpPr>
            <p:cNvPr id="69" name="Freeform 69"/>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70" name="TextBox 70"/>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Paying users</a:t>
              </a:r>
            </a:p>
          </p:txBody>
        </p:sp>
      </p:grpSp>
      <p:grpSp>
        <p:nvGrpSpPr>
          <p:cNvPr id="71" name="Group 71"/>
          <p:cNvGrpSpPr/>
          <p:nvPr/>
        </p:nvGrpSpPr>
        <p:grpSpPr>
          <a:xfrm>
            <a:off x="12481560" y="4580501"/>
            <a:ext cx="4693920" cy="572765"/>
            <a:chOff x="0" y="0"/>
            <a:chExt cx="6258560" cy="763687"/>
          </a:xfrm>
        </p:grpSpPr>
        <p:sp>
          <p:nvSpPr>
            <p:cNvPr id="72" name="Freeform 72"/>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73" name="TextBox 73"/>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1F2D2B"/>
                  </a:solidFill>
                  <a:latin typeface="Arial Bold"/>
                  <a:ea typeface="Arial Bold"/>
                  <a:cs typeface="Arial Bold"/>
                  <a:sym typeface="Arial Bold"/>
                </a:rPr>
                <a:t>~1,000</a:t>
              </a:r>
            </a:p>
          </p:txBody>
        </p:sp>
      </p:grpSp>
      <p:grpSp>
        <p:nvGrpSpPr>
          <p:cNvPr id="74" name="Group 74"/>
          <p:cNvGrpSpPr/>
          <p:nvPr/>
        </p:nvGrpSpPr>
        <p:grpSpPr>
          <a:xfrm>
            <a:off x="12481560" y="5037701"/>
            <a:ext cx="4693920" cy="350472"/>
            <a:chOff x="0" y="0"/>
            <a:chExt cx="6258560" cy="467296"/>
          </a:xfrm>
        </p:grpSpPr>
        <p:sp>
          <p:nvSpPr>
            <p:cNvPr id="75" name="Freeform 75"/>
            <p:cNvSpPr/>
            <p:nvPr/>
          </p:nvSpPr>
          <p:spPr>
            <a:xfrm>
              <a:off x="0" y="0"/>
              <a:ext cx="6258560" cy="467296"/>
            </a:xfrm>
            <a:custGeom>
              <a:avLst/>
              <a:gdLst/>
              <a:ahLst/>
              <a:cxnLst/>
              <a:rect l="l" t="t" r="r" b="b"/>
              <a:pathLst>
                <a:path w="6258560" h="467296">
                  <a:moveTo>
                    <a:pt x="0" y="0"/>
                  </a:moveTo>
                  <a:lnTo>
                    <a:pt x="6258560" y="0"/>
                  </a:lnTo>
                  <a:lnTo>
                    <a:pt x="6258560" y="467296"/>
                  </a:lnTo>
                  <a:lnTo>
                    <a:pt x="0" y="467296"/>
                  </a:lnTo>
                  <a:close/>
                </a:path>
              </a:pathLst>
            </a:custGeom>
            <a:blipFill>
              <a:blip r:embed="rId3">
                <a:alphaModFix amt="0"/>
              </a:blip>
              <a:stretch>
                <a:fillRect t="-219221" b="-202710"/>
              </a:stretch>
            </a:blipFill>
          </p:spPr>
          <p:txBody>
            <a:bodyPr/>
            <a:lstStyle/>
            <a:p>
              <a:endParaRPr lang="en-US"/>
            </a:p>
          </p:txBody>
        </p:sp>
        <p:sp>
          <p:nvSpPr>
            <p:cNvPr id="76" name="TextBox 76"/>
            <p:cNvSpPr txBox="1"/>
            <p:nvPr/>
          </p:nvSpPr>
          <p:spPr>
            <a:xfrm>
              <a:off x="0" y="-19050"/>
              <a:ext cx="6258560" cy="486346"/>
            </a:xfrm>
            <a:prstGeom prst="rect">
              <a:avLst/>
            </a:prstGeom>
          </p:spPr>
          <p:txBody>
            <a:bodyPr lIns="0" tIns="0" rIns="0" bIns="0" rtlCol="0" anchor="ctr"/>
            <a:lstStyle/>
            <a:p>
              <a:pPr algn="l">
                <a:lnSpc>
                  <a:spcPts val="2039"/>
                </a:lnSpc>
              </a:pPr>
              <a:r>
                <a:rPr lang="en-US" sz="1700">
                  <a:solidFill>
                    <a:srgbClr val="8B8F8D"/>
                  </a:solidFill>
                  <a:latin typeface="Arial"/>
                  <a:ea typeface="Arial"/>
                  <a:cs typeface="Arial"/>
                  <a:sym typeface="Arial"/>
                </a:rPr>
                <a:t>Annual revenue</a:t>
              </a:r>
            </a:p>
          </p:txBody>
        </p:sp>
      </p:grpSp>
      <p:grpSp>
        <p:nvGrpSpPr>
          <p:cNvPr id="77" name="Group 77"/>
          <p:cNvGrpSpPr/>
          <p:nvPr/>
        </p:nvGrpSpPr>
        <p:grpSpPr>
          <a:xfrm>
            <a:off x="12481560" y="5348597"/>
            <a:ext cx="4693920" cy="572765"/>
            <a:chOff x="0" y="0"/>
            <a:chExt cx="6258560" cy="763687"/>
          </a:xfrm>
        </p:grpSpPr>
        <p:sp>
          <p:nvSpPr>
            <p:cNvPr id="78" name="Freeform 78"/>
            <p:cNvSpPr/>
            <p:nvPr/>
          </p:nvSpPr>
          <p:spPr>
            <a:xfrm>
              <a:off x="0" y="0"/>
              <a:ext cx="6258560" cy="763687"/>
            </a:xfrm>
            <a:custGeom>
              <a:avLst/>
              <a:gdLst/>
              <a:ahLst/>
              <a:cxnLst/>
              <a:rect l="l" t="t" r="r" b="b"/>
              <a:pathLst>
                <a:path w="6258560" h="763687">
                  <a:moveTo>
                    <a:pt x="0" y="0"/>
                  </a:moveTo>
                  <a:lnTo>
                    <a:pt x="6258560" y="0"/>
                  </a:lnTo>
                  <a:lnTo>
                    <a:pt x="6258560" y="763687"/>
                  </a:lnTo>
                  <a:lnTo>
                    <a:pt x="0" y="763687"/>
                  </a:lnTo>
                  <a:close/>
                </a:path>
              </a:pathLst>
            </a:custGeom>
            <a:blipFill>
              <a:blip r:embed="rId3">
                <a:alphaModFix amt="0"/>
              </a:blip>
              <a:stretch>
                <a:fillRect t="-124561" b="-94805"/>
              </a:stretch>
            </a:blipFill>
          </p:spPr>
          <p:txBody>
            <a:bodyPr/>
            <a:lstStyle/>
            <a:p>
              <a:endParaRPr lang="en-US"/>
            </a:p>
          </p:txBody>
        </p:sp>
        <p:sp>
          <p:nvSpPr>
            <p:cNvPr id="79" name="TextBox 79"/>
            <p:cNvSpPr txBox="1"/>
            <p:nvPr/>
          </p:nvSpPr>
          <p:spPr>
            <a:xfrm>
              <a:off x="0" y="-19050"/>
              <a:ext cx="6258560" cy="782737"/>
            </a:xfrm>
            <a:prstGeom prst="rect">
              <a:avLst/>
            </a:prstGeom>
          </p:spPr>
          <p:txBody>
            <a:bodyPr lIns="0" tIns="0" rIns="0" bIns="0" rtlCol="0" anchor="ctr"/>
            <a:lstStyle/>
            <a:p>
              <a:pPr algn="l">
                <a:lnSpc>
                  <a:spcPts val="3359"/>
                </a:lnSpc>
              </a:pPr>
              <a:r>
                <a:rPr lang="en-US" sz="2799" b="1">
                  <a:solidFill>
                    <a:srgbClr val="2E9E7F"/>
                  </a:solidFill>
                  <a:latin typeface="Arial Bold"/>
                  <a:ea typeface="Arial Bold"/>
                  <a:cs typeface="Arial Bold"/>
                  <a:sym typeface="Arial Bold"/>
                </a:rPr>
                <a:t>RM 708,000</a:t>
              </a:r>
            </a:p>
          </p:txBody>
        </p:sp>
      </p:grpSp>
      <p:grpSp>
        <p:nvGrpSpPr>
          <p:cNvPr id="80" name="Group 80"/>
          <p:cNvGrpSpPr/>
          <p:nvPr/>
        </p:nvGrpSpPr>
        <p:grpSpPr>
          <a:xfrm>
            <a:off x="12481560" y="5878949"/>
            <a:ext cx="4693920" cy="607647"/>
            <a:chOff x="0" y="0"/>
            <a:chExt cx="6258560" cy="810196"/>
          </a:xfrm>
        </p:grpSpPr>
        <p:sp>
          <p:nvSpPr>
            <p:cNvPr id="81" name="Freeform 81"/>
            <p:cNvSpPr/>
            <p:nvPr/>
          </p:nvSpPr>
          <p:spPr>
            <a:xfrm>
              <a:off x="0" y="0"/>
              <a:ext cx="6258560" cy="810196"/>
            </a:xfrm>
            <a:custGeom>
              <a:avLst/>
              <a:gdLst/>
              <a:ahLst/>
              <a:cxnLst/>
              <a:rect l="l" t="t" r="r" b="b"/>
              <a:pathLst>
                <a:path w="6258560" h="810196">
                  <a:moveTo>
                    <a:pt x="0" y="0"/>
                  </a:moveTo>
                  <a:lnTo>
                    <a:pt x="6258560" y="0"/>
                  </a:lnTo>
                  <a:lnTo>
                    <a:pt x="6258560" y="810196"/>
                  </a:lnTo>
                  <a:lnTo>
                    <a:pt x="0" y="810196"/>
                  </a:lnTo>
                  <a:close/>
                </a:path>
              </a:pathLst>
            </a:custGeom>
            <a:blipFill>
              <a:blip r:embed="rId3">
                <a:alphaModFix amt="0"/>
              </a:blip>
              <a:stretch>
                <a:fillRect t="-102362" b="-98671"/>
              </a:stretch>
            </a:blipFill>
          </p:spPr>
          <p:txBody>
            <a:bodyPr/>
            <a:lstStyle/>
            <a:p>
              <a:endParaRPr lang="en-US"/>
            </a:p>
          </p:txBody>
        </p:sp>
        <p:sp>
          <p:nvSpPr>
            <p:cNvPr id="82" name="TextBox 82"/>
            <p:cNvSpPr txBox="1"/>
            <p:nvPr/>
          </p:nvSpPr>
          <p:spPr>
            <a:xfrm>
              <a:off x="0" y="-19050"/>
              <a:ext cx="6258560" cy="829246"/>
            </a:xfrm>
            <a:prstGeom prst="rect">
              <a:avLst/>
            </a:prstGeom>
          </p:spPr>
          <p:txBody>
            <a:bodyPr lIns="0" tIns="0" rIns="0" bIns="0" rtlCol="0" anchor="ctr"/>
            <a:lstStyle/>
            <a:p>
              <a:pPr algn="l">
                <a:lnSpc>
                  <a:spcPts val="2039"/>
                </a:lnSpc>
              </a:pPr>
              <a:r>
                <a:rPr lang="en-US" sz="1700">
                  <a:solidFill>
                    <a:srgbClr val="6C7571"/>
                  </a:solidFill>
                  <a:latin typeface="Arial"/>
                  <a:ea typeface="Arial"/>
                  <a:cs typeface="Arial"/>
                  <a:sym typeface="Arial"/>
                </a:rPr>
                <a:t>Tiered SaaS, agency white-label, API integrations.</a:t>
              </a:r>
            </a:p>
          </p:txBody>
        </p:sp>
      </p:grpSp>
      <p:grpSp>
        <p:nvGrpSpPr>
          <p:cNvPr id="83" name="Group 83"/>
          <p:cNvGrpSpPr/>
          <p:nvPr/>
        </p:nvGrpSpPr>
        <p:grpSpPr>
          <a:xfrm>
            <a:off x="977903" y="6817228"/>
            <a:ext cx="8255003" cy="2860043"/>
            <a:chOff x="0" y="0"/>
            <a:chExt cx="11006671" cy="3813391"/>
          </a:xfrm>
        </p:grpSpPr>
        <p:sp>
          <p:nvSpPr>
            <p:cNvPr id="84" name="Freeform 84"/>
            <p:cNvSpPr/>
            <p:nvPr/>
          </p:nvSpPr>
          <p:spPr>
            <a:xfrm>
              <a:off x="16891" y="16891"/>
              <a:ext cx="10972800" cy="3779520"/>
            </a:xfrm>
            <a:custGeom>
              <a:avLst/>
              <a:gdLst/>
              <a:ahLst/>
              <a:cxnLst/>
              <a:rect l="l" t="t" r="r" b="b"/>
              <a:pathLst>
                <a:path w="10972800" h="3779520">
                  <a:moveTo>
                    <a:pt x="0" y="0"/>
                  </a:moveTo>
                  <a:lnTo>
                    <a:pt x="10972800" y="0"/>
                  </a:lnTo>
                  <a:lnTo>
                    <a:pt x="10972800" y="3779520"/>
                  </a:lnTo>
                  <a:lnTo>
                    <a:pt x="0" y="3779520"/>
                  </a:lnTo>
                  <a:close/>
                </a:path>
              </a:pathLst>
            </a:custGeom>
            <a:solidFill>
              <a:srgbClr val="FFFFFF"/>
            </a:solidFill>
          </p:spPr>
          <p:txBody>
            <a:bodyPr/>
            <a:lstStyle/>
            <a:p>
              <a:endParaRPr lang="en-US"/>
            </a:p>
          </p:txBody>
        </p:sp>
        <p:sp>
          <p:nvSpPr>
            <p:cNvPr id="85" name="Freeform 85"/>
            <p:cNvSpPr/>
            <p:nvPr/>
          </p:nvSpPr>
          <p:spPr>
            <a:xfrm>
              <a:off x="0" y="0"/>
              <a:ext cx="11006582" cy="3813302"/>
            </a:xfrm>
            <a:custGeom>
              <a:avLst/>
              <a:gdLst/>
              <a:ahLst/>
              <a:cxnLst/>
              <a:rect l="l" t="t" r="r" b="b"/>
              <a:pathLst>
                <a:path w="11006582" h="3813302">
                  <a:moveTo>
                    <a:pt x="16891" y="0"/>
                  </a:moveTo>
                  <a:lnTo>
                    <a:pt x="10989691" y="0"/>
                  </a:lnTo>
                  <a:cubicBezTo>
                    <a:pt x="10999089" y="0"/>
                    <a:pt x="11006582" y="7620"/>
                    <a:pt x="11006582" y="16891"/>
                  </a:cubicBezTo>
                  <a:lnTo>
                    <a:pt x="11006582" y="3796411"/>
                  </a:lnTo>
                  <a:cubicBezTo>
                    <a:pt x="11006582" y="3805809"/>
                    <a:pt x="10998962" y="3813302"/>
                    <a:pt x="109896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10989691" y="3779520"/>
                  </a:lnTo>
                  <a:lnTo>
                    <a:pt x="10989691" y="3796411"/>
                  </a:lnTo>
                  <a:lnTo>
                    <a:pt x="10972800" y="3796411"/>
                  </a:lnTo>
                  <a:lnTo>
                    <a:pt x="10972800" y="16891"/>
                  </a:lnTo>
                  <a:lnTo>
                    <a:pt x="10989691" y="16891"/>
                  </a:lnTo>
                  <a:lnTo>
                    <a:pt x="10989691" y="33909"/>
                  </a:lnTo>
                  <a:lnTo>
                    <a:pt x="16891" y="33909"/>
                  </a:lnTo>
                  <a:close/>
                </a:path>
              </a:pathLst>
            </a:custGeom>
            <a:solidFill>
              <a:srgbClr val="E7E9E6"/>
            </a:solidFill>
          </p:spPr>
          <p:txBody>
            <a:bodyPr/>
            <a:lstStyle/>
            <a:p>
              <a:endParaRPr lang="en-US"/>
            </a:p>
          </p:txBody>
        </p:sp>
      </p:grpSp>
      <p:grpSp>
        <p:nvGrpSpPr>
          <p:cNvPr id="86" name="Group 86"/>
          <p:cNvGrpSpPr/>
          <p:nvPr/>
        </p:nvGrpSpPr>
        <p:grpSpPr>
          <a:xfrm>
            <a:off x="1356360" y="7085957"/>
            <a:ext cx="7680960" cy="350472"/>
            <a:chOff x="0" y="0"/>
            <a:chExt cx="10241280" cy="467296"/>
          </a:xfrm>
        </p:grpSpPr>
        <p:sp>
          <p:nvSpPr>
            <p:cNvPr id="87" name="Freeform 87"/>
            <p:cNvSpPr/>
            <p:nvPr/>
          </p:nvSpPr>
          <p:spPr>
            <a:xfrm>
              <a:off x="0" y="0"/>
              <a:ext cx="10241280" cy="467296"/>
            </a:xfrm>
            <a:custGeom>
              <a:avLst/>
              <a:gdLst/>
              <a:ahLst/>
              <a:cxnLst/>
              <a:rect l="l" t="t" r="r" b="b"/>
              <a:pathLst>
                <a:path w="10241280" h="467296">
                  <a:moveTo>
                    <a:pt x="0" y="0"/>
                  </a:moveTo>
                  <a:lnTo>
                    <a:pt x="10241280" y="0"/>
                  </a:lnTo>
                  <a:lnTo>
                    <a:pt x="10241280" y="467296"/>
                  </a:lnTo>
                  <a:lnTo>
                    <a:pt x="0" y="467296"/>
                  </a:lnTo>
                  <a:close/>
                </a:path>
              </a:pathLst>
            </a:custGeom>
            <a:blipFill>
              <a:blip r:embed="rId3">
                <a:alphaModFix amt="0"/>
              </a:blip>
              <a:stretch>
                <a:fillRect t="-380072" b="-373998"/>
              </a:stretch>
            </a:blipFill>
          </p:spPr>
          <p:txBody>
            <a:bodyPr/>
            <a:lstStyle/>
            <a:p>
              <a:endParaRPr lang="en-US"/>
            </a:p>
          </p:txBody>
        </p:sp>
        <p:sp>
          <p:nvSpPr>
            <p:cNvPr id="88" name="TextBox 88"/>
            <p:cNvSpPr txBox="1"/>
            <p:nvPr/>
          </p:nvSpPr>
          <p:spPr>
            <a:xfrm>
              <a:off x="0" y="-19050"/>
              <a:ext cx="10241280" cy="486346"/>
            </a:xfrm>
            <a:prstGeom prst="rect">
              <a:avLst/>
            </a:prstGeom>
          </p:spPr>
          <p:txBody>
            <a:bodyPr lIns="0" tIns="0" rIns="0" bIns="0" rtlCol="0" anchor="ctr"/>
            <a:lstStyle/>
            <a:p>
              <a:pPr algn="l">
                <a:lnSpc>
                  <a:spcPts val="2039"/>
                </a:lnSpc>
              </a:pPr>
              <a:r>
                <a:rPr lang="en-US" sz="1700" spc="300">
                  <a:solidFill>
                    <a:srgbClr val="6C7571"/>
                  </a:solidFill>
                  <a:latin typeface="Arial"/>
                  <a:ea typeface="Arial"/>
                  <a:cs typeface="Arial"/>
                  <a:sym typeface="Arial"/>
                </a:rPr>
                <a:t>UNIT ECONOMICS</a:t>
              </a:r>
            </a:p>
          </p:txBody>
        </p:sp>
      </p:grpSp>
      <p:grpSp>
        <p:nvGrpSpPr>
          <p:cNvPr id="89" name="Group 89"/>
          <p:cNvGrpSpPr/>
          <p:nvPr/>
        </p:nvGrpSpPr>
        <p:grpSpPr>
          <a:xfrm>
            <a:off x="1356360" y="7524869"/>
            <a:ext cx="4023360" cy="390023"/>
            <a:chOff x="0" y="0"/>
            <a:chExt cx="5364480" cy="520030"/>
          </a:xfrm>
        </p:grpSpPr>
        <p:sp>
          <p:nvSpPr>
            <p:cNvPr id="90" name="Freeform 90"/>
            <p:cNvSpPr/>
            <p:nvPr/>
          </p:nvSpPr>
          <p:spPr>
            <a:xfrm>
              <a:off x="0" y="0"/>
              <a:ext cx="5364480" cy="520030"/>
            </a:xfrm>
            <a:custGeom>
              <a:avLst/>
              <a:gdLst/>
              <a:ahLst/>
              <a:cxnLst/>
              <a:rect l="l" t="t" r="r" b="b"/>
              <a:pathLst>
                <a:path w="5364480" h="520030">
                  <a:moveTo>
                    <a:pt x="0" y="0"/>
                  </a:moveTo>
                  <a:lnTo>
                    <a:pt x="5364480" y="0"/>
                  </a:lnTo>
                  <a:lnTo>
                    <a:pt x="5364480" y="520030"/>
                  </a:lnTo>
                  <a:lnTo>
                    <a:pt x="0" y="520030"/>
                  </a:lnTo>
                  <a:close/>
                </a:path>
              </a:pathLst>
            </a:custGeom>
            <a:blipFill>
              <a:blip r:embed="rId3">
                <a:alphaModFix amt="0"/>
              </a:blip>
              <a:stretch>
                <a:fillRect t="-154112" b="-147891"/>
              </a:stretch>
            </a:blipFill>
          </p:spPr>
          <p:txBody>
            <a:bodyPr/>
            <a:lstStyle/>
            <a:p>
              <a:endParaRPr lang="en-US"/>
            </a:p>
          </p:txBody>
        </p:sp>
        <p:sp>
          <p:nvSpPr>
            <p:cNvPr id="91" name="TextBox 91"/>
            <p:cNvSpPr txBox="1"/>
            <p:nvPr/>
          </p:nvSpPr>
          <p:spPr>
            <a:xfrm>
              <a:off x="0" y="-9525"/>
              <a:ext cx="5364480" cy="529555"/>
            </a:xfrm>
            <a:prstGeom prst="rect">
              <a:avLst/>
            </a:prstGeom>
          </p:spPr>
          <p:txBody>
            <a:bodyPr lIns="0" tIns="0" rIns="0" bIns="0" rtlCol="0" anchor="ctr"/>
            <a:lstStyle/>
            <a:p>
              <a:pPr algn="l">
                <a:lnSpc>
                  <a:spcPts val="2280"/>
                </a:lnSpc>
              </a:pPr>
              <a:r>
                <a:rPr lang="en-US" sz="1900">
                  <a:solidFill>
                    <a:srgbClr val="6C7571"/>
                  </a:solidFill>
                  <a:latin typeface="Arial"/>
                  <a:ea typeface="Arial"/>
                  <a:cs typeface="Arial"/>
                  <a:sym typeface="Arial"/>
                </a:rPr>
                <a:t>Cost per resolution</a:t>
              </a:r>
            </a:p>
          </p:txBody>
        </p:sp>
      </p:grpSp>
      <p:grpSp>
        <p:nvGrpSpPr>
          <p:cNvPr id="92" name="Group 92"/>
          <p:cNvGrpSpPr/>
          <p:nvPr/>
        </p:nvGrpSpPr>
        <p:grpSpPr>
          <a:xfrm>
            <a:off x="5379720" y="7524869"/>
            <a:ext cx="3474720" cy="397643"/>
            <a:chOff x="0" y="0"/>
            <a:chExt cx="4632960" cy="530190"/>
          </a:xfrm>
        </p:grpSpPr>
        <p:sp>
          <p:nvSpPr>
            <p:cNvPr id="93" name="Freeform 93"/>
            <p:cNvSpPr/>
            <p:nvPr/>
          </p:nvSpPr>
          <p:spPr>
            <a:xfrm>
              <a:off x="0" y="0"/>
              <a:ext cx="4632960" cy="530190"/>
            </a:xfrm>
            <a:custGeom>
              <a:avLst/>
              <a:gdLst/>
              <a:ahLst/>
              <a:cxnLst/>
              <a:rect l="l" t="t" r="r" b="b"/>
              <a:pathLst>
                <a:path w="4632960" h="530190">
                  <a:moveTo>
                    <a:pt x="0" y="0"/>
                  </a:moveTo>
                  <a:lnTo>
                    <a:pt x="4632960" y="0"/>
                  </a:lnTo>
                  <a:lnTo>
                    <a:pt x="4632960" y="530190"/>
                  </a:lnTo>
                  <a:lnTo>
                    <a:pt x="0" y="530190"/>
                  </a:lnTo>
                  <a:close/>
                </a:path>
              </a:pathLst>
            </a:custGeom>
            <a:blipFill>
              <a:blip r:embed="rId3">
                <a:alphaModFix amt="0"/>
              </a:blip>
              <a:stretch>
                <a:fillRect t="-124275" b="-116257"/>
              </a:stretch>
            </a:blipFill>
          </p:spPr>
          <p:txBody>
            <a:bodyPr/>
            <a:lstStyle/>
            <a:p>
              <a:endParaRPr lang="en-US"/>
            </a:p>
          </p:txBody>
        </p:sp>
        <p:sp>
          <p:nvSpPr>
            <p:cNvPr id="94" name="TextBox 94"/>
            <p:cNvSpPr txBox="1"/>
            <p:nvPr/>
          </p:nvSpPr>
          <p:spPr>
            <a:xfrm>
              <a:off x="0" y="-9525"/>
              <a:ext cx="4632960" cy="539715"/>
            </a:xfrm>
            <a:prstGeom prst="rect">
              <a:avLst/>
            </a:prstGeom>
          </p:spPr>
          <p:txBody>
            <a:bodyPr lIns="0" tIns="0" rIns="0" bIns="0" rtlCol="0" anchor="ctr"/>
            <a:lstStyle/>
            <a:p>
              <a:pPr algn="r">
                <a:lnSpc>
                  <a:spcPts val="2280"/>
                </a:lnSpc>
              </a:pPr>
              <a:r>
                <a:rPr lang="en-US" sz="1900" b="1">
                  <a:solidFill>
                    <a:srgbClr val="F05A22"/>
                  </a:solidFill>
                  <a:latin typeface="Arial Bold"/>
                  <a:ea typeface="Arial Bold"/>
                  <a:cs typeface="Arial Bold"/>
                  <a:sym typeface="Arial Bold"/>
                </a:rPr>
                <a:t>RM 0.003</a:t>
              </a:r>
            </a:p>
          </p:txBody>
        </p:sp>
      </p:grpSp>
      <p:grpSp>
        <p:nvGrpSpPr>
          <p:cNvPr id="95" name="Group 95"/>
          <p:cNvGrpSpPr/>
          <p:nvPr/>
        </p:nvGrpSpPr>
        <p:grpSpPr>
          <a:xfrm>
            <a:off x="1356360" y="7927205"/>
            <a:ext cx="4023360" cy="390023"/>
            <a:chOff x="0" y="0"/>
            <a:chExt cx="5364480" cy="520030"/>
          </a:xfrm>
        </p:grpSpPr>
        <p:sp>
          <p:nvSpPr>
            <p:cNvPr id="96" name="Freeform 96"/>
            <p:cNvSpPr/>
            <p:nvPr/>
          </p:nvSpPr>
          <p:spPr>
            <a:xfrm>
              <a:off x="0" y="0"/>
              <a:ext cx="5364480" cy="520030"/>
            </a:xfrm>
            <a:custGeom>
              <a:avLst/>
              <a:gdLst/>
              <a:ahLst/>
              <a:cxnLst/>
              <a:rect l="l" t="t" r="r" b="b"/>
              <a:pathLst>
                <a:path w="5364480" h="520030">
                  <a:moveTo>
                    <a:pt x="0" y="0"/>
                  </a:moveTo>
                  <a:lnTo>
                    <a:pt x="5364480" y="0"/>
                  </a:lnTo>
                  <a:lnTo>
                    <a:pt x="5364480" y="520030"/>
                  </a:lnTo>
                  <a:lnTo>
                    <a:pt x="0" y="520030"/>
                  </a:lnTo>
                  <a:close/>
                </a:path>
              </a:pathLst>
            </a:custGeom>
            <a:blipFill>
              <a:blip r:embed="rId3">
                <a:alphaModFix amt="0"/>
              </a:blip>
              <a:stretch>
                <a:fillRect t="-154112" b="-147891"/>
              </a:stretch>
            </a:blipFill>
          </p:spPr>
          <p:txBody>
            <a:bodyPr/>
            <a:lstStyle/>
            <a:p>
              <a:endParaRPr lang="en-US"/>
            </a:p>
          </p:txBody>
        </p:sp>
        <p:sp>
          <p:nvSpPr>
            <p:cNvPr id="97" name="TextBox 97"/>
            <p:cNvSpPr txBox="1"/>
            <p:nvPr/>
          </p:nvSpPr>
          <p:spPr>
            <a:xfrm>
              <a:off x="0" y="-9525"/>
              <a:ext cx="5364480" cy="529555"/>
            </a:xfrm>
            <a:prstGeom prst="rect">
              <a:avLst/>
            </a:prstGeom>
          </p:spPr>
          <p:txBody>
            <a:bodyPr lIns="0" tIns="0" rIns="0" bIns="0" rtlCol="0" anchor="ctr"/>
            <a:lstStyle/>
            <a:p>
              <a:pPr algn="l">
                <a:lnSpc>
                  <a:spcPts val="2280"/>
                </a:lnSpc>
              </a:pPr>
              <a:r>
                <a:rPr lang="en-US" sz="1900">
                  <a:solidFill>
                    <a:srgbClr val="6C7571"/>
                  </a:solidFill>
                  <a:latin typeface="Arial"/>
                  <a:ea typeface="Arial"/>
                  <a:cs typeface="Arial"/>
                  <a:sym typeface="Arial"/>
                </a:rPr>
                <a:t>Free tier cost</a:t>
              </a:r>
            </a:p>
          </p:txBody>
        </p:sp>
      </p:grpSp>
      <p:grpSp>
        <p:nvGrpSpPr>
          <p:cNvPr id="98" name="Group 98"/>
          <p:cNvGrpSpPr/>
          <p:nvPr/>
        </p:nvGrpSpPr>
        <p:grpSpPr>
          <a:xfrm>
            <a:off x="5379720" y="7927205"/>
            <a:ext cx="3474720" cy="397643"/>
            <a:chOff x="0" y="0"/>
            <a:chExt cx="4632960" cy="530190"/>
          </a:xfrm>
        </p:grpSpPr>
        <p:sp>
          <p:nvSpPr>
            <p:cNvPr id="99" name="Freeform 99"/>
            <p:cNvSpPr/>
            <p:nvPr/>
          </p:nvSpPr>
          <p:spPr>
            <a:xfrm>
              <a:off x="0" y="0"/>
              <a:ext cx="4632960" cy="530190"/>
            </a:xfrm>
            <a:custGeom>
              <a:avLst/>
              <a:gdLst/>
              <a:ahLst/>
              <a:cxnLst/>
              <a:rect l="l" t="t" r="r" b="b"/>
              <a:pathLst>
                <a:path w="4632960" h="530190">
                  <a:moveTo>
                    <a:pt x="0" y="0"/>
                  </a:moveTo>
                  <a:lnTo>
                    <a:pt x="4632960" y="0"/>
                  </a:lnTo>
                  <a:lnTo>
                    <a:pt x="4632960" y="530190"/>
                  </a:lnTo>
                  <a:lnTo>
                    <a:pt x="0" y="530190"/>
                  </a:lnTo>
                  <a:close/>
                </a:path>
              </a:pathLst>
            </a:custGeom>
            <a:blipFill>
              <a:blip r:embed="rId3">
                <a:alphaModFix amt="0"/>
              </a:blip>
              <a:stretch>
                <a:fillRect t="-124275" b="-116257"/>
              </a:stretch>
            </a:blipFill>
          </p:spPr>
          <p:txBody>
            <a:bodyPr/>
            <a:lstStyle/>
            <a:p>
              <a:endParaRPr lang="en-US"/>
            </a:p>
          </p:txBody>
        </p:sp>
        <p:sp>
          <p:nvSpPr>
            <p:cNvPr id="100" name="TextBox 100"/>
            <p:cNvSpPr txBox="1"/>
            <p:nvPr/>
          </p:nvSpPr>
          <p:spPr>
            <a:xfrm>
              <a:off x="0" y="-9525"/>
              <a:ext cx="4632960" cy="539715"/>
            </a:xfrm>
            <a:prstGeom prst="rect">
              <a:avLst/>
            </a:prstGeom>
          </p:spPr>
          <p:txBody>
            <a:bodyPr lIns="0" tIns="0" rIns="0" bIns="0" rtlCol="0" anchor="ctr"/>
            <a:lstStyle/>
            <a:p>
              <a:pPr algn="r">
                <a:lnSpc>
                  <a:spcPts val="2280"/>
                </a:lnSpc>
              </a:pPr>
              <a:r>
                <a:rPr lang="en-US" sz="1900" b="1">
                  <a:solidFill>
                    <a:srgbClr val="1F2D2B"/>
                  </a:solidFill>
                  <a:latin typeface="Arial Bold"/>
                  <a:ea typeface="Arial Bold"/>
                  <a:cs typeface="Arial Bold"/>
                  <a:sym typeface="Arial Bold"/>
                </a:rPr>
                <a:t>&lt; RM 0.12</a:t>
              </a:r>
            </a:p>
          </p:txBody>
        </p:sp>
      </p:grpSp>
      <p:grpSp>
        <p:nvGrpSpPr>
          <p:cNvPr id="101" name="Group 101"/>
          <p:cNvGrpSpPr/>
          <p:nvPr/>
        </p:nvGrpSpPr>
        <p:grpSpPr>
          <a:xfrm>
            <a:off x="1356360" y="8329541"/>
            <a:ext cx="4023360" cy="390023"/>
            <a:chOff x="0" y="0"/>
            <a:chExt cx="5364480" cy="520030"/>
          </a:xfrm>
        </p:grpSpPr>
        <p:sp>
          <p:nvSpPr>
            <p:cNvPr id="102" name="Freeform 102"/>
            <p:cNvSpPr/>
            <p:nvPr/>
          </p:nvSpPr>
          <p:spPr>
            <a:xfrm>
              <a:off x="0" y="0"/>
              <a:ext cx="5364480" cy="520030"/>
            </a:xfrm>
            <a:custGeom>
              <a:avLst/>
              <a:gdLst/>
              <a:ahLst/>
              <a:cxnLst/>
              <a:rect l="l" t="t" r="r" b="b"/>
              <a:pathLst>
                <a:path w="5364480" h="520030">
                  <a:moveTo>
                    <a:pt x="0" y="0"/>
                  </a:moveTo>
                  <a:lnTo>
                    <a:pt x="5364480" y="0"/>
                  </a:lnTo>
                  <a:lnTo>
                    <a:pt x="5364480" y="520030"/>
                  </a:lnTo>
                  <a:lnTo>
                    <a:pt x="0" y="520030"/>
                  </a:lnTo>
                  <a:close/>
                </a:path>
              </a:pathLst>
            </a:custGeom>
            <a:blipFill>
              <a:blip r:embed="rId3">
                <a:alphaModFix amt="0"/>
              </a:blip>
              <a:stretch>
                <a:fillRect t="-154112" b="-147891"/>
              </a:stretch>
            </a:blipFill>
          </p:spPr>
          <p:txBody>
            <a:bodyPr/>
            <a:lstStyle/>
            <a:p>
              <a:endParaRPr lang="en-US"/>
            </a:p>
          </p:txBody>
        </p:sp>
        <p:sp>
          <p:nvSpPr>
            <p:cNvPr id="103" name="TextBox 103"/>
            <p:cNvSpPr txBox="1"/>
            <p:nvPr/>
          </p:nvSpPr>
          <p:spPr>
            <a:xfrm>
              <a:off x="0" y="-9525"/>
              <a:ext cx="5364480" cy="529555"/>
            </a:xfrm>
            <a:prstGeom prst="rect">
              <a:avLst/>
            </a:prstGeom>
          </p:spPr>
          <p:txBody>
            <a:bodyPr lIns="0" tIns="0" rIns="0" bIns="0" rtlCol="0" anchor="ctr"/>
            <a:lstStyle/>
            <a:p>
              <a:pPr algn="l">
                <a:lnSpc>
                  <a:spcPts val="2280"/>
                </a:lnSpc>
              </a:pPr>
              <a:r>
                <a:rPr lang="en-US" sz="1900">
                  <a:solidFill>
                    <a:srgbClr val="6C7571"/>
                  </a:solidFill>
                  <a:latin typeface="Arial"/>
                  <a:ea typeface="Arial"/>
                  <a:cs typeface="Arial"/>
                  <a:sym typeface="Arial"/>
                </a:rPr>
                <a:t>Starter price</a:t>
              </a:r>
            </a:p>
          </p:txBody>
        </p:sp>
      </p:grpSp>
      <p:grpSp>
        <p:nvGrpSpPr>
          <p:cNvPr id="104" name="Group 104"/>
          <p:cNvGrpSpPr/>
          <p:nvPr/>
        </p:nvGrpSpPr>
        <p:grpSpPr>
          <a:xfrm>
            <a:off x="5379720" y="8329541"/>
            <a:ext cx="3474720" cy="397643"/>
            <a:chOff x="0" y="0"/>
            <a:chExt cx="4632960" cy="530190"/>
          </a:xfrm>
        </p:grpSpPr>
        <p:sp>
          <p:nvSpPr>
            <p:cNvPr id="105" name="Freeform 105"/>
            <p:cNvSpPr/>
            <p:nvPr/>
          </p:nvSpPr>
          <p:spPr>
            <a:xfrm>
              <a:off x="0" y="0"/>
              <a:ext cx="4632960" cy="530190"/>
            </a:xfrm>
            <a:custGeom>
              <a:avLst/>
              <a:gdLst/>
              <a:ahLst/>
              <a:cxnLst/>
              <a:rect l="l" t="t" r="r" b="b"/>
              <a:pathLst>
                <a:path w="4632960" h="530190">
                  <a:moveTo>
                    <a:pt x="0" y="0"/>
                  </a:moveTo>
                  <a:lnTo>
                    <a:pt x="4632960" y="0"/>
                  </a:lnTo>
                  <a:lnTo>
                    <a:pt x="4632960" y="530190"/>
                  </a:lnTo>
                  <a:lnTo>
                    <a:pt x="0" y="530190"/>
                  </a:lnTo>
                  <a:close/>
                </a:path>
              </a:pathLst>
            </a:custGeom>
            <a:blipFill>
              <a:blip r:embed="rId3">
                <a:alphaModFix amt="0"/>
              </a:blip>
              <a:stretch>
                <a:fillRect t="-124275" b="-116257"/>
              </a:stretch>
            </a:blipFill>
          </p:spPr>
          <p:txBody>
            <a:bodyPr/>
            <a:lstStyle/>
            <a:p>
              <a:endParaRPr lang="en-US"/>
            </a:p>
          </p:txBody>
        </p:sp>
        <p:sp>
          <p:nvSpPr>
            <p:cNvPr id="106" name="TextBox 106"/>
            <p:cNvSpPr txBox="1"/>
            <p:nvPr/>
          </p:nvSpPr>
          <p:spPr>
            <a:xfrm>
              <a:off x="0" y="-9525"/>
              <a:ext cx="4632960" cy="539715"/>
            </a:xfrm>
            <a:prstGeom prst="rect">
              <a:avLst/>
            </a:prstGeom>
          </p:spPr>
          <p:txBody>
            <a:bodyPr lIns="0" tIns="0" rIns="0" bIns="0" rtlCol="0" anchor="ctr"/>
            <a:lstStyle/>
            <a:p>
              <a:pPr algn="r">
                <a:lnSpc>
                  <a:spcPts val="2280"/>
                </a:lnSpc>
              </a:pPr>
              <a:r>
                <a:rPr lang="en-US" sz="1900" b="1">
                  <a:solidFill>
                    <a:srgbClr val="1F2D2B"/>
                  </a:solidFill>
                  <a:latin typeface="Arial Bold"/>
                  <a:ea typeface="Arial Bold"/>
                  <a:cs typeface="Arial Bold"/>
                  <a:sym typeface="Arial Bold"/>
                </a:rPr>
                <a:t>RM 49 / month</a:t>
              </a:r>
            </a:p>
          </p:txBody>
        </p:sp>
      </p:grpSp>
      <p:grpSp>
        <p:nvGrpSpPr>
          <p:cNvPr id="107" name="Group 107"/>
          <p:cNvGrpSpPr/>
          <p:nvPr/>
        </p:nvGrpSpPr>
        <p:grpSpPr>
          <a:xfrm>
            <a:off x="1356360" y="8731877"/>
            <a:ext cx="4023360" cy="390023"/>
            <a:chOff x="0" y="0"/>
            <a:chExt cx="5364480" cy="520030"/>
          </a:xfrm>
        </p:grpSpPr>
        <p:sp>
          <p:nvSpPr>
            <p:cNvPr id="108" name="Freeform 108"/>
            <p:cNvSpPr/>
            <p:nvPr/>
          </p:nvSpPr>
          <p:spPr>
            <a:xfrm>
              <a:off x="0" y="0"/>
              <a:ext cx="5364480" cy="520030"/>
            </a:xfrm>
            <a:custGeom>
              <a:avLst/>
              <a:gdLst/>
              <a:ahLst/>
              <a:cxnLst/>
              <a:rect l="l" t="t" r="r" b="b"/>
              <a:pathLst>
                <a:path w="5364480" h="520030">
                  <a:moveTo>
                    <a:pt x="0" y="0"/>
                  </a:moveTo>
                  <a:lnTo>
                    <a:pt x="5364480" y="0"/>
                  </a:lnTo>
                  <a:lnTo>
                    <a:pt x="5364480" y="520030"/>
                  </a:lnTo>
                  <a:lnTo>
                    <a:pt x="0" y="520030"/>
                  </a:lnTo>
                  <a:close/>
                </a:path>
              </a:pathLst>
            </a:custGeom>
            <a:blipFill>
              <a:blip r:embed="rId3">
                <a:alphaModFix amt="0"/>
              </a:blip>
              <a:stretch>
                <a:fillRect t="-154112" b="-147891"/>
              </a:stretch>
            </a:blipFill>
          </p:spPr>
          <p:txBody>
            <a:bodyPr/>
            <a:lstStyle/>
            <a:p>
              <a:endParaRPr lang="en-US"/>
            </a:p>
          </p:txBody>
        </p:sp>
        <p:sp>
          <p:nvSpPr>
            <p:cNvPr id="109" name="TextBox 109"/>
            <p:cNvSpPr txBox="1"/>
            <p:nvPr/>
          </p:nvSpPr>
          <p:spPr>
            <a:xfrm>
              <a:off x="0" y="-9525"/>
              <a:ext cx="5364480" cy="529555"/>
            </a:xfrm>
            <a:prstGeom prst="rect">
              <a:avLst/>
            </a:prstGeom>
          </p:spPr>
          <p:txBody>
            <a:bodyPr lIns="0" tIns="0" rIns="0" bIns="0" rtlCol="0" anchor="ctr"/>
            <a:lstStyle/>
            <a:p>
              <a:pPr algn="l">
                <a:lnSpc>
                  <a:spcPts val="2280"/>
                </a:lnSpc>
              </a:pPr>
              <a:r>
                <a:rPr lang="en-US" sz="1900">
                  <a:solidFill>
                    <a:srgbClr val="6C7571"/>
                  </a:solidFill>
                  <a:latin typeface="Arial"/>
                  <a:ea typeface="Arial"/>
                  <a:cs typeface="Arial"/>
                  <a:sym typeface="Arial"/>
                </a:rPr>
                <a:t>Break-even</a:t>
              </a:r>
            </a:p>
          </p:txBody>
        </p:sp>
      </p:grpSp>
      <p:grpSp>
        <p:nvGrpSpPr>
          <p:cNvPr id="110" name="Group 110"/>
          <p:cNvGrpSpPr/>
          <p:nvPr/>
        </p:nvGrpSpPr>
        <p:grpSpPr>
          <a:xfrm>
            <a:off x="5379720" y="8731877"/>
            <a:ext cx="3474720" cy="397643"/>
            <a:chOff x="0" y="0"/>
            <a:chExt cx="4632960" cy="530190"/>
          </a:xfrm>
        </p:grpSpPr>
        <p:sp>
          <p:nvSpPr>
            <p:cNvPr id="111" name="Freeform 111"/>
            <p:cNvSpPr/>
            <p:nvPr/>
          </p:nvSpPr>
          <p:spPr>
            <a:xfrm>
              <a:off x="0" y="0"/>
              <a:ext cx="4632960" cy="530190"/>
            </a:xfrm>
            <a:custGeom>
              <a:avLst/>
              <a:gdLst/>
              <a:ahLst/>
              <a:cxnLst/>
              <a:rect l="l" t="t" r="r" b="b"/>
              <a:pathLst>
                <a:path w="4632960" h="530190">
                  <a:moveTo>
                    <a:pt x="0" y="0"/>
                  </a:moveTo>
                  <a:lnTo>
                    <a:pt x="4632960" y="0"/>
                  </a:lnTo>
                  <a:lnTo>
                    <a:pt x="4632960" y="530190"/>
                  </a:lnTo>
                  <a:lnTo>
                    <a:pt x="0" y="530190"/>
                  </a:lnTo>
                  <a:close/>
                </a:path>
              </a:pathLst>
            </a:custGeom>
            <a:blipFill>
              <a:blip r:embed="rId3">
                <a:alphaModFix amt="0"/>
              </a:blip>
              <a:stretch>
                <a:fillRect t="-124275" b="-116257"/>
              </a:stretch>
            </a:blipFill>
          </p:spPr>
          <p:txBody>
            <a:bodyPr/>
            <a:lstStyle/>
            <a:p>
              <a:endParaRPr lang="en-US"/>
            </a:p>
          </p:txBody>
        </p:sp>
        <p:sp>
          <p:nvSpPr>
            <p:cNvPr id="112" name="TextBox 112"/>
            <p:cNvSpPr txBox="1"/>
            <p:nvPr/>
          </p:nvSpPr>
          <p:spPr>
            <a:xfrm>
              <a:off x="0" y="-9525"/>
              <a:ext cx="4632960" cy="539715"/>
            </a:xfrm>
            <a:prstGeom prst="rect">
              <a:avLst/>
            </a:prstGeom>
          </p:spPr>
          <p:txBody>
            <a:bodyPr lIns="0" tIns="0" rIns="0" bIns="0" rtlCol="0" anchor="ctr"/>
            <a:lstStyle/>
            <a:p>
              <a:pPr algn="r">
                <a:lnSpc>
                  <a:spcPts val="2280"/>
                </a:lnSpc>
              </a:pPr>
              <a:r>
                <a:rPr lang="en-US" sz="1900" b="1">
                  <a:solidFill>
                    <a:srgbClr val="2E9E7F"/>
                  </a:solidFill>
                  <a:latin typeface="Arial Bold"/>
                  <a:ea typeface="Arial Bold"/>
                  <a:cs typeface="Arial Bold"/>
                  <a:sym typeface="Arial Bold"/>
                </a:rPr>
                <a:t>&gt; 5%</a:t>
              </a:r>
            </a:p>
          </p:txBody>
        </p:sp>
      </p:grpSp>
      <p:grpSp>
        <p:nvGrpSpPr>
          <p:cNvPr id="113" name="Group 113"/>
          <p:cNvGrpSpPr/>
          <p:nvPr/>
        </p:nvGrpSpPr>
        <p:grpSpPr>
          <a:xfrm>
            <a:off x="1356360" y="9134213"/>
            <a:ext cx="4023360" cy="390023"/>
            <a:chOff x="0" y="0"/>
            <a:chExt cx="5364480" cy="520030"/>
          </a:xfrm>
        </p:grpSpPr>
        <p:sp>
          <p:nvSpPr>
            <p:cNvPr id="114" name="Freeform 114"/>
            <p:cNvSpPr/>
            <p:nvPr/>
          </p:nvSpPr>
          <p:spPr>
            <a:xfrm>
              <a:off x="0" y="0"/>
              <a:ext cx="5364480" cy="520030"/>
            </a:xfrm>
            <a:custGeom>
              <a:avLst/>
              <a:gdLst/>
              <a:ahLst/>
              <a:cxnLst/>
              <a:rect l="l" t="t" r="r" b="b"/>
              <a:pathLst>
                <a:path w="5364480" h="520030">
                  <a:moveTo>
                    <a:pt x="0" y="0"/>
                  </a:moveTo>
                  <a:lnTo>
                    <a:pt x="5364480" y="0"/>
                  </a:lnTo>
                  <a:lnTo>
                    <a:pt x="5364480" y="520030"/>
                  </a:lnTo>
                  <a:lnTo>
                    <a:pt x="0" y="520030"/>
                  </a:lnTo>
                  <a:close/>
                </a:path>
              </a:pathLst>
            </a:custGeom>
            <a:blipFill>
              <a:blip r:embed="rId3">
                <a:alphaModFix amt="0"/>
              </a:blip>
              <a:stretch>
                <a:fillRect t="-154112" b="-147891"/>
              </a:stretch>
            </a:blipFill>
          </p:spPr>
          <p:txBody>
            <a:bodyPr/>
            <a:lstStyle/>
            <a:p>
              <a:endParaRPr lang="en-US"/>
            </a:p>
          </p:txBody>
        </p:sp>
        <p:sp>
          <p:nvSpPr>
            <p:cNvPr id="115" name="TextBox 115"/>
            <p:cNvSpPr txBox="1"/>
            <p:nvPr/>
          </p:nvSpPr>
          <p:spPr>
            <a:xfrm>
              <a:off x="0" y="-9525"/>
              <a:ext cx="5364480" cy="529555"/>
            </a:xfrm>
            <a:prstGeom prst="rect">
              <a:avLst/>
            </a:prstGeom>
          </p:spPr>
          <p:txBody>
            <a:bodyPr lIns="0" tIns="0" rIns="0" bIns="0" rtlCol="0" anchor="ctr"/>
            <a:lstStyle/>
            <a:p>
              <a:pPr algn="l">
                <a:lnSpc>
                  <a:spcPts val="2280"/>
                </a:lnSpc>
              </a:pPr>
              <a:r>
                <a:rPr lang="en-US" sz="1900">
                  <a:solidFill>
                    <a:srgbClr val="6C7571"/>
                  </a:solidFill>
                  <a:latin typeface="Arial"/>
                  <a:ea typeface="Arial"/>
                  <a:cs typeface="Arial"/>
                  <a:sym typeface="Arial"/>
                </a:rPr>
                <a:t>Time saved</a:t>
              </a:r>
            </a:p>
          </p:txBody>
        </p:sp>
      </p:grpSp>
      <p:grpSp>
        <p:nvGrpSpPr>
          <p:cNvPr id="116" name="Group 116"/>
          <p:cNvGrpSpPr/>
          <p:nvPr/>
        </p:nvGrpSpPr>
        <p:grpSpPr>
          <a:xfrm>
            <a:off x="5379720" y="9134213"/>
            <a:ext cx="3474720" cy="397643"/>
            <a:chOff x="0" y="0"/>
            <a:chExt cx="4632960" cy="530190"/>
          </a:xfrm>
        </p:grpSpPr>
        <p:sp>
          <p:nvSpPr>
            <p:cNvPr id="117" name="Freeform 117"/>
            <p:cNvSpPr/>
            <p:nvPr/>
          </p:nvSpPr>
          <p:spPr>
            <a:xfrm>
              <a:off x="0" y="0"/>
              <a:ext cx="4632960" cy="530190"/>
            </a:xfrm>
            <a:custGeom>
              <a:avLst/>
              <a:gdLst/>
              <a:ahLst/>
              <a:cxnLst/>
              <a:rect l="l" t="t" r="r" b="b"/>
              <a:pathLst>
                <a:path w="4632960" h="530190">
                  <a:moveTo>
                    <a:pt x="0" y="0"/>
                  </a:moveTo>
                  <a:lnTo>
                    <a:pt x="4632960" y="0"/>
                  </a:lnTo>
                  <a:lnTo>
                    <a:pt x="4632960" y="530190"/>
                  </a:lnTo>
                  <a:lnTo>
                    <a:pt x="0" y="530190"/>
                  </a:lnTo>
                  <a:close/>
                </a:path>
              </a:pathLst>
            </a:custGeom>
            <a:blipFill>
              <a:blip r:embed="rId3">
                <a:alphaModFix amt="0"/>
              </a:blip>
              <a:stretch>
                <a:fillRect t="-124275" b="-116257"/>
              </a:stretch>
            </a:blipFill>
          </p:spPr>
          <p:txBody>
            <a:bodyPr/>
            <a:lstStyle/>
            <a:p>
              <a:endParaRPr lang="en-US"/>
            </a:p>
          </p:txBody>
        </p:sp>
        <p:sp>
          <p:nvSpPr>
            <p:cNvPr id="118" name="TextBox 118"/>
            <p:cNvSpPr txBox="1"/>
            <p:nvPr/>
          </p:nvSpPr>
          <p:spPr>
            <a:xfrm>
              <a:off x="0" y="-9525"/>
              <a:ext cx="4632960" cy="539715"/>
            </a:xfrm>
            <a:prstGeom prst="rect">
              <a:avLst/>
            </a:prstGeom>
          </p:spPr>
          <p:txBody>
            <a:bodyPr lIns="0" tIns="0" rIns="0" bIns="0" rtlCol="0" anchor="ctr"/>
            <a:lstStyle/>
            <a:p>
              <a:pPr algn="r">
                <a:lnSpc>
                  <a:spcPts val="2280"/>
                </a:lnSpc>
              </a:pPr>
              <a:r>
                <a:rPr lang="en-US" sz="1900" b="1">
                  <a:solidFill>
                    <a:srgbClr val="1F2D2B"/>
                  </a:solidFill>
                  <a:latin typeface="Arial Bold"/>
                  <a:ea typeface="Arial Bold"/>
                  <a:cs typeface="Arial Bold"/>
                  <a:sym typeface="Arial Bold"/>
                </a:rPr>
                <a:t>15–30 min / complaint</a:t>
              </a:r>
            </a:p>
          </p:txBody>
        </p:sp>
      </p:grpSp>
      <p:grpSp>
        <p:nvGrpSpPr>
          <p:cNvPr id="119" name="Group 119"/>
          <p:cNvGrpSpPr/>
          <p:nvPr/>
        </p:nvGrpSpPr>
        <p:grpSpPr>
          <a:xfrm>
            <a:off x="9573263" y="6817228"/>
            <a:ext cx="8255003" cy="2860043"/>
            <a:chOff x="0" y="0"/>
            <a:chExt cx="11006671" cy="3813391"/>
          </a:xfrm>
        </p:grpSpPr>
        <p:sp>
          <p:nvSpPr>
            <p:cNvPr id="120" name="Freeform 120"/>
            <p:cNvSpPr/>
            <p:nvPr/>
          </p:nvSpPr>
          <p:spPr>
            <a:xfrm>
              <a:off x="16891" y="16891"/>
              <a:ext cx="10972800" cy="3779520"/>
            </a:xfrm>
            <a:custGeom>
              <a:avLst/>
              <a:gdLst/>
              <a:ahLst/>
              <a:cxnLst/>
              <a:rect l="l" t="t" r="r" b="b"/>
              <a:pathLst>
                <a:path w="10972800" h="3779520">
                  <a:moveTo>
                    <a:pt x="0" y="0"/>
                  </a:moveTo>
                  <a:lnTo>
                    <a:pt x="10972800" y="0"/>
                  </a:lnTo>
                  <a:lnTo>
                    <a:pt x="10972800" y="3779520"/>
                  </a:lnTo>
                  <a:lnTo>
                    <a:pt x="0" y="3779520"/>
                  </a:lnTo>
                  <a:close/>
                </a:path>
              </a:pathLst>
            </a:custGeom>
            <a:solidFill>
              <a:srgbClr val="FFFFFF"/>
            </a:solidFill>
          </p:spPr>
          <p:txBody>
            <a:bodyPr/>
            <a:lstStyle/>
            <a:p>
              <a:endParaRPr lang="en-US"/>
            </a:p>
          </p:txBody>
        </p:sp>
        <p:sp>
          <p:nvSpPr>
            <p:cNvPr id="121" name="Freeform 121"/>
            <p:cNvSpPr/>
            <p:nvPr/>
          </p:nvSpPr>
          <p:spPr>
            <a:xfrm>
              <a:off x="0" y="0"/>
              <a:ext cx="11006582" cy="3813302"/>
            </a:xfrm>
            <a:custGeom>
              <a:avLst/>
              <a:gdLst/>
              <a:ahLst/>
              <a:cxnLst/>
              <a:rect l="l" t="t" r="r" b="b"/>
              <a:pathLst>
                <a:path w="11006582" h="3813302">
                  <a:moveTo>
                    <a:pt x="16891" y="0"/>
                  </a:moveTo>
                  <a:lnTo>
                    <a:pt x="10989691" y="0"/>
                  </a:lnTo>
                  <a:cubicBezTo>
                    <a:pt x="10999089" y="0"/>
                    <a:pt x="11006582" y="7620"/>
                    <a:pt x="11006582" y="16891"/>
                  </a:cubicBezTo>
                  <a:lnTo>
                    <a:pt x="11006582" y="3796411"/>
                  </a:lnTo>
                  <a:cubicBezTo>
                    <a:pt x="11006582" y="3805809"/>
                    <a:pt x="10998962" y="3813302"/>
                    <a:pt x="10989691" y="3813302"/>
                  </a:cubicBezTo>
                  <a:lnTo>
                    <a:pt x="16891" y="3813302"/>
                  </a:lnTo>
                  <a:cubicBezTo>
                    <a:pt x="7493" y="3813302"/>
                    <a:pt x="0" y="3805682"/>
                    <a:pt x="0" y="3796411"/>
                  </a:cubicBezTo>
                  <a:lnTo>
                    <a:pt x="0" y="16891"/>
                  </a:lnTo>
                  <a:cubicBezTo>
                    <a:pt x="0" y="7620"/>
                    <a:pt x="7620" y="0"/>
                    <a:pt x="16891" y="0"/>
                  </a:cubicBezTo>
                  <a:moveTo>
                    <a:pt x="16891" y="33909"/>
                  </a:moveTo>
                  <a:lnTo>
                    <a:pt x="16891" y="16891"/>
                  </a:lnTo>
                  <a:lnTo>
                    <a:pt x="33909" y="16891"/>
                  </a:lnTo>
                  <a:lnTo>
                    <a:pt x="33909" y="3796411"/>
                  </a:lnTo>
                  <a:lnTo>
                    <a:pt x="16891" y="3796411"/>
                  </a:lnTo>
                  <a:lnTo>
                    <a:pt x="16891" y="3779520"/>
                  </a:lnTo>
                  <a:lnTo>
                    <a:pt x="10989691" y="3779520"/>
                  </a:lnTo>
                  <a:lnTo>
                    <a:pt x="10989691" y="3796411"/>
                  </a:lnTo>
                  <a:lnTo>
                    <a:pt x="10972800" y="3796411"/>
                  </a:lnTo>
                  <a:lnTo>
                    <a:pt x="10972800" y="16891"/>
                  </a:lnTo>
                  <a:lnTo>
                    <a:pt x="10989691" y="16891"/>
                  </a:lnTo>
                  <a:lnTo>
                    <a:pt x="10989691" y="33909"/>
                  </a:lnTo>
                  <a:lnTo>
                    <a:pt x="16891" y="33909"/>
                  </a:lnTo>
                  <a:close/>
                </a:path>
              </a:pathLst>
            </a:custGeom>
            <a:solidFill>
              <a:srgbClr val="E7E9E6"/>
            </a:solidFill>
          </p:spPr>
          <p:txBody>
            <a:bodyPr/>
            <a:lstStyle/>
            <a:p>
              <a:endParaRPr lang="en-US"/>
            </a:p>
          </p:txBody>
        </p:sp>
      </p:grpSp>
      <p:grpSp>
        <p:nvGrpSpPr>
          <p:cNvPr id="122" name="Group 122"/>
          <p:cNvGrpSpPr/>
          <p:nvPr/>
        </p:nvGrpSpPr>
        <p:grpSpPr>
          <a:xfrm>
            <a:off x="9951720" y="7085957"/>
            <a:ext cx="7680960" cy="350472"/>
            <a:chOff x="0" y="0"/>
            <a:chExt cx="10241280" cy="467296"/>
          </a:xfrm>
        </p:grpSpPr>
        <p:sp>
          <p:nvSpPr>
            <p:cNvPr id="123" name="Freeform 123"/>
            <p:cNvSpPr/>
            <p:nvPr/>
          </p:nvSpPr>
          <p:spPr>
            <a:xfrm>
              <a:off x="0" y="0"/>
              <a:ext cx="10241280" cy="467296"/>
            </a:xfrm>
            <a:custGeom>
              <a:avLst/>
              <a:gdLst/>
              <a:ahLst/>
              <a:cxnLst/>
              <a:rect l="l" t="t" r="r" b="b"/>
              <a:pathLst>
                <a:path w="10241280" h="467296">
                  <a:moveTo>
                    <a:pt x="0" y="0"/>
                  </a:moveTo>
                  <a:lnTo>
                    <a:pt x="10241280" y="0"/>
                  </a:lnTo>
                  <a:lnTo>
                    <a:pt x="10241280" y="467296"/>
                  </a:lnTo>
                  <a:lnTo>
                    <a:pt x="0" y="467296"/>
                  </a:lnTo>
                  <a:close/>
                </a:path>
              </a:pathLst>
            </a:custGeom>
            <a:blipFill>
              <a:blip r:embed="rId3">
                <a:alphaModFix amt="0"/>
              </a:blip>
              <a:stretch>
                <a:fillRect t="-380072" b="-373998"/>
              </a:stretch>
            </a:blipFill>
          </p:spPr>
          <p:txBody>
            <a:bodyPr/>
            <a:lstStyle/>
            <a:p>
              <a:endParaRPr lang="en-US"/>
            </a:p>
          </p:txBody>
        </p:sp>
        <p:sp>
          <p:nvSpPr>
            <p:cNvPr id="124" name="TextBox 124"/>
            <p:cNvSpPr txBox="1"/>
            <p:nvPr/>
          </p:nvSpPr>
          <p:spPr>
            <a:xfrm>
              <a:off x="0" y="-19050"/>
              <a:ext cx="10241280" cy="486346"/>
            </a:xfrm>
            <a:prstGeom prst="rect">
              <a:avLst/>
            </a:prstGeom>
          </p:spPr>
          <p:txBody>
            <a:bodyPr lIns="0" tIns="0" rIns="0" bIns="0" rtlCol="0" anchor="ctr"/>
            <a:lstStyle/>
            <a:p>
              <a:pPr algn="l">
                <a:lnSpc>
                  <a:spcPts val="2039"/>
                </a:lnSpc>
              </a:pPr>
              <a:r>
                <a:rPr lang="en-US" sz="1700" spc="300">
                  <a:solidFill>
                    <a:srgbClr val="6C7571"/>
                  </a:solidFill>
                  <a:latin typeface="Arial"/>
                  <a:ea typeface="Arial"/>
                  <a:cs typeface="Arial"/>
                  <a:sym typeface="Arial"/>
                </a:rPr>
                <a:t>GO-TO-MARKET</a:t>
              </a:r>
            </a:p>
          </p:txBody>
        </p:sp>
      </p:grpSp>
      <p:grpSp>
        <p:nvGrpSpPr>
          <p:cNvPr id="125" name="Group 125"/>
          <p:cNvGrpSpPr/>
          <p:nvPr/>
        </p:nvGrpSpPr>
        <p:grpSpPr>
          <a:xfrm>
            <a:off x="9939023" y="7548748"/>
            <a:ext cx="2827125" cy="500891"/>
            <a:chOff x="0" y="0"/>
            <a:chExt cx="3769500" cy="667855"/>
          </a:xfrm>
        </p:grpSpPr>
        <p:sp>
          <p:nvSpPr>
            <p:cNvPr id="126" name="Freeform 126"/>
            <p:cNvSpPr/>
            <p:nvPr/>
          </p:nvSpPr>
          <p:spPr>
            <a:xfrm>
              <a:off x="16891" y="16891"/>
              <a:ext cx="3735705" cy="633984"/>
            </a:xfrm>
            <a:custGeom>
              <a:avLst/>
              <a:gdLst/>
              <a:ahLst/>
              <a:cxnLst/>
              <a:rect l="l" t="t" r="r" b="b"/>
              <a:pathLst>
                <a:path w="3735705" h="633984">
                  <a:moveTo>
                    <a:pt x="0" y="316992"/>
                  </a:moveTo>
                  <a:cubicBezTo>
                    <a:pt x="0" y="141986"/>
                    <a:pt x="148209" y="0"/>
                    <a:pt x="330962" y="0"/>
                  </a:cubicBezTo>
                  <a:lnTo>
                    <a:pt x="3404743" y="0"/>
                  </a:lnTo>
                  <a:cubicBezTo>
                    <a:pt x="3587496" y="0"/>
                    <a:pt x="3735705" y="141859"/>
                    <a:pt x="3735705" y="316992"/>
                  </a:cubicBezTo>
                  <a:cubicBezTo>
                    <a:pt x="3735705" y="492125"/>
                    <a:pt x="3587496" y="633984"/>
                    <a:pt x="3404743" y="633984"/>
                  </a:cubicBezTo>
                  <a:lnTo>
                    <a:pt x="330962" y="633984"/>
                  </a:lnTo>
                  <a:cubicBezTo>
                    <a:pt x="148209" y="633984"/>
                    <a:pt x="0" y="492125"/>
                    <a:pt x="0" y="316992"/>
                  </a:cubicBezTo>
                  <a:close/>
                </a:path>
              </a:pathLst>
            </a:custGeom>
            <a:solidFill>
              <a:srgbClr val="F1F2EF"/>
            </a:solidFill>
          </p:spPr>
          <p:txBody>
            <a:bodyPr/>
            <a:lstStyle/>
            <a:p>
              <a:endParaRPr lang="en-US"/>
            </a:p>
          </p:txBody>
        </p:sp>
        <p:sp>
          <p:nvSpPr>
            <p:cNvPr id="127" name="Freeform 127"/>
            <p:cNvSpPr/>
            <p:nvPr/>
          </p:nvSpPr>
          <p:spPr>
            <a:xfrm>
              <a:off x="0" y="0"/>
              <a:ext cx="3769487" cy="667766"/>
            </a:xfrm>
            <a:custGeom>
              <a:avLst/>
              <a:gdLst/>
              <a:ahLst/>
              <a:cxnLst/>
              <a:rect l="l" t="t" r="r" b="b"/>
              <a:pathLst>
                <a:path w="3769487" h="667766">
                  <a:moveTo>
                    <a:pt x="0" y="333883"/>
                  </a:moveTo>
                  <a:cubicBezTo>
                    <a:pt x="0" y="148844"/>
                    <a:pt x="156464" y="0"/>
                    <a:pt x="347853" y="0"/>
                  </a:cubicBezTo>
                  <a:lnTo>
                    <a:pt x="3421634" y="0"/>
                  </a:lnTo>
                  <a:lnTo>
                    <a:pt x="3421634" y="16891"/>
                  </a:lnTo>
                  <a:lnTo>
                    <a:pt x="3421634" y="0"/>
                  </a:lnTo>
                  <a:cubicBezTo>
                    <a:pt x="3613023" y="0"/>
                    <a:pt x="3769487" y="148844"/>
                    <a:pt x="3769487" y="333883"/>
                  </a:cubicBezTo>
                  <a:lnTo>
                    <a:pt x="3752596" y="333883"/>
                  </a:lnTo>
                  <a:lnTo>
                    <a:pt x="3769487" y="333883"/>
                  </a:lnTo>
                  <a:lnTo>
                    <a:pt x="3752596" y="333883"/>
                  </a:lnTo>
                  <a:lnTo>
                    <a:pt x="3769487" y="333883"/>
                  </a:lnTo>
                  <a:cubicBezTo>
                    <a:pt x="3769487" y="518922"/>
                    <a:pt x="3613023" y="667766"/>
                    <a:pt x="3421634" y="667766"/>
                  </a:cubicBezTo>
                  <a:lnTo>
                    <a:pt x="3421634" y="650875"/>
                  </a:lnTo>
                  <a:lnTo>
                    <a:pt x="3421634" y="667766"/>
                  </a:lnTo>
                  <a:lnTo>
                    <a:pt x="347853" y="667766"/>
                  </a:lnTo>
                  <a:lnTo>
                    <a:pt x="347853" y="650875"/>
                  </a:lnTo>
                  <a:lnTo>
                    <a:pt x="347853" y="667766"/>
                  </a:lnTo>
                  <a:cubicBezTo>
                    <a:pt x="156464" y="667893"/>
                    <a:pt x="0" y="519049"/>
                    <a:pt x="0" y="333883"/>
                  </a:cubicBezTo>
                  <a:lnTo>
                    <a:pt x="16891" y="333883"/>
                  </a:lnTo>
                  <a:lnTo>
                    <a:pt x="0" y="333883"/>
                  </a:lnTo>
                  <a:moveTo>
                    <a:pt x="33909" y="333883"/>
                  </a:moveTo>
                  <a:lnTo>
                    <a:pt x="16891" y="333883"/>
                  </a:lnTo>
                  <a:lnTo>
                    <a:pt x="33909" y="333883"/>
                  </a:lnTo>
                  <a:cubicBezTo>
                    <a:pt x="33909" y="498983"/>
                    <a:pt x="173736" y="633984"/>
                    <a:pt x="347853" y="633984"/>
                  </a:cubicBezTo>
                  <a:lnTo>
                    <a:pt x="3421634" y="633984"/>
                  </a:lnTo>
                  <a:cubicBezTo>
                    <a:pt x="3595751" y="633984"/>
                    <a:pt x="3735578" y="498983"/>
                    <a:pt x="3735578" y="333883"/>
                  </a:cubicBezTo>
                  <a:cubicBezTo>
                    <a:pt x="3735578" y="168783"/>
                    <a:pt x="3595751" y="33782"/>
                    <a:pt x="3421634" y="33782"/>
                  </a:cubicBezTo>
                  <a:lnTo>
                    <a:pt x="347853" y="33782"/>
                  </a:lnTo>
                  <a:lnTo>
                    <a:pt x="347853" y="16891"/>
                  </a:lnTo>
                  <a:lnTo>
                    <a:pt x="347853" y="33909"/>
                  </a:lnTo>
                  <a:cubicBezTo>
                    <a:pt x="173736" y="33909"/>
                    <a:pt x="33909" y="168910"/>
                    <a:pt x="33909" y="333883"/>
                  </a:cubicBezTo>
                  <a:close/>
                </a:path>
              </a:pathLst>
            </a:custGeom>
            <a:solidFill>
              <a:srgbClr val="F1F2EF"/>
            </a:solidFill>
          </p:spPr>
          <p:txBody>
            <a:bodyPr/>
            <a:lstStyle/>
            <a:p>
              <a:endParaRPr lang="en-US"/>
            </a:p>
          </p:txBody>
        </p:sp>
      </p:grpSp>
      <p:grpSp>
        <p:nvGrpSpPr>
          <p:cNvPr id="128" name="Group 128"/>
          <p:cNvGrpSpPr/>
          <p:nvPr/>
        </p:nvGrpSpPr>
        <p:grpSpPr>
          <a:xfrm>
            <a:off x="10043160" y="7561445"/>
            <a:ext cx="2618842" cy="475488"/>
            <a:chOff x="0" y="0"/>
            <a:chExt cx="3491789" cy="633984"/>
          </a:xfrm>
        </p:grpSpPr>
        <p:sp>
          <p:nvSpPr>
            <p:cNvPr id="129" name="Freeform 129"/>
            <p:cNvSpPr/>
            <p:nvPr/>
          </p:nvSpPr>
          <p:spPr>
            <a:xfrm>
              <a:off x="0" y="0"/>
              <a:ext cx="3491789" cy="633984"/>
            </a:xfrm>
            <a:custGeom>
              <a:avLst/>
              <a:gdLst/>
              <a:ahLst/>
              <a:cxnLst/>
              <a:rect l="l" t="t" r="r" b="b"/>
              <a:pathLst>
                <a:path w="3491789" h="633984">
                  <a:moveTo>
                    <a:pt x="0" y="0"/>
                  </a:moveTo>
                  <a:lnTo>
                    <a:pt x="3491789" y="0"/>
                  </a:lnTo>
                  <a:lnTo>
                    <a:pt x="3491789" y="633984"/>
                  </a:lnTo>
                  <a:lnTo>
                    <a:pt x="0" y="633984"/>
                  </a:lnTo>
                  <a:close/>
                </a:path>
              </a:pathLst>
            </a:custGeom>
            <a:blipFill>
              <a:blip r:embed="rId3">
                <a:alphaModFix amt="0"/>
              </a:blip>
              <a:stretch>
                <a:fillRect t="-57317" b="-57317"/>
              </a:stretch>
            </a:blipFill>
          </p:spPr>
          <p:txBody>
            <a:bodyPr/>
            <a:lstStyle/>
            <a:p>
              <a:endParaRPr lang="en-US"/>
            </a:p>
          </p:txBody>
        </p:sp>
        <p:sp>
          <p:nvSpPr>
            <p:cNvPr id="130" name="TextBox 130"/>
            <p:cNvSpPr txBox="1"/>
            <p:nvPr/>
          </p:nvSpPr>
          <p:spPr>
            <a:xfrm>
              <a:off x="0" y="-19050"/>
              <a:ext cx="3491789"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Shopee FB groups</a:t>
              </a:r>
            </a:p>
          </p:txBody>
        </p:sp>
      </p:grpSp>
      <p:grpSp>
        <p:nvGrpSpPr>
          <p:cNvPr id="131" name="Group 131"/>
          <p:cNvGrpSpPr/>
          <p:nvPr/>
        </p:nvGrpSpPr>
        <p:grpSpPr>
          <a:xfrm>
            <a:off x="12826598" y="7548748"/>
            <a:ext cx="1982219" cy="500891"/>
            <a:chOff x="0" y="0"/>
            <a:chExt cx="2642959" cy="667855"/>
          </a:xfrm>
        </p:grpSpPr>
        <p:sp>
          <p:nvSpPr>
            <p:cNvPr id="132" name="Freeform 132"/>
            <p:cNvSpPr/>
            <p:nvPr/>
          </p:nvSpPr>
          <p:spPr>
            <a:xfrm>
              <a:off x="16891" y="16891"/>
              <a:ext cx="2609215" cy="633984"/>
            </a:xfrm>
            <a:custGeom>
              <a:avLst/>
              <a:gdLst/>
              <a:ahLst/>
              <a:cxnLst/>
              <a:rect l="l" t="t" r="r" b="b"/>
              <a:pathLst>
                <a:path w="2609215" h="633984">
                  <a:moveTo>
                    <a:pt x="0" y="316992"/>
                  </a:moveTo>
                  <a:cubicBezTo>
                    <a:pt x="0" y="141859"/>
                    <a:pt x="147574" y="0"/>
                    <a:pt x="329692" y="0"/>
                  </a:cubicBezTo>
                  <a:lnTo>
                    <a:pt x="2279523" y="0"/>
                  </a:lnTo>
                  <a:cubicBezTo>
                    <a:pt x="2461641" y="0"/>
                    <a:pt x="2609215" y="141859"/>
                    <a:pt x="2609215" y="316992"/>
                  </a:cubicBezTo>
                  <a:cubicBezTo>
                    <a:pt x="2609215" y="492125"/>
                    <a:pt x="2461641" y="633984"/>
                    <a:pt x="2279523" y="633984"/>
                  </a:cubicBezTo>
                  <a:lnTo>
                    <a:pt x="329692" y="633984"/>
                  </a:lnTo>
                  <a:cubicBezTo>
                    <a:pt x="147574" y="633984"/>
                    <a:pt x="0" y="492125"/>
                    <a:pt x="0" y="316992"/>
                  </a:cubicBezTo>
                  <a:close/>
                </a:path>
              </a:pathLst>
            </a:custGeom>
            <a:solidFill>
              <a:srgbClr val="F1F2EF"/>
            </a:solidFill>
          </p:spPr>
          <p:txBody>
            <a:bodyPr/>
            <a:lstStyle/>
            <a:p>
              <a:endParaRPr lang="en-US"/>
            </a:p>
          </p:txBody>
        </p:sp>
        <p:sp>
          <p:nvSpPr>
            <p:cNvPr id="133" name="Freeform 133"/>
            <p:cNvSpPr/>
            <p:nvPr/>
          </p:nvSpPr>
          <p:spPr>
            <a:xfrm>
              <a:off x="0" y="0"/>
              <a:ext cx="2642997" cy="667766"/>
            </a:xfrm>
            <a:custGeom>
              <a:avLst/>
              <a:gdLst/>
              <a:ahLst/>
              <a:cxnLst/>
              <a:rect l="l" t="t" r="r" b="b"/>
              <a:pathLst>
                <a:path w="2642997" h="667766">
                  <a:moveTo>
                    <a:pt x="0" y="333883"/>
                  </a:moveTo>
                  <a:cubicBezTo>
                    <a:pt x="0" y="148844"/>
                    <a:pt x="155829" y="0"/>
                    <a:pt x="346583" y="0"/>
                  </a:cubicBezTo>
                  <a:lnTo>
                    <a:pt x="2296414" y="0"/>
                  </a:lnTo>
                  <a:lnTo>
                    <a:pt x="2296414" y="16891"/>
                  </a:lnTo>
                  <a:lnTo>
                    <a:pt x="2296414" y="0"/>
                  </a:lnTo>
                  <a:cubicBezTo>
                    <a:pt x="2487168" y="0"/>
                    <a:pt x="2642997" y="148844"/>
                    <a:pt x="2642997" y="333883"/>
                  </a:cubicBezTo>
                  <a:lnTo>
                    <a:pt x="2626106" y="333883"/>
                  </a:lnTo>
                  <a:lnTo>
                    <a:pt x="2642997" y="333883"/>
                  </a:lnTo>
                  <a:lnTo>
                    <a:pt x="2626106" y="333883"/>
                  </a:lnTo>
                  <a:lnTo>
                    <a:pt x="2642997" y="333883"/>
                  </a:lnTo>
                  <a:cubicBezTo>
                    <a:pt x="2642997" y="518922"/>
                    <a:pt x="2487168" y="667766"/>
                    <a:pt x="2296414" y="667766"/>
                  </a:cubicBezTo>
                  <a:lnTo>
                    <a:pt x="2296414" y="650875"/>
                  </a:lnTo>
                  <a:lnTo>
                    <a:pt x="2296414" y="667766"/>
                  </a:lnTo>
                  <a:lnTo>
                    <a:pt x="346583" y="667766"/>
                  </a:lnTo>
                  <a:lnTo>
                    <a:pt x="346583" y="650875"/>
                  </a:lnTo>
                  <a:lnTo>
                    <a:pt x="346583" y="667766"/>
                  </a:lnTo>
                  <a:cubicBezTo>
                    <a:pt x="155829" y="667893"/>
                    <a:pt x="0" y="518922"/>
                    <a:pt x="0" y="333883"/>
                  </a:cubicBezTo>
                  <a:lnTo>
                    <a:pt x="16891" y="333883"/>
                  </a:lnTo>
                  <a:lnTo>
                    <a:pt x="0" y="333883"/>
                  </a:lnTo>
                  <a:moveTo>
                    <a:pt x="33909" y="333883"/>
                  </a:moveTo>
                  <a:lnTo>
                    <a:pt x="16891" y="333883"/>
                  </a:lnTo>
                  <a:lnTo>
                    <a:pt x="33909" y="333883"/>
                  </a:lnTo>
                  <a:cubicBezTo>
                    <a:pt x="33909" y="498983"/>
                    <a:pt x="173228" y="633984"/>
                    <a:pt x="346583" y="633984"/>
                  </a:cubicBezTo>
                  <a:lnTo>
                    <a:pt x="2296414" y="633984"/>
                  </a:lnTo>
                  <a:cubicBezTo>
                    <a:pt x="2469769" y="633984"/>
                    <a:pt x="2609088" y="498983"/>
                    <a:pt x="2609088" y="333883"/>
                  </a:cubicBezTo>
                  <a:cubicBezTo>
                    <a:pt x="2609088" y="168783"/>
                    <a:pt x="2469769" y="33782"/>
                    <a:pt x="2296414" y="33782"/>
                  </a:cubicBezTo>
                  <a:lnTo>
                    <a:pt x="346583" y="33782"/>
                  </a:lnTo>
                  <a:lnTo>
                    <a:pt x="346583" y="16891"/>
                  </a:lnTo>
                  <a:lnTo>
                    <a:pt x="346583" y="33909"/>
                  </a:lnTo>
                  <a:cubicBezTo>
                    <a:pt x="173228" y="33909"/>
                    <a:pt x="33909" y="168783"/>
                    <a:pt x="33909" y="333883"/>
                  </a:cubicBezTo>
                  <a:close/>
                </a:path>
              </a:pathLst>
            </a:custGeom>
            <a:solidFill>
              <a:srgbClr val="F1F2EF"/>
            </a:solidFill>
          </p:spPr>
          <p:txBody>
            <a:bodyPr/>
            <a:lstStyle/>
            <a:p>
              <a:endParaRPr lang="en-US"/>
            </a:p>
          </p:txBody>
        </p:sp>
      </p:grpSp>
      <p:grpSp>
        <p:nvGrpSpPr>
          <p:cNvPr id="134" name="Group 134"/>
          <p:cNvGrpSpPr/>
          <p:nvPr/>
        </p:nvGrpSpPr>
        <p:grpSpPr>
          <a:xfrm>
            <a:off x="12930735" y="7561445"/>
            <a:ext cx="1773936" cy="475488"/>
            <a:chOff x="0" y="0"/>
            <a:chExt cx="2365248" cy="633984"/>
          </a:xfrm>
        </p:grpSpPr>
        <p:sp>
          <p:nvSpPr>
            <p:cNvPr id="135" name="Freeform 135"/>
            <p:cNvSpPr/>
            <p:nvPr/>
          </p:nvSpPr>
          <p:spPr>
            <a:xfrm>
              <a:off x="0" y="0"/>
              <a:ext cx="2365248" cy="633984"/>
            </a:xfrm>
            <a:custGeom>
              <a:avLst/>
              <a:gdLst/>
              <a:ahLst/>
              <a:cxnLst/>
              <a:rect l="l" t="t" r="r" b="b"/>
              <a:pathLst>
                <a:path w="2365248" h="633984">
                  <a:moveTo>
                    <a:pt x="0" y="0"/>
                  </a:moveTo>
                  <a:lnTo>
                    <a:pt x="2365248" y="0"/>
                  </a:lnTo>
                  <a:lnTo>
                    <a:pt x="2365248" y="633984"/>
                  </a:lnTo>
                  <a:lnTo>
                    <a:pt x="0" y="633984"/>
                  </a:lnTo>
                  <a:close/>
                </a:path>
              </a:pathLst>
            </a:custGeom>
            <a:blipFill>
              <a:blip r:embed="rId3">
                <a:alphaModFix amt="0"/>
              </a:blip>
              <a:stretch>
                <a:fillRect t="-22694" b="-22694"/>
              </a:stretch>
            </a:blipFill>
          </p:spPr>
          <p:txBody>
            <a:bodyPr/>
            <a:lstStyle/>
            <a:p>
              <a:endParaRPr lang="en-US"/>
            </a:p>
          </p:txBody>
        </p:sp>
        <p:sp>
          <p:nvSpPr>
            <p:cNvPr id="136" name="TextBox 136"/>
            <p:cNvSpPr txBox="1"/>
            <p:nvPr/>
          </p:nvSpPr>
          <p:spPr>
            <a:xfrm>
              <a:off x="0" y="-19050"/>
              <a:ext cx="2365248"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Lowyat.net</a:t>
              </a:r>
            </a:p>
          </p:txBody>
        </p:sp>
      </p:grpSp>
      <p:grpSp>
        <p:nvGrpSpPr>
          <p:cNvPr id="137" name="Group 137"/>
          <p:cNvGrpSpPr/>
          <p:nvPr/>
        </p:nvGrpSpPr>
        <p:grpSpPr>
          <a:xfrm>
            <a:off x="9939023" y="8170540"/>
            <a:ext cx="2542537" cy="500891"/>
            <a:chOff x="0" y="0"/>
            <a:chExt cx="3390049" cy="667855"/>
          </a:xfrm>
        </p:grpSpPr>
        <p:sp>
          <p:nvSpPr>
            <p:cNvPr id="138" name="Freeform 138"/>
            <p:cNvSpPr/>
            <p:nvPr/>
          </p:nvSpPr>
          <p:spPr>
            <a:xfrm>
              <a:off x="13216" y="16891"/>
              <a:ext cx="3363587" cy="633984"/>
            </a:xfrm>
            <a:custGeom>
              <a:avLst/>
              <a:gdLst/>
              <a:ahLst/>
              <a:cxnLst/>
              <a:rect l="l" t="t" r="r" b="b"/>
              <a:pathLst>
                <a:path w="3363587" h="633984">
                  <a:moveTo>
                    <a:pt x="0" y="316992"/>
                  </a:moveTo>
                  <a:cubicBezTo>
                    <a:pt x="0" y="141859"/>
                    <a:pt x="116061" y="0"/>
                    <a:pt x="259249" y="0"/>
                  </a:cubicBezTo>
                  <a:lnTo>
                    <a:pt x="3104338" y="0"/>
                  </a:lnTo>
                  <a:cubicBezTo>
                    <a:pt x="3247526" y="0"/>
                    <a:pt x="3363587" y="141859"/>
                    <a:pt x="3363587" y="316992"/>
                  </a:cubicBezTo>
                  <a:cubicBezTo>
                    <a:pt x="3363587" y="492125"/>
                    <a:pt x="3247526" y="633984"/>
                    <a:pt x="3104338" y="633984"/>
                  </a:cubicBezTo>
                  <a:lnTo>
                    <a:pt x="259249" y="633984"/>
                  </a:lnTo>
                  <a:cubicBezTo>
                    <a:pt x="116061" y="633984"/>
                    <a:pt x="0" y="492125"/>
                    <a:pt x="0" y="316992"/>
                  </a:cubicBezTo>
                  <a:close/>
                </a:path>
              </a:pathLst>
            </a:custGeom>
            <a:solidFill>
              <a:srgbClr val="F1F2EF"/>
            </a:solidFill>
          </p:spPr>
          <p:txBody>
            <a:bodyPr/>
            <a:lstStyle/>
            <a:p>
              <a:endParaRPr lang="en-US"/>
            </a:p>
          </p:txBody>
        </p:sp>
        <p:sp>
          <p:nvSpPr>
            <p:cNvPr id="139" name="Freeform 139"/>
            <p:cNvSpPr/>
            <p:nvPr/>
          </p:nvSpPr>
          <p:spPr>
            <a:xfrm>
              <a:off x="0" y="0"/>
              <a:ext cx="3390019" cy="667766"/>
            </a:xfrm>
            <a:custGeom>
              <a:avLst/>
              <a:gdLst/>
              <a:ahLst/>
              <a:cxnLst/>
              <a:rect l="l" t="t" r="r" b="b"/>
              <a:pathLst>
                <a:path w="3390019" h="667766">
                  <a:moveTo>
                    <a:pt x="0" y="333883"/>
                  </a:moveTo>
                  <a:cubicBezTo>
                    <a:pt x="0" y="148844"/>
                    <a:pt x="122520" y="0"/>
                    <a:pt x="272465" y="0"/>
                  </a:cubicBezTo>
                  <a:lnTo>
                    <a:pt x="3117554" y="0"/>
                  </a:lnTo>
                  <a:lnTo>
                    <a:pt x="3117554" y="16891"/>
                  </a:lnTo>
                  <a:lnTo>
                    <a:pt x="3117554" y="0"/>
                  </a:lnTo>
                  <a:cubicBezTo>
                    <a:pt x="3267499" y="0"/>
                    <a:pt x="3390019" y="148844"/>
                    <a:pt x="3390019" y="333883"/>
                  </a:cubicBezTo>
                  <a:lnTo>
                    <a:pt x="3376803" y="333883"/>
                  </a:lnTo>
                  <a:lnTo>
                    <a:pt x="3390019" y="333883"/>
                  </a:lnTo>
                  <a:lnTo>
                    <a:pt x="3376803" y="333883"/>
                  </a:lnTo>
                  <a:lnTo>
                    <a:pt x="3390019" y="333883"/>
                  </a:lnTo>
                  <a:cubicBezTo>
                    <a:pt x="3390019" y="519049"/>
                    <a:pt x="3267499" y="667766"/>
                    <a:pt x="3117554" y="667766"/>
                  </a:cubicBezTo>
                  <a:lnTo>
                    <a:pt x="3117554" y="650875"/>
                  </a:lnTo>
                  <a:lnTo>
                    <a:pt x="3117554" y="667766"/>
                  </a:lnTo>
                  <a:lnTo>
                    <a:pt x="272465" y="667766"/>
                  </a:lnTo>
                  <a:lnTo>
                    <a:pt x="272465" y="650875"/>
                  </a:lnTo>
                  <a:lnTo>
                    <a:pt x="272465" y="667766"/>
                  </a:lnTo>
                  <a:cubicBezTo>
                    <a:pt x="122520" y="667893"/>
                    <a:pt x="0" y="519049"/>
                    <a:pt x="0" y="333883"/>
                  </a:cubicBezTo>
                  <a:lnTo>
                    <a:pt x="13216" y="333883"/>
                  </a:lnTo>
                  <a:lnTo>
                    <a:pt x="0" y="333883"/>
                  </a:lnTo>
                  <a:moveTo>
                    <a:pt x="26531" y="333883"/>
                  </a:moveTo>
                  <a:lnTo>
                    <a:pt x="13216" y="333883"/>
                  </a:lnTo>
                  <a:lnTo>
                    <a:pt x="26531" y="333883"/>
                  </a:lnTo>
                  <a:cubicBezTo>
                    <a:pt x="26531" y="498856"/>
                    <a:pt x="136133" y="633984"/>
                    <a:pt x="272465" y="633984"/>
                  </a:cubicBezTo>
                  <a:lnTo>
                    <a:pt x="3117554" y="633984"/>
                  </a:lnTo>
                  <a:cubicBezTo>
                    <a:pt x="3253985" y="633984"/>
                    <a:pt x="3363488" y="498983"/>
                    <a:pt x="3363488" y="333883"/>
                  </a:cubicBezTo>
                  <a:cubicBezTo>
                    <a:pt x="3363488" y="168910"/>
                    <a:pt x="3253886" y="33782"/>
                    <a:pt x="3117554" y="33782"/>
                  </a:cubicBezTo>
                  <a:lnTo>
                    <a:pt x="272465" y="33782"/>
                  </a:lnTo>
                  <a:lnTo>
                    <a:pt x="272465" y="16891"/>
                  </a:lnTo>
                  <a:lnTo>
                    <a:pt x="272465" y="33909"/>
                  </a:lnTo>
                  <a:cubicBezTo>
                    <a:pt x="136034" y="33909"/>
                    <a:pt x="26531" y="168910"/>
                    <a:pt x="26531" y="333883"/>
                  </a:cubicBezTo>
                  <a:close/>
                </a:path>
              </a:pathLst>
            </a:custGeom>
            <a:solidFill>
              <a:srgbClr val="F1F2EF"/>
            </a:solidFill>
          </p:spPr>
          <p:txBody>
            <a:bodyPr/>
            <a:lstStyle/>
            <a:p>
              <a:endParaRPr lang="en-US"/>
            </a:p>
          </p:txBody>
        </p:sp>
      </p:grpSp>
      <p:grpSp>
        <p:nvGrpSpPr>
          <p:cNvPr id="140" name="Group 140"/>
          <p:cNvGrpSpPr/>
          <p:nvPr/>
        </p:nvGrpSpPr>
        <p:grpSpPr>
          <a:xfrm>
            <a:off x="10043160" y="8183237"/>
            <a:ext cx="2438400" cy="475488"/>
            <a:chOff x="0" y="0"/>
            <a:chExt cx="3251200" cy="633984"/>
          </a:xfrm>
        </p:grpSpPr>
        <p:sp>
          <p:nvSpPr>
            <p:cNvPr id="141" name="Freeform 141"/>
            <p:cNvSpPr/>
            <p:nvPr/>
          </p:nvSpPr>
          <p:spPr>
            <a:xfrm>
              <a:off x="0" y="0"/>
              <a:ext cx="3251200" cy="633984"/>
            </a:xfrm>
            <a:custGeom>
              <a:avLst/>
              <a:gdLst/>
              <a:ahLst/>
              <a:cxnLst/>
              <a:rect l="l" t="t" r="r" b="b"/>
              <a:pathLst>
                <a:path w="3251200" h="633984">
                  <a:moveTo>
                    <a:pt x="0" y="0"/>
                  </a:moveTo>
                  <a:lnTo>
                    <a:pt x="3251200" y="0"/>
                  </a:lnTo>
                  <a:lnTo>
                    <a:pt x="3251200" y="633984"/>
                  </a:lnTo>
                  <a:lnTo>
                    <a:pt x="0" y="633984"/>
                  </a:lnTo>
                  <a:close/>
                </a:path>
              </a:pathLst>
            </a:custGeom>
            <a:blipFill>
              <a:blip r:embed="rId3">
                <a:alphaModFix amt="0"/>
              </a:blip>
              <a:stretch>
                <a:fillRect t="-74629" r="-24725" b="-74629"/>
              </a:stretch>
            </a:blipFill>
          </p:spPr>
          <p:txBody>
            <a:bodyPr/>
            <a:lstStyle/>
            <a:p>
              <a:endParaRPr lang="en-US"/>
            </a:p>
          </p:txBody>
        </p:sp>
        <p:sp>
          <p:nvSpPr>
            <p:cNvPr id="142" name="TextBox 142"/>
            <p:cNvSpPr txBox="1"/>
            <p:nvPr/>
          </p:nvSpPr>
          <p:spPr>
            <a:xfrm>
              <a:off x="0" y="-19050"/>
              <a:ext cx="3251200"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TikTok/YouTube (BM)</a:t>
              </a:r>
            </a:p>
          </p:txBody>
        </p:sp>
      </p:grpSp>
      <p:grpSp>
        <p:nvGrpSpPr>
          <p:cNvPr id="143" name="Group 143"/>
          <p:cNvGrpSpPr/>
          <p:nvPr/>
        </p:nvGrpSpPr>
        <p:grpSpPr>
          <a:xfrm>
            <a:off x="12554570" y="8170536"/>
            <a:ext cx="2418835" cy="500891"/>
            <a:chOff x="0" y="0"/>
            <a:chExt cx="3225114" cy="667855"/>
          </a:xfrm>
        </p:grpSpPr>
        <p:grpSp>
          <p:nvGrpSpPr>
            <p:cNvPr id="144" name="Group 144"/>
            <p:cNvGrpSpPr/>
            <p:nvPr/>
          </p:nvGrpSpPr>
          <p:grpSpPr>
            <a:xfrm>
              <a:off x="0" y="0"/>
              <a:ext cx="3225114" cy="667855"/>
              <a:chOff x="0" y="0"/>
              <a:chExt cx="3225114" cy="667855"/>
            </a:xfrm>
          </p:grpSpPr>
          <p:sp>
            <p:nvSpPr>
              <p:cNvPr id="145" name="Freeform 145"/>
              <p:cNvSpPr/>
              <p:nvPr/>
            </p:nvSpPr>
            <p:spPr>
              <a:xfrm>
                <a:off x="14452" y="16891"/>
                <a:ext cx="3196199" cy="633984"/>
              </a:xfrm>
              <a:custGeom>
                <a:avLst/>
                <a:gdLst/>
                <a:ahLst/>
                <a:cxnLst/>
                <a:rect l="l" t="t" r="r" b="b"/>
                <a:pathLst>
                  <a:path w="3196199" h="633984">
                    <a:moveTo>
                      <a:pt x="0" y="316992"/>
                    </a:moveTo>
                    <a:cubicBezTo>
                      <a:pt x="0" y="141986"/>
                      <a:pt x="126804" y="0"/>
                      <a:pt x="283165" y="0"/>
                    </a:cubicBezTo>
                    <a:lnTo>
                      <a:pt x="2913034" y="0"/>
                    </a:lnTo>
                    <a:cubicBezTo>
                      <a:pt x="3069394" y="0"/>
                      <a:pt x="3196199" y="141859"/>
                      <a:pt x="3196199" y="316992"/>
                    </a:cubicBezTo>
                    <a:cubicBezTo>
                      <a:pt x="3196199" y="492125"/>
                      <a:pt x="3069394" y="633984"/>
                      <a:pt x="2913034" y="633984"/>
                    </a:cubicBezTo>
                    <a:lnTo>
                      <a:pt x="283165" y="633984"/>
                    </a:lnTo>
                    <a:cubicBezTo>
                      <a:pt x="126804" y="633984"/>
                      <a:pt x="0" y="492125"/>
                      <a:pt x="0" y="316992"/>
                    </a:cubicBezTo>
                    <a:close/>
                  </a:path>
                </a:pathLst>
              </a:custGeom>
              <a:solidFill>
                <a:srgbClr val="F1F2EF"/>
              </a:solidFill>
            </p:spPr>
            <p:txBody>
              <a:bodyPr/>
              <a:lstStyle/>
              <a:p>
                <a:endParaRPr lang="en-US"/>
              </a:p>
            </p:txBody>
          </p:sp>
          <p:sp>
            <p:nvSpPr>
              <p:cNvPr id="146" name="Freeform 146"/>
              <p:cNvSpPr/>
              <p:nvPr/>
            </p:nvSpPr>
            <p:spPr>
              <a:xfrm>
                <a:off x="0" y="0"/>
                <a:ext cx="3225103" cy="667766"/>
              </a:xfrm>
              <a:custGeom>
                <a:avLst/>
                <a:gdLst/>
                <a:ahLst/>
                <a:cxnLst/>
                <a:rect l="l" t="t" r="r" b="b"/>
                <a:pathLst>
                  <a:path w="3225103" h="667766">
                    <a:moveTo>
                      <a:pt x="0" y="333883"/>
                    </a:moveTo>
                    <a:cubicBezTo>
                      <a:pt x="0" y="148844"/>
                      <a:pt x="133868" y="0"/>
                      <a:pt x="297617" y="0"/>
                    </a:cubicBezTo>
                    <a:lnTo>
                      <a:pt x="2927486" y="0"/>
                    </a:lnTo>
                    <a:lnTo>
                      <a:pt x="2927486" y="16891"/>
                    </a:lnTo>
                    <a:lnTo>
                      <a:pt x="2927486" y="0"/>
                    </a:lnTo>
                    <a:cubicBezTo>
                      <a:pt x="3091235" y="0"/>
                      <a:pt x="3225103" y="148844"/>
                      <a:pt x="3225103" y="333883"/>
                    </a:cubicBezTo>
                    <a:lnTo>
                      <a:pt x="3210651" y="333883"/>
                    </a:lnTo>
                    <a:lnTo>
                      <a:pt x="3225103" y="333883"/>
                    </a:lnTo>
                    <a:lnTo>
                      <a:pt x="3210651" y="333883"/>
                    </a:lnTo>
                    <a:lnTo>
                      <a:pt x="3225103" y="333883"/>
                    </a:lnTo>
                    <a:cubicBezTo>
                      <a:pt x="3225103" y="518922"/>
                      <a:pt x="3091235" y="667766"/>
                      <a:pt x="2927486" y="667766"/>
                    </a:cubicBezTo>
                    <a:lnTo>
                      <a:pt x="2927486" y="650875"/>
                    </a:lnTo>
                    <a:lnTo>
                      <a:pt x="2927486" y="667766"/>
                    </a:lnTo>
                    <a:lnTo>
                      <a:pt x="297617" y="667766"/>
                    </a:lnTo>
                    <a:lnTo>
                      <a:pt x="297617" y="650875"/>
                    </a:lnTo>
                    <a:lnTo>
                      <a:pt x="297617" y="667766"/>
                    </a:lnTo>
                    <a:cubicBezTo>
                      <a:pt x="133868" y="667893"/>
                      <a:pt x="0" y="519049"/>
                      <a:pt x="0" y="333883"/>
                    </a:cubicBezTo>
                    <a:lnTo>
                      <a:pt x="14452" y="333883"/>
                    </a:lnTo>
                    <a:lnTo>
                      <a:pt x="0" y="333883"/>
                    </a:lnTo>
                    <a:moveTo>
                      <a:pt x="29012" y="333883"/>
                    </a:moveTo>
                    <a:lnTo>
                      <a:pt x="14452" y="333883"/>
                    </a:lnTo>
                    <a:lnTo>
                      <a:pt x="29012" y="333883"/>
                    </a:lnTo>
                    <a:cubicBezTo>
                      <a:pt x="29012" y="498983"/>
                      <a:pt x="148645" y="633984"/>
                      <a:pt x="297617" y="633984"/>
                    </a:cubicBezTo>
                    <a:lnTo>
                      <a:pt x="2927486" y="633984"/>
                    </a:lnTo>
                    <a:cubicBezTo>
                      <a:pt x="3076458" y="633984"/>
                      <a:pt x="3196091" y="498983"/>
                      <a:pt x="3196091" y="333883"/>
                    </a:cubicBezTo>
                    <a:cubicBezTo>
                      <a:pt x="3196091" y="168783"/>
                      <a:pt x="3076458" y="33782"/>
                      <a:pt x="2927486" y="33782"/>
                    </a:cubicBezTo>
                    <a:lnTo>
                      <a:pt x="297617" y="33782"/>
                    </a:lnTo>
                    <a:lnTo>
                      <a:pt x="297617" y="16891"/>
                    </a:lnTo>
                    <a:lnTo>
                      <a:pt x="297617" y="33909"/>
                    </a:lnTo>
                    <a:cubicBezTo>
                      <a:pt x="148645" y="33909"/>
                      <a:pt x="29012" y="168910"/>
                      <a:pt x="29012" y="333883"/>
                    </a:cubicBezTo>
                    <a:close/>
                  </a:path>
                </a:pathLst>
              </a:custGeom>
              <a:solidFill>
                <a:srgbClr val="F1F2EF"/>
              </a:solidFill>
            </p:spPr>
            <p:txBody>
              <a:bodyPr/>
              <a:lstStyle/>
              <a:p>
                <a:endParaRPr lang="en-US"/>
              </a:p>
            </p:txBody>
          </p:sp>
        </p:grpSp>
        <p:grpSp>
          <p:nvGrpSpPr>
            <p:cNvPr id="147" name="Group 147"/>
            <p:cNvGrpSpPr/>
            <p:nvPr/>
          </p:nvGrpSpPr>
          <p:grpSpPr>
            <a:xfrm>
              <a:off x="135056" y="0"/>
              <a:ext cx="2955002" cy="633984"/>
              <a:chOff x="0" y="0"/>
              <a:chExt cx="2955002" cy="633984"/>
            </a:xfrm>
          </p:grpSpPr>
          <p:sp>
            <p:nvSpPr>
              <p:cNvPr id="148" name="Freeform 148"/>
              <p:cNvSpPr/>
              <p:nvPr/>
            </p:nvSpPr>
            <p:spPr>
              <a:xfrm>
                <a:off x="0" y="0"/>
                <a:ext cx="2955003" cy="633984"/>
              </a:xfrm>
              <a:custGeom>
                <a:avLst/>
                <a:gdLst/>
                <a:ahLst/>
                <a:cxnLst/>
                <a:rect l="l" t="t" r="r" b="b"/>
                <a:pathLst>
                  <a:path w="2955003" h="633984">
                    <a:moveTo>
                      <a:pt x="0" y="0"/>
                    </a:moveTo>
                    <a:lnTo>
                      <a:pt x="2955003" y="0"/>
                    </a:lnTo>
                    <a:lnTo>
                      <a:pt x="2955003" y="633984"/>
                    </a:lnTo>
                    <a:lnTo>
                      <a:pt x="0" y="633984"/>
                    </a:lnTo>
                    <a:close/>
                  </a:path>
                </a:pathLst>
              </a:custGeom>
              <a:blipFill>
                <a:blip r:embed="rId3">
                  <a:alphaModFix amt="0"/>
                </a:blip>
                <a:stretch>
                  <a:fillRect t="-57317" r="-18165" b="-57317"/>
                </a:stretch>
              </a:blipFill>
            </p:spPr>
            <p:txBody>
              <a:bodyPr/>
              <a:lstStyle/>
              <a:p>
                <a:endParaRPr lang="en-US"/>
              </a:p>
            </p:txBody>
          </p:sp>
          <p:sp>
            <p:nvSpPr>
              <p:cNvPr id="149" name="TextBox 149"/>
              <p:cNvSpPr txBox="1"/>
              <p:nvPr/>
            </p:nvSpPr>
            <p:spPr>
              <a:xfrm>
                <a:off x="0" y="-19050"/>
                <a:ext cx="2955002"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J&amp;T co-marketing</a:t>
                </a:r>
              </a:p>
            </p:txBody>
          </p:sp>
        </p:grpSp>
      </p:grpSp>
      <p:grpSp>
        <p:nvGrpSpPr>
          <p:cNvPr id="150" name="Group 150"/>
          <p:cNvGrpSpPr/>
          <p:nvPr/>
        </p:nvGrpSpPr>
        <p:grpSpPr>
          <a:xfrm>
            <a:off x="9939023" y="8792332"/>
            <a:ext cx="3249578" cy="500891"/>
            <a:chOff x="0" y="0"/>
            <a:chExt cx="4332770" cy="667855"/>
          </a:xfrm>
        </p:grpSpPr>
        <p:sp>
          <p:nvSpPr>
            <p:cNvPr id="151" name="Freeform 151"/>
            <p:cNvSpPr/>
            <p:nvPr/>
          </p:nvSpPr>
          <p:spPr>
            <a:xfrm>
              <a:off x="16891" y="16891"/>
              <a:ext cx="4298950" cy="633984"/>
            </a:xfrm>
            <a:custGeom>
              <a:avLst/>
              <a:gdLst/>
              <a:ahLst/>
              <a:cxnLst/>
              <a:rect l="l" t="t" r="r" b="b"/>
              <a:pathLst>
                <a:path w="4298950" h="633984">
                  <a:moveTo>
                    <a:pt x="0" y="316992"/>
                  </a:moveTo>
                  <a:cubicBezTo>
                    <a:pt x="0" y="141859"/>
                    <a:pt x="148336" y="0"/>
                    <a:pt x="331343" y="0"/>
                  </a:cubicBezTo>
                  <a:lnTo>
                    <a:pt x="3967607" y="0"/>
                  </a:lnTo>
                  <a:cubicBezTo>
                    <a:pt x="4150614" y="0"/>
                    <a:pt x="4298950" y="141859"/>
                    <a:pt x="4298950" y="316992"/>
                  </a:cubicBezTo>
                  <a:cubicBezTo>
                    <a:pt x="4298950" y="492125"/>
                    <a:pt x="4150614" y="633984"/>
                    <a:pt x="3967607" y="633984"/>
                  </a:cubicBezTo>
                  <a:lnTo>
                    <a:pt x="331343" y="633984"/>
                  </a:lnTo>
                  <a:cubicBezTo>
                    <a:pt x="148336" y="633984"/>
                    <a:pt x="0" y="492125"/>
                    <a:pt x="0" y="316992"/>
                  </a:cubicBezTo>
                  <a:close/>
                </a:path>
              </a:pathLst>
            </a:custGeom>
            <a:solidFill>
              <a:srgbClr val="F1F2EF"/>
            </a:solidFill>
          </p:spPr>
          <p:txBody>
            <a:bodyPr/>
            <a:lstStyle/>
            <a:p>
              <a:endParaRPr lang="en-US"/>
            </a:p>
          </p:txBody>
        </p:sp>
        <p:sp>
          <p:nvSpPr>
            <p:cNvPr id="152" name="Freeform 152"/>
            <p:cNvSpPr/>
            <p:nvPr/>
          </p:nvSpPr>
          <p:spPr>
            <a:xfrm>
              <a:off x="0" y="0"/>
              <a:ext cx="4332732" cy="667766"/>
            </a:xfrm>
            <a:custGeom>
              <a:avLst/>
              <a:gdLst/>
              <a:ahLst/>
              <a:cxnLst/>
              <a:rect l="l" t="t" r="r" b="b"/>
              <a:pathLst>
                <a:path w="4332732" h="667766">
                  <a:moveTo>
                    <a:pt x="0" y="333883"/>
                  </a:moveTo>
                  <a:cubicBezTo>
                    <a:pt x="0" y="148844"/>
                    <a:pt x="156591" y="0"/>
                    <a:pt x="348234" y="0"/>
                  </a:cubicBezTo>
                  <a:lnTo>
                    <a:pt x="3984498" y="0"/>
                  </a:lnTo>
                  <a:lnTo>
                    <a:pt x="3984498" y="16891"/>
                  </a:lnTo>
                  <a:lnTo>
                    <a:pt x="3984498" y="0"/>
                  </a:lnTo>
                  <a:cubicBezTo>
                    <a:pt x="4176141" y="0"/>
                    <a:pt x="4332732" y="148844"/>
                    <a:pt x="4332732" y="333883"/>
                  </a:cubicBezTo>
                  <a:lnTo>
                    <a:pt x="4315841" y="333883"/>
                  </a:lnTo>
                  <a:lnTo>
                    <a:pt x="4332732" y="333883"/>
                  </a:lnTo>
                  <a:lnTo>
                    <a:pt x="4315841" y="333883"/>
                  </a:lnTo>
                  <a:lnTo>
                    <a:pt x="4332732" y="333883"/>
                  </a:lnTo>
                  <a:cubicBezTo>
                    <a:pt x="4332732" y="519049"/>
                    <a:pt x="4176141" y="667766"/>
                    <a:pt x="3984498" y="667766"/>
                  </a:cubicBezTo>
                  <a:lnTo>
                    <a:pt x="3984498" y="650875"/>
                  </a:lnTo>
                  <a:lnTo>
                    <a:pt x="3984498" y="667766"/>
                  </a:lnTo>
                  <a:lnTo>
                    <a:pt x="348234" y="667766"/>
                  </a:lnTo>
                  <a:lnTo>
                    <a:pt x="348234" y="650875"/>
                  </a:lnTo>
                  <a:lnTo>
                    <a:pt x="348234" y="667766"/>
                  </a:lnTo>
                  <a:cubicBezTo>
                    <a:pt x="156591" y="667893"/>
                    <a:pt x="0" y="519049"/>
                    <a:pt x="0" y="333883"/>
                  </a:cubicBezTo>
                  <a:lnTo>
                    <a:pt x="16891" y="333883"/>
                  </a:lnTo>
                  <a:lnTo>
                    <a:pt x="0" y="333883"/>
                  </a:lnTo>
                  <a:moveTo>
                    <a:pt x="33909" y="333883"/>
                  </a:moveTo>
                  <a:lnTo>
                    <a:pt x="16891" y="333883"/>
                  </a:lnTo>
                  <a:lnTo>
                    <a:pt x="33909" y="333883"/>
                  </a:lnTo>
                  <a:cubicBezTo>
                    <a:pt x="33909" y="498856"/>
                    <a:pt x="173990" y="633984"/>
                    <a:pt x="348234" y="633984"/>
                  </a:cubicBezTo>
                  <a:lnTo>
                    <a:pt x="3984498" y="633984"/>
                  </a:lnTo>
                  <a:cubicBezTo>
                    <a:pt x="4158869" y="633984"/>
                    <a:pt x="4298823" y="498983"/>
                    <a:pt x="4298823" y="333883"/>
                  </a:cubicBezTo>
                  <a:cubicBezTo>
                    <a:pt x="4298823" y="168910"/>
                    <a:pt x="4158742" y="33782"/>
                    <a:pt x="3984498" y="33782"/>
                  </a:cubicBezTo>
                  <a:lnTo>
                    <a:pt x="348234" y="33782"/>
                  </a:lnTo>
                  <a:lnTo>
                    <a:pt x="348234" y="16891"/>
                  </a:lnTo>
                  <a:lnTo>
                    <a:pt x="348234" y="33909"/>
                  </a:lnTo>
                  <a:cubicBezTo>
                    <a:pt x="173863" y="33909"/>
                    <a:pt x="33909" y="168910"/>
                    <a:pt x="33909" y="333883"/>
                  </a:cubicBezTo>
                  <a:close/>
                </a:path>
              </a:pathLst>
            </a:custGeom>
            <a:solidFill>
              <a:srgbClr val="F1F2EF"/>
            </a:solidFill>
          </p:spPr>
          <p:txBody>
            <a:bodyPr/>
            <a:lstStyle/>
            <a:p>
              <a:endParaRPr lang="en-US"/>
            </a:p>
          </p:txBody>
        </p:sp>
      </p:grpSp>
      <p:grpSp>
        <p:nvGrpSpPr>
          <p:cNvPr id="153" name="Group 153"/>
          <p:cNvGrpSpPr/>
          <p:nvPr/>
        </p:nvGrpSpPr>
        <p:grpSpPr>
          <a:xfrm>
            <a:off x="10043160" y="8805029"/>
            <a:ext cx="3041294" cy="475488"/>
            <a:chOff x="0" y="0"/>
            <a:chExt cx="4055059" cy="633984"/>
          </a:xfrm>
        </p:grpSpPr>
        <p:sp>
          <p:nvSpPr>
            <p:cNvPr id="154" name="Freeform 154"/>
            <p:cNvSpPr/>
            <p:nvPr/>
          </p:nvSpPr>
          <p:spPr>
            <a:xfrm>
              <a:off x="0" y="0"/>
              <a:ext cx="4055059" cy="633984"/>
            </a:xfrm>
            <a:custGeom>
              <a:avLst/>
              <a:gdLst/>
              <a:ahLst/>
              <a:cxnLst/>
              <a:rect l="l" t="t" r="r" b="b"/>
              <a:pathLst>
                <a:path w="4055059" h="633984">
                  <a:moveTo>
                    <a:pt x="0" y="0"/>
                  </a:moveTo>
                  <a:lnTo>
                    <a:pt x="4055059" y="0"/>
                  </a:lnTo>
                  <a:lnTo>
                    <a:pt x="4055059" y="633984"/>
                  </a:lnTo>
                  <a:lnTo>
                    <a:pt x="0" y="633984"/>
                  </a:lnTo>
                  <a:close/>
                </a:path>
              </a:pathLst>
            </a:custGeom>
            <a:blipFill>
              <a:blip r:embed="rId3">
                <a:alphaModFix amt="0"/>
              </a:blip>
              <a:stretch>
                <a:fillRect t="-74629" b="-74629"/>
              </a:stretch>
            </a:blipFill>
          </p:spPr>
          <p:txBody>
            <a:bodyPr/>
            <a:lstStyle/>
            <a:p>
              <a:endParaRPr lang="en-US"/>
            </a:p>
          </p:txBody>
        </p:sp>
        <p:sp>
          <p:nvSpPr>
            <p:cNvPr id="155" name="TextBox 155"/>
            <p:cNvSpPr txBox="1"/>
            <p:nvPr/>
          </p:nvSpPr>
          <p:spPr>
            <a:xfrm>
              <a:off x="0" y="-19050"/>
              <a:ext cx="4055059"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University networks</a:t>
              </a:r>
            </a:p>
          </p:txBody>
        </p:sp>
      </p:grpSp>
      <p:grpSp>
        <p:nvGrpSpPr>
          <p:cNvPr id="156" name="Group 156"/>
          <p:cNvGrpSpPr/>
          <p:nvPr/>
        </p:nvGrpSpPr>
        <p:grpSpPr>
          <a:xfrm>
            <a:off x="15049605" y="8170536"/>
            <a:ext cx="2123037" cy="500891"/>
            <a:chOff x="0" y="0"/>
            <a:chExt cx="2830716" cy="667855"/>
          </a:xfrm>
        </p:grpSpPr>
        <p:grpSp>
          <p:nvGrpSpPr>
            <p:cNvPr id="157" name="Group 157"/>
            <p:cNvGrpSpPr/>
            <p:nvPr/>
          </p:nvGrpSpPr>
          <p:grpSpPr>
            <a:xfrm>
              <a:off x="0" y="0"/>
              <a:ext cx="2830716" cy="667855"/>
              <a:chOff x="0" y="0"/>
              <a:chExt cx="2830716" cy="667855"/>
            </a:xfrm>
          </p:grpSpPr>
          <p:sp>
            <p:nvSpPr>
              <p:cNvPr id="158" name="Freeform 158"/>
              <p:cNvSpPr/>
              <p:nvPr/>
            </p:nvSpPr>
            <p:spPr>
              <a:xfrm>
                <a:off x="16891" y="16891"/>
                <a:ext cx="2796921" cy="633984"/>
              </a:xfrm>
              <a:custGeom>
                <a:avLst/>
                <a:gdLst/>
                <a:ahLst/>
                <a:cxnLst/>
                <a:rect l="l" t="t" r="r" b="b"/>
                <a:pathLst>
                  <a:path w="2796921" h="633984">
                    <a:moveTo>
                      <a:pt x="0" y="316992"/>
                    </a:moveTo>
                    <a:cubicBezTo>
                      <a:pt x="0" y="141859"/>
                      <a:pt x="147701" y="0"/>
                      <a:pt x="329946" y="0"/>
                    </a:cubicBezTo>
                    <a:lnTo>
                      <a:pt x="2466975" y="0"/>
                    </a:lnTo>
                    <a:cubicBezTo>
                      <a:pt x="2649220" y="0"/>
                      <a:pt x="2796921" y="141859"/>
                      <a:pt x="2796921" y="316992"/>
                    </a:cubicBezTo>
                    <a:cubicBezTo>
                      <a:pt x="2796921" y="492125"/>
                      <a:pt x="2649220" y="633984"/>
                      <a:pt x="2466975" y="633984"/>
                    </a:cubicBezTo>
                    <a:lnTo>
                      <a:pt x="329946" y="633984"/>
                    </a:lnTo>
                    <a:cubicBezTo>
                      <a:pt x="147701" y="633984"/>
                      <a:pt x="0" y="492125"/>
                      <a:pt x="0" y="316992"/>
                    </a:cubicBezTo>
                    <a:close/>
                  </a:path>
                </a:pathLst>
              </a:custGeom>
              <a:solidFill>
                <a:srgbClr val="F1F2EF"/>
              </a:solidFill>
            </p:spPr>
            <p:txBody>
              <a:bodyPr/>
              <a:lstStyle/>
              <a:p>
                <a:endParaRPr lang="en-US"/>
              </a:p>
            </p:txBody>
          </p:sp>
          <p:sp>
            <p:nvSpPr>
              <p:cNvPr id="159" name="Freeform 159"/>
              <p:cNvSpPr/>
              <p:nvPr/>
            </p:nvSpPr>
            <p:spPr>
              <a:xfrm>
                <a:off x="0" y="0"/>
                <a:ext cx="2830703" cy="667766"/>
              </a:xfrm>
              <a:custGeom>
                <a:avLst/>
                <a:gdLst/>
                <a:ahLst/>
                <a:cxnLst/>
                <a:rect l="l" t="t" r="r" b="b"/>
                <a:pathLst>
                  <a:path w="2830703" h="667766">
                    <a:moveTo>
                      <a:pt x="0" y="333883"/>
                    </a:moveTo>
                    <a:cubicBezTo>
                      <a:pt x="0" y="148844"/>
                      <a:pt x="155956" y="0"/>
                      <a:pt x="346837" y="0"/>
                    </a:cubicBezTo>
                    <a:lnTo>
                      <a:pt x="2483866" y="0"/>
                    </a:lnTo>
                    <a:lnTo>
                      <a:pt x="2483866" y="16891"/>
                    </a:lnTo>
                    <a:lnTo>
                      <a:pt x="2483866" y="0"/>
                    </a:lnTo>
                    <a:cubicBezTo>
                      <a:pt x="2674747" y="0"/>
                      <a:pt x="2830703" y="148844"/>
                      <a:pt x="2830703" y="333883"/>
                    </a:cubicBezTo>
                    <a:lnTo>
                      <a:pt x="2813812" y="333883"/>
                    </a:lnTo>
                    <a:lnTo>
                      <a:pt x="2830703" y="333883"/>
                    </a:lnTo>
                    <a:lnTo>
                      <a:pt x="2813812" y="333883"/>
                    </a:lnTo>
                    <a:lnTo>
                      <a:pt x="2830703" y="333883"/>
                    </a:lnTo>
                    <a:cubicBezTo>
                      <a:pt x="2830703" y="518922"/>
                      <a:pt x="2674747" y="667766"/>
                      <a:pt x="2483866" y="667766"/>
                    </a:cubicBezTo>
                    <a:lnTo>
                      <a:pt x="2483866" y="650875"/>
                    </a:lnTo>
                    <a:lnTo>
                      <a:pt x="2483866" y="667766"/>
                    </a:lnTo>
                    <a:lnTo>
                      <a:pt x="346837" y="667766"/>
                    </a:lnTo>
                    <a:lnTo>
                      <a:pt x="346837" y="650875"/>
                    </a:lnTo>
                    <a:lnTo>
                      <a:pt x="346837" y="667766"/>
                    </a:lnTo>
                    <a:cubicBezTo>
                      <a:pt x="155956" y="667893"/>
                      <a:pt x="0" y="518922"/>
                      <a:pt x="0" y="333883"/>
                    </a:cubicBezTo>
                    <a:lnTo>
                      <a:pt x="16891" y="333883"/>
                    </a:lnTo>
                    <a:lnTo>
                      <a:pt x="0" y="333883"/>
                    </a:lnTo>
                    <a:moveTo>
                      <a:pt x="33909" y="333883"/>
                    </a:moveTo>
                    <a:lnTo>
                      <a:pt x="16891" y="333883"/>
                    </a:lnTo>
                    <a:lnTo>
                      <a:pt x="33909" y="333883"/>
                    </a:lnTo>
                    <a:cubicBezTo>
                      <a:pt x="33909" y="498983"/>
                      <a:pt x="173355" y="633984"/>
                      <a:pt x="346964" y="633984"/>
                    </a:cubicBezTo>
                    <a:lnTo>
                      <a:pt x="2483866" y="633984"/>
                    </a:lnTo>
                    <a:cubicBezTo>
                      <a:pt x="2657348" y="633984"/>
                      <a:pt x="2796921" y="498983"/>
                      <a:pt x="2796921" y="333883"/>
                    </a:cubicBezTo>
                    <a:cubicBezTo>
                      <a:pt x="2796921" y="168783"/>
                      <a:pt x="2657475" y="33782"/>
                      <a:pt x="2483866" y="33782"/>
                    </a:cubicBezTo>
                    <a:lnTo>
                      <a:pt x="346837" y="33782"/>
                    </a:lnTo>
                    <a:lnTo>
                      <a:pt x="346837" y="16891"/>
                    </a:lnTo>
                    <a:lnTo>
                      <a:pt x="346837" y="33909"/>
                    </a:lnTo>
                    <a:cubicBezTo>
                      <a:pt x="173355" y="33909"/>
                      <a:pt x="33909" y="168783"/>
                      <a:pt x="33909" y="333883"/>
                    </a:cubicBezTo>
                    <a:close/>
                  </a:path>
                </a:pathLst>
              </a:custGeom>
              <a:solidFill>
                <a:srgbClr val="F1F2EF"/>
              </a:solidFill>
            </p:spPr>
            <p:txBody>
              <a:bodyPr/>
              <a:lstStyle/>
              <a:p>
                <a:endParaRPr lang="en-US"/>
              </a:p>
            </p:txBody>
          </p:sp>
        </p:grpSp>
        <p:grpSp>
          <p:nvGrpSpPr>
            <p:cNvPr id="160" name="Group 160"/>
            <p:cNvGrpSpPr/>
            <p:nvPr/>
          </p:nvGrpSpPr>
          <p:grpSpPr>
            <a:xfrm>
              <a:off x="138849" y="16929"/>
              <a:ext cx="2553005" cy="633984"/>
              <a:chOff x="0" y="0"/>
              <a:chExt cx="2553005" cy="633984"/>
            </a:xfrm>
          </p:grpSpPr>
          <p:sp>
            <p:nvSpPr>
              <p:cNvPr id="161" name="Freeform 161"/>
              <p:cNvSpPr/>
              <p:nvPr/>
            </p:nvSpPr>
            <p:spPr>
              <a:xfrm>
                <a:off x="0" y="0"/>
                <a:ext cx="2553005" cy="633984"/>
              </a:xfrm>
              <a:custGeom>
                <a:avLst/>
                <a:gdLst/>
                <a:ahLst/>
                <a:cxnLst/>
                <a:rect l="l" t="t" r="r" b="b"/>
                <a:pathLst>
                  <a:path w="2553005" h="633984">
                    <a:moveTo>
                      <a:pt x="0" y="0"/>
                    </a:moveTo>
                    <a:lnTo>
                      <a:pt x="2553005" y="0"/>
                    </a:lnTo>
                    <a:lnTo>
                      <a:pt x="2553005" y="633984"/>
                    </a:lnTo>
                    <a:lnTo>
                      <a:pt x="0" y="633984"/>
                    </a:lnTo>
                    <a:close/>
                  </a:path>
                </a:pathLst>
              </a:custGeom>
              <a:blipFill>
                <a:blip r:embed="rId3">
                  <a:alphaModFix amt="0"/>
                </a:blip>
                <a:stretch>
                  <a:fillRect t="-28464" b="-28464"/>
                </a:stretch>
              </a:blipFill>
            </p:spPr>
            <p:txBody>
              <a:bodyPr/>
              <a:lstStyle/>
              <a:p>
                <a:endParaRPr lang="en-US"/>
              </a:p>
            </p:txBody>
          </p:sp>
          <p:sp>
            <p:nvSpPr>
              <p:cNvPr id="162" name="TextBox 162"/>
              <p:cNvSpPr txBox="1"/>
              <p:nvPr/>
            </p:nvSpPr>
            <p:spPr>
              <a:xfrm>
                <a:off x="0" y="-19050"/>
                <a:ext cx="2553005"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MDEC grants</a:t>
                </a:r>
              </a:p>
            </p:txBody>
          </p:sp>
        </p:grpSp>
      </p:grpSp>
      <p:grpSp>
        <p:nvGrpSpPr>
          <p:cNvPr id="163" name="Group 163"/>
          <p:cNvGrpSpPr/>
          <p:nvPr/>
        </p:nvGrpSpPr>
        <p:grpSpPr>
          <a:xfrm>
            <a:off x="13274145" y="8792332"/>
            <a:ext cx="2618210" cy="500891"/>
            <a:chOff x="0" y="0"/>
            <a:chExt cx="3490946" cy="667855"/>
          </a:xfrm>
        </p:grpSpPr>
        <p:sp>
          <p:nvSpPr>
            <p:cNvPr id="164" name="Freeform 164"/>
            <p:cNvSpPr/>
            <p:nvPr/>
          </p:nvSpPr>
          <p:spPr>
            <a:xfrm>
              <a:off x="14226" y="16891"/>
              <a:ext cx="3462506" cy="633984"/>
            </a:xfrm>
            <a:custGeom>
              <a:avLst/>
              <a:gdLst/>
              <a:ahLst/>
              <a:cxnLst/>
              <a:rect l="l" t="t" r="r" b="b"/>
              <a:pathLst>
                <a:path w="3462506" h="633984">
                  <a:moveTo>
                    <a:pt x="0" y="316992"/>
                  </a:moveTo>
                  <a:cubicBezTo>
                    <a:pt x="0" y="141859"/>
                    <a:pt x="124929" y="0"/>
                    <a:pt x="278951" y="0"/>
                  </a:cubicBezTo>
                  <a:lnTo>
                    <a:pt x="3183554" y="0"/>
                  </a:lnTo>
                  <a:cubicBezTo>
                    <a:pt x="3337576" y="0"/>
                    <a:pt x="3462505" y="141859"/>
                    <a:pt x="3462505" y="316992"/>
                  </a:cubicBezTo>
                  <a:cubicBezTo>
                    <a:pt x="3462505" y="492125"/>
                    <a:pt x="3337576" y="633984"/>
                    <a:pt x="3183554" y="633984"/>
                  </a:cubicBezTo>
                  <a:lnTo>
                    <a:pt x="278951" y="633984"/>
                  </a:lnTo>
                  <a:cubicBezTo>
                    <a:pt x="124929" y="633984"/>
                    <a:pt x="0" y="492125"/>
                    <a:pt x="0" y="316992"/>
                  </a:cubicBezTo>
                  <a:close/>
                </a:path>
              </a:pathLst>
            </a:custGeom>
            <a:solidFill>
              <a:srgbClr val="F1F2EF"/>
            </a:solidFill>
          </p:spPr>
          <p:txBody>
            <a:bodyPr/>
            <a:lstStyle/>
            <a:p>
              <a:endParaRPr lang="en-US"/>
            </a:p>
          </p:txBody>
        </p:sp>
        <p:sp>
          <p:nvSpPr>
            <p:cNvPr id="165" name="Freeform 165"/>
            <p:cNvSpPr/>
            <p:nvPr/>
          </p:nvSpPr>
          <p:spPr>
            <a:xfrm>
              <a:off x="0" y="0"/>
              <a:ext cx="3490959" cy="667766"/>
            </a:xfrm>
            <a:custGeom>
              <a:avLst/>
              <a:gdLst/>
              <a:ahLst/>
              <a:cxnLst/>
              <a:rect l="l" t="t" r="r" b="b"/>
              <a:pathLst>
                <a:path w="3490959" h="667766">
                  <a:moveTo>
                    <a:pt x="0" y="333883"/>
                  </a:moveTo>
                  <a:cubicBezTo>
                    <a:pt x="0" y="148844"/>
                    <a:pt x="131882" y="0"/>
                    <a:pt x="293177" y="0"/>
                  </a:cubicBezTo>
                  <a:lnTo>
                    <a:pt x="3197780" y="0"/>
                  </a:lnTo>
                  <a:lnTo>
                    <a:pt x="3197780" y="16891"/>
                  </a:lnTo>
                  <a:lnTo>
                    <a:pt x="3197780" y="0"/>
                  </a:lnTo>
                  <a:cubicBezTo>
                    <a:pt x="3359076" y="0"/>
                    <a:pt x="3490959" y="148844"/>
                    <a:pt x="3490959" y="333883"/>
                  </a:cubicBezTo>
                  <a:lnTo>
                    <a:pt x="3476731" y="333883"/>
                  </a:lnTo>
                  <a:lnTo>
                    <a:pt x="3490959" y="333883"/>
                  </a:lnTo>
                  <a:lnTo>
                    <a:pt x="3476731" y="333883"/>
                  </a:lnTo>
                  <a:lnTo>
                    <a:pt x="3490959" y="333883"/>
                  </a:lnTo>
                  <a:cubicBezTo>
                    <a:pt x="3490959" y="519049"/>
                    <a:pt x="3359076" y="667766"/>
                    <a:pt x="3197780" y="667766"/>
                  </a:cubicBezTo>
                  <a:lnTo>
                    <a:pt x="3197780" y="650875"/>
                  </a:lnTo>
                  <a:lnTo>
                    <a:pt x="3197780" y="667766"/>
                  </a:lnTo>
                  <a:lnTo>
                    <a:pt x="293177" y="667766"/>
                  </a:lnTo>
                  <a:lnTo>
                    <a:pt x="293177" y="650875"/>
                  </a:lnTo>
                  <a:lnTo>
                    <a:pt x="293177" y="667766"/>
                  </a:lnTo>
                  <a:cubicBezTo>
                    <a:pt x="131882" y="667893"/>
                    <a:pt x="0" y="519049"/>
                    <a:pt x="0" y="333883"/>
                  </a:cubicBezTo>
                  <a:lnTo>
                    <a:pt x="14226" y="333883"/>
                  </a:lnTo>
                  <a:lnTo>
                    <a:pt x="0" y="333883"/>
                  </a:lnTo>
                  <a:moveTo>
                    <a:pt x="28558" y="333883"/>
                  </a:moveTo>
                  <a:lnTo>
                    <a:pt x="14226" y="333883"/>
                  </a:lnTo>
                  <a:lnTo>
                    <a:pt x="28558" y="333883"/>
                  </a:lnTo>
                  <a:cubicBezTo>
                    <a:pt x="28558" y="498856"/>
                    <a:pt x="146428" y="633984"/>
                    <a:pt x="293284" y="633984"/>
                  </a:cubicBezTo>
                  <a:lnTo>
                    <a:pt x="3197780" y="633984"/>
                  </a:lnTo>
                  <a:cubicBezTo>
                    <a:pt x="3344529" y="633984"/>
                    <a:pt x="3462506" y="498983"/>
                    <a:pt x="3462506" y="333883"/>
                  </a:cubicBezTo>
                  <a:cubicBezTo>
                    <a:pt x="3462506" y="168910"/>
                    <a:pt x="3344636" y="33782"/>
                    <a:pt x="3197780" y="33782"/>
                  </a:cubicBezTo>
                  <a:lnTo>
                    <a:pt x="293177" y="33782"/>
                  </a:lnTo>
                  <a:lnTo>
                    <a:pt x="293177" y="16891"/>
                  </a:lnTo>
                  <a:lnTo>
                    <a:pt x="293177" y="33909"/>
                  </a:lnTo>
                  <a:cubicBezTo>
                    <a:pt x="146428" y="33909"/>
                    <a:pt x="28558" y="168910"/>
                    <a:pt x="28558" y="333883"/>
                  </a:cubicBezTo>
                  <a:close/>
                </a:path>
              </a:pathLst>
            </a:custGeom>
            <a:solidFill>
              <a:srgbClr val="F1F2EF"/>
            </a:solidFill>
          </p:spPr>
          <p:txBody>
            <a:bodyPr/>
            <a:lstStyle/>
            <a:p>
              <a:endParaRPr lang="en-US"/>
            </a:p>
          </p:txBody>
        </p:sp>
      </p:grpSp>
      <p:grpSp>
        <p:nvGrpSpPr>
          <p:cNvPr id="166" name="Group 166"/>
          <p:cNvGrpSpPr/>
          <p:nvPr/>
        </p:nvGrpSpPr>
        <p:grpSpPr>
          <a:xfrm>
            <a:off x="13361849" y="8805029"/>
            <a:ext cx="2442793" cy="475488"/>
            <a:chOff x="0" y="0"/>
            <a:chExt cx="3257057" cy="633984"/>
          </a:xfrm>
        </p:grpSpPr>
        <p:sp>
          <p:nvSpPr>
            <p:cNvPr id="167" name="Freeform 167"/>
            <p:cNvSpPr/>
            <p:nvPr/>
          </p:nvSpPr>
          <p:spPr>
            <a:xfrm>
              <a:off x="0" y="0"/>
              <a:ext cx="3257056" cy="633984"/>
            </a:xfrm>
            <a:custGeom>
              <a:avLst/>
              <a:gdLst/>
              <a:ahLst/>
              <a:cxnLst/>
              <a:rect l="l" t="t" r="r" b="b"/>
              <a:pathLst>
                <a:path w="3257056" h="633984">
                  <a:moveTo>
                    <a:pt x="0" y="0"/>
                  </a:moveTo>
                  <a:lnTo>
                    <a:pt x="3257056" y="0"/>
                  </a:lnTo>
                  <a:lnTo>
                    <a:pt x="3257056" y="633984"/>
                  </a:lnTo>
                  <a:lnTo>
                    <a:pt x="0" y="633984"/>
                  </a:lnTo>
                  <a:close/>
                </a:path>
              </a:pathLst>
            </a:custGeom>
            <a:blipFill>
              <a:blip r:embed="rId3">
                <a:alphaModFix amt="0"/>
              </a:blip>
              <a:stretch>
                <a:fillRect t="-68858" r="-18736" b="-68858"/>
              </a:stretch>
            </a:blipFill>
          </p:spPr>
          <p:txBody>
            <a:bodyPr/>
            <a:lstStyle/>
            <a:p>
              <a:endParaRPr lang="en-US"/>
            </a:p>
          </p:txBody>
        </p:sp>
        <p:sp>
          <p:nvSpPr>
            <p:cNvPr id="168" name="TextBox 168"/>
            <p:cNvSpPr txBox="1"/>
            <p:nvPr/>
          </p:nvSpPr>
          <p:spPr>
            <a:xfrm>
              <a:off x="0" y="-19050"/>
              <a:ext cx="3257057"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Agency white-label</a:t>
              </a:r>
            </a:p>
          </p:txBody>
        </p:sp>
      </p:grpSp>
      <p:grpSp>
        <p:nvGrpSpPr>
          <p:cNvPr id="169" name="Group 169"/>
          <p:cNvGrpSpPr/>
          <p:nvPr/>
        </p:nvGrpSpPr>
        <p:grpSpPr>
          <a:xfrm>
            <a:off x="14869268" y="7561445"/>
            <a:ext cx="2827125" cy="500891"/>
            <a:chOff x="0" y="0"/>
            <a:chExt cx="3769500" cy="667855"/>
          </a:xfrm>
        </p:grpSpPr>
        <p:sp>
          <p:nvSpPr>
            <p:cNvPr id="170" name="Freeform 170"/>
            <p:cNvSpPr/>
            <p:nvPr/>
          </p:nvSpPr>
          <p:spPr>
            <a:xfrm>
              <a:off x="16891" y="16891"/>
              <a:ext cx="3735705" cy="633984"/>
            </a:xfrm>
            <a:custGeom>
              <a:avLst/>
              <a:gdLst/>
              <a:ahLst/>
              <a:cxnLst/>
              <a:rect l="l" t="t" r="r" b="b"/>
              <a:pathLst>
                <a:path w="3735705" h="633984">
                  <a:moveTo>
                    <a:pt x="0" y="316992"/>
                  </a:moveTo>
                  <a:cubicBezTo>
                    <a:pt x="0" y="141986"/>
                    <a:pt x="148209" y="0"/>
                    <a:pt x="330962" y="0"/>
                  </a:cubicBezTo>
                  <a:lnTo>
                    <a:pt x="3404743" y="0"/>
                  </a:lnTo>
                  <a:cubicBezTo>
                    <a:pt x="3587496" y="0"/>
                    <a:pt x="3735705" y="141859"/>
                    <a:pt x="3735705" y="316992"/>
                  </a:cubicBezTo>
                  <a:cubicBezTo>
                    <a:pt x="3735705" y="492125"/>
                    <a:pt x="3587496" y="633984"/>
                    <a:pt x="3404743" y="633984"/>
                  </a:cubicBezTo>
                  <a:lnTo>
                    <a:pt x="330962" y="633984"/>
                  </a:lnTo>
                  <a:cubicBezTo>
                    <a:pt x="148209" y="633984"/>
                    <a:pt x="0" y="492125"/>
                    <a:pt x="0" y="316992"/>
                  </a:cubicBezTo>
                  <a:close/>
                </a:path>
              </a:pathLst>
            </a:custGeom>
            <a:solidFill>
              <a:srgbClr val="F1F2EF"/>
            </a:solidFill>
          </p:spPr>
          <p:txBody>
            <a:bodyPr/>
            <a:lstStyle/>
            <a:p>
              <a:endParaRPr lang="en-US"/>
            </a:p>
          </p:txBody>
        </p:sp>
        <p:sp>
          <p:nvSpPr>
            <p:cNvPr id="171" name="Freeform 171"/>
            <p:cNvSpPr/>
            <p:nvPr/>
          </p:nvSpPr>
          <p:spPr>
            <a:xfrm>
              <a:off x="0" y="0"/>
              <a:ext cx="3769487" cy="667766"/>
            </a:xfrm>
            <a:custGeom>
              <a:avLst/>
              <a:gdLst/>
              <a:ahLst/>
              <a:cxnLst/>
              <a:rect l="l" t="t" r="r" b="b"/>
              <a:pathLst>
                <a:path w="3769487" h="667766">
                  <a:moveTo>
                    <a:pt x="0" y="333883"/>
                  </a:moveTo>
                  <a:cubicBezTo>
                    <a:pt x="0" y="148844"/>
                    <a:pt x="156464" y="0"/>
                    <a:pt x="347853" y="0"/>
                  </a:cubicBezTo>
                  <a:lnTo>
                    <a:pt x="3421634" y="0"/>
                  </a:lnTo>
                  <a:lnTo>
                    <a:pt x="3421634" y="16891"/>
                  </a:lnTo>
                  <a:lnTo>
                    <a:pt x="3421634" y="0"/>
                  </a:lnTo>
                  <a:cubicBezTo>
                    <a:pt x="3613023" y="0"/>
                    <a:pt x="3769487" y="148844"/>
                    <a:pt x="3769487" y="333883"/>
                  </a:cubicBezTo>
                  <a:lnTo>
                    <a:pt x="3752596" y="333883"/>
                  </a:lnTo>
                  <a:lnTo>
                    <a:pt x="3769487" y="333883"/>
                  </a:lnTo>
                  <a:lnTo>
                    <a:pt x="3752596" y="333883"/>
                  </a:lnTo>
                  <a:lnTo>
                    <a:pt x="3769487" y="333883"/>
                  </a:lnTo>
                  <a:cubicBezTo>
                    <a:pt x="3769487" y="518922"/>
                    <a:pt x="3613023" y="667766"/>
                    <a:pt x="3421634" y="667766"/>
                  </a:cubicBezTo>
                  <a:lnTo>
                    <a:pt x="3421634" y="650875"/>
                  </a:lnTo>
                  <a:lnTo>
                    <a:pt x="3421634" y="667766"/>
                  </a:lnTo>
                  <a:lnTo>
                    <a:pt x="347853" y="667766"/>
                  </a:lnTo>
                  <a:lnTo>
                    <a:pt x="347853" y="650875"/>
                  </a:lnTo>
                  <a:lnTo>
                    <a:pt x="347853" y="667766"/>
                  </a:lnTo>
                  <a:cubicBezTo>
                    <a:pt x="156464" y="667893"/>
                    <a:pt x="0" y="519049"/>
                    <a:pt x="0" y="333883"/>
                  </a:cubicBezTo>
                  <a:lnTo>
                    <a:pt x="16891" y="333883"/>
                  </a:lnTo>
                  <a:lnTo>
                    <a:pt x="0" y="333883"/>
                  </a:lnTo>
                  <a:moveTo>
                    <a:pt x="33909" y="333883"/>
                  </a:moveTo>
                  <a:lnTo>
                    <a:pt x="16891" y="333883"/>
                  </a:lnTo>
                  <a:lnTo>
                    <a:pt x="33909" y="333883"/>
                  </a:lnTo>
                  <a:cubicBezTo>
                    <a:pt x="33909" y="498983"/>
                    <a:pt x="173736" y="633984"/>
                    <a:pt x="347853" y="633984"/>
                  </a:cubicBezTo>
                  <a:lnTo>
                    <a:pt x="3421634" y="633984"/>
                  </a:lnTo>
                  <a:cubicBezTo>
                    <a:pt x="3595751" y="633984"/>
                    <a:pt x="3735578" y="498983"/>
                    <a:pt x="3735578" y="333883"/>
                  </a:cubicBezTo>
                  <a:cubicBezTo>
                    <a:pt x="3735578" y="168783"/>
                    <a:pt x="3595751" y="33782"/>
                    <a:pt x="3421634" y="33782"/>
                  </a:cubicBezTo>
                  <a:lnTo>
                    <a:pt x="347853" y="33782"/>
                  </a:lnTo>
                  <a:lnTo>
                    <a:pt x="347853" y="16891"/>
                  </a:lnTo>
                  <a:lnTo>
                    <a:pt x="347853" y="33909"/>
                  </a:lnTo>
                  <a:cubicBezTo>
                    <a:pt x="173736" y="33909"/>
                    <a:pt x="33909" y="168910"/>
                    <a:pt x="33909" y="333883"/>
                  </a:cubicBezTo>
                  <a:close/>
                </a:path>
              </a:pathLst>
            </a:custGeom>
            <a:solidFill>
              <a:srgbClr val="F1F2EF"/>
            </a:solidFill>
          </p:spPr>
          <p:txBody>
            <a:bodyPr/>
            <a:lstStyle/>
            <a:p>
              <a:endParaRPr lang="en-US"/>
            </a:p>
          </p:txBody>
        </p:sp>
      </p:grpSp>
      <p:grpSp>
        <p:nvGrpSpPr>
          <p:cNvPr id="172" name="Group 172"/>
          <p:cNvGrpSpPr/>
          <p:nvPr/>
        </p:nvGrpSpPr>
        <p:grpSpPr>
          <a:xfrm>
            <a:off x="14973405" y="7574142"/>
            <a:ext cx="2618842" cy="475488"/>
            <a:chOff x="0" y="0"/>
            <a:chExt cx="3491789" cy="633984"/>
          </a:xfrm>
        </p:grpSpPr>
        <p:sp>
          <p:nvSpPr>
            <p:cNvPr id="173" name="Freeform 173"/>
            <p:cNvSpPr/>
            <p:nvPr/>
          </p:nvSpPr>
          <p:spPr>
            <a:xfrm>
              <a:off x="0" y="0"/>
              <a:ext cx="3491789" cy="633984"/>
            </a:xfrm>
            <a:custGeom>
              <a:avLst/>
              <a:gdLst/>
              <a:ahLst/>
              <a:cxnLst/>
              <a:rect l="l" t="t" r="r" b="b"/>
              <a:pathLst>
                <a:path w="3491789" h="633984">
                  <a:moveTo>
                    <a:pt x="0" y="0"/>
                  </a:moveTo>
                  <a:lnTo>
                    <a:pt x="3491789" y="0"/>
                  </a:lnTo>
                  <a:lnTo>
                    <a:pt x="3491789" y="633984"/>
                  </a:lnTo>
                  <a:lnTo>
                    <a:pt x="0" y="633984"/>
                  </a:lnTo>
                  <a:close/>
                </a:path>
              </a:pathLst>
            </a:custGeom>
            <a:blipFill>
              <a:blip r:embed="rId3">
                <a:alphaModFix amt="0"/>
              </a:blip>
              <a:stretch>
                <a:fillRect t="-57317" b="-57317"/>
              </a:stretch>
            </a:blipFill>
          </p:spPr>
          <p:txBody>
            <a:bodyPr/>
            <a:lstStyle/>
            <a:p>
              <a:endParaRPr lang="en-US"/>
            </a:p>
          </p:txBody>
        </p:sp>
        <p:sp>
          <p:nvSpPr>
            <p:cNvPr id="174" name="TextBox 174"/>
            <p:cNvSpPr txBox="1"/>
            <p:nvPr/>
          </p:nvSpPr>
          <p:spPr>
            <a:xfrm>
              <a:off x="0" y="-19050"/>
              <a:ext cx="3491789" cy="653034"/>
            </a:xfrm>
            <a:prstGeom prst="rect">
              <a:avLst/>
            </a:prstGeom>
          </p:spPr>
          <p:txBody>
            <a:bodyPr lIns="0" tIns="0" rIns="0" bIns="0" rtlCol="0" anchor="ctr"/>
            <a:lstStyle/>
            <a:p>
              <a:pPr algn="ctr">
                <a:lnSpc>
                  <a:spcPts val="2039"/>
                </a:lnSpc>
              </a:pPr>
              <a:r>
                <a:rPr lang="en-US" sz="1700">
                  <a:solidFill>
                    <a:srgbClr val="1F2D2B"/>
                  </a:solidFill>
                  <a:latin typeface="Arial"/>
                  <a:ea typeface="Arial"/>
                  <a:cs typeface="Arial"/>
                  <a:sym typeface="Arial"/>
                </a:rPr>
                <a:t>Marketplace APIs</a:t>
              </a:r>
            </a:p>
          </p:txBody>
        </p:sp>
      </p:grpSp>
      <p:sp>
        <p:nvSpPr>
          <p:cNvPr id="175" name="TextBox 175"/>
          <p:cNvSpPr txBox="1"/>
          <p:nvPr/>
        </p:nvSpPr>
        <p:spPr>
          <a:xfrm>
            <a:off x="977903" y="1730378"/>
            <a:ext cx="5573316" cy="27432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PRODUCTION ENGINEERING &amp; COST CONTROL</a:t>
            </a:r>
          </a:p>
        </p:txBody>
      </p:sp>
      <p:grpSp>
        <p:nvGrpSpPr>
          <p:cNvPr id="176" name="Group 176"/>
          <p:cNvGrpSpPr/>
          <p:nvPr/>
        </p:nvGrpSpPr>
        <p:grpSpPr>
          <a:xfrm>
            <a:off x="-6348" y="508820"/>
            <a:ext cx="18288000" cy="811161"/>
            <a:chOff x="0" y="0"/>
            <a:chExt cx="4816593" cy="213639"/>
          </a:xfrm>
        </p:grpSpPr>
        <p:sp>
          <p:nvSpPr>
            <p:cNvPr id="177" name="Freeform 177"/>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178" name="TextBox 178"/>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179" name="Group 179"/>
          <p:cNvGrpSpPr/>
          <p:nvPr/>
        </p:nvGrpSpPr>
        <p:grpSpPr>
          <a:xfrm>
            <a:off x="787403" y="617597"/>
            <a:ext cx="2111216" cy="631706"/>
            <a:chOff x="0" y="0"/>
            <a:chExt cx="2814955" cy="842275"/>
          </a:xfrm>
        </p:grpSpPr>
        <p:sp>
          <p:nvSpPr>
            <p:cNvPr id="180" name="Freeform 180"/>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4"/>
              <a:stretch>
                <a:fillRect/>
              </a:stretch>
            </a:blipFill>
          </p:spPr>
          <p:txBody>
            <a:bodyPr/>
            <a:lstStyle/>
            <a:p>
              <a:endParaRPr lang="en-US"/>
            </a:p>
          </p:txBody>
        </p:sp>
        <p:sp>
          <p:nvSpPr>
            <p:cNvPr id="181" name="TextBox 181"/>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182" name="Group 182"/>
          <p:cNvGrpSpPr/>
          <p:nvPr/>
        </p:nvGrpSpPr>
        <p:grpSpPr>
          <a:xfrm>
            <a:off x="0" y="0"/>
            <a:ext cx="18288000" cy="550922"/>
            <a:chOff x="0" y="0"/>
            <a:chExt cx="24384000" cy="734563"/>
          </a:xfrm>
        </p:grpSpPr>
        <p:grpSp>
          <p:nvGrpSpPr>
            <p:cNvPr id="183" name="Group 183"/>
            <p:cNvGrpSpPr/>
            <p:nvPr/>
          </p:nvGrpSpPr>
          <p:grpSpPr>
            <a:xfrm>
              <a:off x="0" y="0"/>
              <a:ext cx="24384000" cy="734563"/>
              <a:chOff x="0" y="0"/>
              <a:chExt cx="4816593" cy="145099"/>
            </a:xfrm>
          </p:grpSpPr>
          <p:sp>
            <p:nvSpPr>
              <p:cNvPr id="184" name="Freeform 184"/>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185" name="TextBox 185"/>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186" name="Freeform 186"/>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5"/>
              <a:stretch>
                <a:fillRect t="-8011" b="-8011"/>
              </a:stretch>
            </a:blipFill>
          </p:spPr>
          <p:txBody>
            <a:bodyPr/>
            <a:lstStyle/>
            <a:p>
              <a:endParaRPr lang="en-US"/>
            </a:p>
          </p:txBody>
        </p:sp>
        <p:sp>
          <p:nvSpPr>
            <p:cNvPr id="187" name="Freeform 187"/>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6"/>
              <a:stretch>
                <a:fillRect t="-8011" b="-8011"/>
              </a:stretch>
            </a:blipFill>
          </p:spPr>
          <p:txBody>
            <a:bodyPr/>
            <a:lstStyle/>
            <a:p>
              <a:endParaRPr lang="en-US"/>
            </a:p>
          </p:txBody>
        </p:sp>
        <p:sp>
          <p:nvSpPr>
            <p:cNvPr id="188" name="Freeform 188"/>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7"/>
              <a:stretch>
                <a:fillRect t="-185025" r="-497" b="-182852"/>
              </a:stretch>
            </a:blipFill>
          </p:spPr>
          <p:txBody>
            <a:bodyPr/>
            <a:lstStyle/>
            <a:p>
              <a:endParaRPr lang="en-US"/>
            </a:p>
          </p:txBody>
        </p:sp>
      </p:grpSp>
      <p:sp>
        <p:nvSpPr>
          <p:cNvPr id="189" name="TextBox 189"/>
          <p:cNvSpPr txBox="1"/>
          <p:nvPr/>
        </p:nvSpPr>
        <p:spPr>
          <a:xfrm>
            <a:off x="977903" y="9858246"/>
            <a:ext cx="6507480" cy="257175"/>
          </a:xfrm>
          <a:prstGeom prst="rect">
            <a:avLst/>
          </a:prstGeom>
        </p:spPr>
        <p:txBody>
          <a:bodyPr lIns="0" tIns="0" rIns="0" bIns="0" rtlCol="0" anchor="t">
            <a:spAutoFit/>
          </a:bodyPr>
          <a:lstStyle/>
          <a:p>
            <a:pPr algn="ctr">
              <a:lnSpc>
                <a:spcPts val="1920"/>
              </a:lnSpc>
              <a:spcBef>
                <a:spcPct val="0"/>
              </a:spcBef>
            </a:pPr>
            <a:r>
              <a:rPr lang="en-US" sz="1600">
                <a:solidFill>
                  <a:srgbClr val="9AA09C"/>
                </a:solidFill>
                <a:latin typeface="Arial"/>
                <a:ea typeface="Arial"/>
                <a:cs typeface="Arial"/>
                <a:sym typeface="Arial"/>
              </a:rPr>
              <a:t>Financial projections are forward-looking estimates · USD 1 = RM 3.98</a:t>
            </a:r>
          </a:p>
        </p:txBody>
      </p:sp>
      <p:sp>
        <p:nvSpPr>
          <p:cNvPr id="190" name="TextBox 190"/>
          <p:cNvSpPr txBox="1"/>
          <p:nvPr/>
        </p:nvSpPr>
        <p:spPr>
          <a:xfrm>
            <a:off x="14468951" y="802005"/>
            <a:ext cx="2654856"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09 / 12 · BUSINESS MODEL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949004" y="3810953"/>
            <a:ext cx="7817482" cy="2078355"/>
            <a:chOff x="0" y="0"/>
            <a:chExt cx="10423309" cy="2771140"/>
          </a:xfrm>
        </p:grpSpPr>
        <p:sp>
          <p:nvSpPr>
            <p:cNvPr id="6" name="Freeform 6"/>
            <p:cNvSpPr/>
            <p:nvPr/>
          </p:nvSpPr>
          <p:spPr>
            <a:xfrm>
              <a:off x="4699" y="4699"/>
              <a:ext cx="10414000" cy="2761742"/>
            </a:xfrm>
            <a:custGeom>
              <a:avLst/>
              <a:gdLst/>
              <a:ahLst/>
              <a:cxnLst/>
              <a:rect l="l" t="t" r="r" b="b"/>
              <a:pathLst>
                <a:path w="10414000" h="2761742">
                  <a:moveTo>
                    <a:pt x="0" y="0"/>
                  </a:moveTo>
                  <a:lnTo>
                    <a:pt x="10414000" y="0"/>
                  </a:lnTo>
                  <a:lnTo>
                    <a:pt x="10414000" y="2761742"/>
                  </a:lnTo>
                  <a:lnTo>
                    <a:pt x="0" y="2761742"/>
                  </a:lnTo>
                  <a:close/>
                </a:path>
              </a:pathLst>
            </a:custGeom>
            <a:solidFill>
              <a:srgbClr val="FFFFFF"/>
            </a:solidFill>
          </p:spPr>
          <p:txBody>
            <a:bodyPr/>
            <a:lstStyle/>
            <a:p>
              <a:endParaRPr lang="en-US"/>
            </a:p>
          </p:txBody>
        </p:sp>
        <p:sp>
          <p:nvSpPr>
            <p:cNvPr id="7" name="Freeform 7"/>
            <p:cNvSpPr/>
            <p:nvPr/>
          </p:nvSpPr>
          <p:spPr>
            <a:xfrm>
              <a:off x="0" y="0"/>
              <a:ext cx="10423398" cy="2771140"/>
            </a:xfrm>
            <a:custGeom>
              <a:avLst/>
              <a:gdLst/>
              <a:ahLst/>
              <a:cxnLst/>
              <a:rect l="l" t="t" r="r" b="b"/>
              <a:pathLst>
                <a:path w="10423398" h="2771140">
                  <a:moveTo>
                    <a:pt x="4699" y="0"/>
                  </a:moveTo>
                  <a:lnTo>
                    <a:pt x="10418699" y="0"/>
                  </a:lnTo>
                  <a:cubicBezTo>
                    <a:pt x="10421239" y="0"/>
                    <a:pt x="10423398" y="2032"/>
                    <a:pt x="10423398" y="4699"/>
                  </a:cubicBezTo>
                  <a:lnTo>
                    <a:pt x="10423398" y="2766441"/>
                  </a:lnTo>
                  <a:cubicBezTo>
                    <a:pt x="10423398" y="2768981"/>
                    <a:pt x="10421366" y="2771140"/>
                    <a:pt x="10418699" y="2771140"/>
                  </a:cubicBezTo>
                  <a:lnTo>
                    <a:pt x="4699" y="2771140"/>
                  </a:lnTo>
                  <a:cubicBezTo>
                    <a:pt x="2159" y="2771140"/>
                    <a:pt x="0" y="2769108"/>
                    <a:pt x="0" y="2766441"/>
                  </a:cubicBezTo>
                  <a:lnTo>
                    <a:pt x="0" y="4699"/>
                  </a:lnTo>
                  <a:cubicBezTo>
                    <a:pt x="0" y="2032"/>
                    <a:pt x="2032" y="0"/>
                    <a:pt x="4699" y="0"/>
                  </a:cubicBezTo>
                  <a:moveTo>
                    <a:pt x="4699" y="9271"/>
                  </a:moveTo>
                  <a:lnTo>
                    <a:pt x="4699" y="4699"/>
                  </a:lnTo>
                  <a:lnTo>
                    <a:pt x="9271" y="4699"/>
                  </a:lnTo>
                  <a:lnTo>
                    <a:pt x="9271" y="2766441"/>
                  </a:lnTo>
                  <a:lnTo>
                    <a:pt x="4699" y="2766441"/>
                  </a:lnTo>
                  <a:lnTo>
                    <a:pt x="4699" y="2761742"/>
                  </a:lnTo>
                  <a:lnTo>
                    <a:pt x="10418699" y="2761742"/>
                  </a:lnTo>
                  <a:lnTo>
                    <a:pt x="10418699" y="2766441"/>
                  </a:lnTo>
                  <a:lnTo>
                    <a:pt x="10414000" y="2766441"/>
                  </a:lnTo>
                  <a:lnTo>
                    <a:pt x="10414000" y="4699"/>
                  </a:lnTo>
                  <a:lnTo>
                    <a:pt x="10418699" y="4699"/>
                  </a:lnTo>
                  <a:lnTo>
                    <a:pt x="10418699" y="9271"/>
                  </a:lnTo>
                  <a:lnTo>
                    <a:pt x="4699" y="9271"/>
                  </a:lnTo>
                  <a:close/>
                </a:path>
              </a:pathLst>
            </a:custGeom>
            <a:solidFill>
              <a:srgbClr val="D9E5E1"/>
            </a:solidFill>
          </p:spPr>
          <p:txBody>
            <a:bodyPr/>
            <a:lstStyle/>
            <a:p>
              <a:endParaRPr lang="en-US"/>
            </a:p>
          </p:txBody>
        </p:sp>
      </p:grpSp>
      <p:grpSp>
        <p:nvGrpSpPr>
          <p:cNvPr id="8" name="Group 8"/>
          <p:cNvGrpSpPr/>
          <p:nvPr/>
        </p:nvGrpSpPr>
        <p:grpSpPr>
          <a:xfrm>
            <a:off x="952500" y="6152512"/>
            <a:ext cx="7810500" cy="9525"/>
            <a:chOff x="0" y="0"/>
            <a:chExt cx="10414000" cy="12700"/>
          </a:xfrm>
        </p:grpSpPr>
        <p:sp>
          <p:nvSpPr>
            <p:cNvPr id="9" name="Freeform 9"/>
            <p:cNvSpPr/>
            <p:nvPr/>
          </p:nvSpPr>
          <p:spPr>
            <a:xfrm>
              <a:off x="0" y="0"/>
              <a:ext cx="10414000" cy="12700"/>
            </a:xfrm>
            <a:custGeom>
              <a:avLst/>
              <a:gdLst/>
              <a:ahLst/>
              <a:cxnLst/>
              <a:rect l="l" t="t" r="r" b="b"/>
              <a:pathLst>
                <a:path w="10414000" h="12700">
                  <a:moveTo>
                    <a:pt x="0" y="0"/>
                  </a:moveTo>
                  <a:lnTo>
                    <a:pt x="10414000" y="0"/>
                  </a:lnTo>
                  <a:lnTo>
                    <a:pt x="10414000" y="12700"/>
                  </a:lnTo>
                  <a:lnTo>
                    <a:pt x="0" y="12700"/>
                  </a:lnTo>
                  <a:close/>
                </a:path>
              </a:pathLst>
            </a:custGeom>
            <a:solidFill>
              <a:srgbClr val="D9E5E1"/>
            </a:solidFill>
          </p:spPr>
          <p:txBody>
            <a:bodyPr/>
            <a:lstStyle/>
            <a:p>
              <a:endParaRPr lang="en-US"/>
            </a:p>
          </p:txBody>
        </p:sp>
      </p:grpSp>
      <p:grpSp>
        <p:nvGrpSpPr>
          <p:cNvPr id="10" name="Group 10"/>
          <p:cNvGrpSpPr/>
          <p:nvPr/>
        </p:nvGrpSpPr>
        <p:grpSpPr>
          <a:xfrm>
            <a:off x="952500" y="10439562"/>
            <a:ext cx="16383000" cy="9525"/>
            <a:chOff x="0" y="0"/>
            <a:chExt cx="21844000" cy="12700"/>
          </a:xfrm>
        </p:grpSpPr>
        <p:sp>
          <p:nvSpPr>
            <p:cNvPr id="11" name="Freeform 11"/>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D9E5E1"/>
            </a:solidFill>
          </p:spPr>
          <p:txBody>
            <a:bodyPr/>
            <a:lstStyle/>
            <a:p>
              <a:endParaRPr lang="en-US"/>
            </a:p>
          </p:txBody>
        </p:sp>
      </p:grpSp>
      <p:grpSp>
        <p:nvGrpSpPr>
          <p:cNvPr id="12" name="Group 12"/>
          <p:cNvGrpSpPr/>
          <p:nvPr/>
        </p:nvGrpSpPr>
        <p:grpSpPr>
          <a:xfrm>
            <a:off x="952500" y="8425793"/>
            <a:ext cx="16383000" cy="9525"/>
            <a:chOff x="0" y="0"/>
            <a:chExt cx="21844000" cy="12700"/>
          </a:xfrm>
        </p:grpSpPr>
        <p:sp>
          <p:nvSpPr>
            <p:cNvPr id="13" name="Freeform 13"/>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D9E5E1"/>
            </a:solidFill>
          </p:spPr>
          <p:txBody>
            <a:bodyPr/>
            <a:lstStyle/>
            <a:p>
              <a:endParaRPr lang="en-US"/>
            </a:p>
          </p:txBody>
        </p:sp>
      </p:grpSp>
      <p:grpSp>
        <p:nvGrpSpPr>
          <p:cNvPr id="14" name="Group 14"/>
          <p:cNvGrpSpPr/>
          <p:nvPr/>
        </p:nvGrpSpPr>
        <p:grpSpPr>
          <a:xfrm>
            <a:off x="5041268" y="8432775"/>
            <a:ext cx="9525" cy="1478918"/>
            <a:chOff x="0" y="0"/>
            <a:chExt cx="12700" cy="1971891"/>
          </a:xfrm>
        </p:grpSpPr>
        <p:sp>
          <p:nvSpPr>
            <p:cNvPr id="15" name="Freeform 15"/>
            <p:cNvSpPr/>
            <p:nvPr/>
          </p:nvSpPr>
          <p:spPr>
            <a:xfrm>
              <a:off x="0" y="0"/>
              <a:ext cx="12700" cy="1971929"/>
            </a:xfrm>
            <a:custGeom>
              <a:avLst/>
              <a:gdLst/>
              <a:ahLst/>
              <a:cxnLst/>
              <a:rect l="l" t="t" r="r" b="b"/>
              <a:pathLst>
                <a:path w="12700" h="1971929">
                  <a:moveTo>
                    <a:pt x="0" y="0"/>
                  </a:moveTo>
                  <a:lnTo>
                    <a:pt x="12700" y="0"/>
                  </a:lnTo>
                  <a:lnTo>
                    <a:pt x="12700" y="1971929"/>
                  </a:lnTo>
                  <a:lnTo>
                    <a:pt x="0" y="1971929"/>
                  </a:lnTo>
                  <a:close/>
                </a:path>
              </a:pathLst>
            </a:custGeom>
            <a:solidFill>
              <a:srgbClr val="D9E5E1"/>
            </a:solidFill>
          </p:spPr>
          <p:txBody>
            <a:bodyPr/>
            <a:lstStyle/>
            <a:p>
              <a:endParaRPr lang="en-US"/>
            </a:p>
          </p:txBody>
        </p:sp>
      </p:grpSp>
      <p:grpSp>
        <p:nvGrpSpPr>
          <p:cNvPr id="16" name="Group 16"/>
          <p:cNvGrpSpPr/>
          <p:nvPr/>
        </p:nvGrpSpPr>
        <p:grpSpPr>
          <a:xfrm>
            <a:off x="9137018" y="8432775"/>
            <a:ext cx="9525" cy="1478918"/>
            <a:chOff x="0" y="0"/>
            <a:chExt cx="12700" cy="1971891"/>
          </a:xfrm>
        </p:grpSpPr>
        <p:sp>
          <p:nvSpPr>
            <p:cNvPr id="17" name="Freeform 17"/>
            <p:cNvSpPr/>
            <p:nvPr/>
          </p:nvSpPr>
          <p:spPr>
            <a:xfrm>
              <a:off x="0" y="0"/>
              <a:ext cx="12700" cy="1971929"/>
            </a:xfrm>
            <a:custGeom>
              <a:avLst/>
              <a:gdLst/>
              <a:ahLst/>
              <a:cxnLst/>
              <a:rect l="l" t="t" r="r" b="b"/>
              <a:pathLst>
                <a:path w="12700" h="1971929">
                  <a:moveTo>
                    <a:pt x="0" y="0"/>
                  </a:moveTo>
                  <a:lnTo>
                    <a:pt x="12700" y="0"/>
                  </a:lnTo>
                  <a:lnTo>
                    <a:pt x="12700" y="1971929"/>
                  </a:lnTo>
                  <a:lnTo>
                    <a:pt x="0" y="1971929"/>
                  </a:lnTo>
                  <a:close/>
                </a:path>
              </a:pathLst>
            </a:custGeom>
            <a:solidFill>
              <a:srgbClr val="D9E5E1"/>
            </a:solidFill>
          </p:spPr>
          <p:txBody>
            <a:bodyPr/>
            <a:lstStyle/>
            <a:p>
              <a:endParaRPr lang="en-US"/>
            </a:p>
          </p:txBody>
        </p:sp>
      </p:grpSp>
      <p:grpSp>
        <p:nvGrpSpPr>
          <p:cNvPr id="18" name="Group 18"/>
          <p:cNvGrpSpPr/>
          <p:nvPr/>
        </p:nvGrpSpPr>
        <p:grpSpPr>
          <a:xfrm>
            <a:off x="13232768" y="8432775"/>
            <a:ext cx="9525" cy="1478918"/>
            <a:chOff x="0" y="0"/>
            <a:chExt cx="12700" cy="1971891"/>
          </a:xfrm>
        </p:grpSpPr>
        <p:sp>
          <p:nvSpPr>
            <p:cNvPr id="19" name="Freeform 19"/>
            <p:cNvSpPr/>
            <p:nvPr/>
          </p:nvSpPr>
          <p:spPr>
            <a:xfrm>
              <a:off x="0" y="0"/>
              <a:ext cx="12700" cy="1971929"/>
            </a:xfrm>
            <a:custGeom>
              <a:avLst/>
              <a:gdLst/>
              <a:ahLst/>
              <a:cxnLst/>
              <a:rect l="l" t="t" r="r" b="b"/>
              <a:pathLst>
                <a:path w="12700" h="1971929">
                  <a:moveTo>
                    <a:pt x="0" y="0"/>
                  </a:moveTo>
                  <a:lnTo>
                    <a:pt x="12700" y="0"/>
                  </a:lnTo>
                  <a:lnTo>
                    <a:pt x="12700" y="1971929"/>
                  </a:lnTo>
                  <a:lnTo>
                    <a:pt x="0" y="1971929"/>
                  </a:lnTo>
                  <a:close/>
                </a:path>
              </a:pathLst>
            </a:custGeom>
            <a:solidFill>
              <a:srgbClr val="D9E5E1"/>
            </a:solidFill>
          </p:spPr>
          <p:txBody>
            <a:bodyPr/>
            <a:lstStyle/>
            <a:p>
              <a:endParaRPr lang="en-US"/>
            </a:p>
          </p:txBody>
        </p:sp>
      </p:grpSp>
      <p:grpSp>
        <p:nvGrpSpPr>
          <p:cNvPr id="20" name="Group 20"/>
          <p:cNvGrpSpPr/>
          <p:nvPr/>
        </p:nvGrpSpPr>
        <p:grpSpPr>
          <a:xfrm>
            <a:off x="787403" y="617597"/>
            <a:ext cx="2111216" cy="631706"/>
            <a:chOff x="0" y="0"/>
            <a:chExt cx="2814955" cy="842275"/>
          </a:xfrm>
        </p:grpSpPr>
        <p:sp>
          <p:nvSpPr>
            <p:cNvPr id="21" name="Freeform 21"/>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22" name="TextBox 22"/>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23" name="Group 23"/>
          <p:cNvGrpSpPr/>
          <p:nvPr/>
        </p:nvGrpSpPr>
        <p:grpSpPr>
          <a:xfrm>
            <a:off x="0" y="0"/>
            <a:ext cx="18288000" cy="550922"/>
            <a:chOff x="0" y="0"/>
            <a:chExt cx="24384000" cy="734563"/>
          </a:xfrm>
        </p:grpSpPr>
        <p:grpSp>
          <p:nvGrpSpPr>
            <p:cNvPr id="24" name="Group 24"/>
            <p:cNvGrpSpPr/>
            <p:nvPr/>
          </p:nvGrpSpPr>
          <p:grpSpPr>
            <a:xfrm>
              <a:off x="0" y="0"/>
              <a:ext cx="24384000" cy="734563"/>
              <a:chOff x="0" y="0"/>
              <a:chExt cx="4816593" cy="145099"/>
            </a:xfrm>
          </p:grpSpPr>
          <p:sp>
            <p:nvSpPr>
              <p:cNvPr id="25" name="Freeform 25"/>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26" name="TextBox 26"/>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27" name="Freeform 27"/>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28" name="Freeform 28"/>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29" name="Freeform 29"/>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grpSp>
        <p:nvGrpSpPr>
          <p:cNvPr id="30" name="Group 30"/>
          <p:cNvGrpSpPr/>
          <p:nvPr/>
        </p:nvGrpSpPr>
        <p:grpSpPr>
          <a:xfrm>
            <a:off x="9389750" y="5528310"/>
            <a:ext cx="7869550" cy="2811758"/>
            <a:chOff x="0" y="0"/>
            <a:chExt cx="2072639" cy="740545"/>
          </a:xfrm>
        </p:grpSpPr>
        <p:sp>
          <p:nvSpPr>
            <p:cNvPr id="31" name="Freeform 31"/>
            <p:cNvSpPr/>
            <p:nvPr/>
          </p:nvSpPr>
          <p:spPr>
            <a:xfrm>
              <a:off x="0" y="0"/>
              <a:ext cx="2072639" cy="740545"/>
            </a:xfrm>
            <a:custGeom>
              <a:avLst/>
              <a:gdLst/>
              <a:ahLst/>
              <a:cxnLst/>
              <a:rect l="l" t="t" r="r" b="b"/>
              <a:pathLst>
                <a:path w="2072639" h="740545">
                  <a:moveTo>
                    <a:pt x="0" y="0"/>
                  </a:moveTo>
                  <a:lnTo>
                    <a:pt x="2072639" y="0"/>
                  </a:lnTo>
                  <a:lnTo>
                    <a:pt x="2072639" y="740545"/>
                  </a:lnTo>
                  <a:lnTo>
                    <a:pt x="0" y="740545"/>
                  </a:lnTo>
                  <a:close/>
                </a:path>
              </a:pathLst>
            </a:custGeom>
            <a:solidFill>
              <a:srgbClr val="FFFFFF"/>
            </a:solidFill>
          </p:spPr>
          <p:txBody>
            <a:bodyPr/>
            <a:lstStyle/>
            <a:p>
              <a:endParaRPr lang="en-US"/>
            </a:p>
          </p:txBody>
        </p:sp>
        <p:sp>
          <p:nvSpPr>
            <p:cNvPr id="32" name="TextBox 32"/>
            <p:cNvSpPr txBox="1"/>
            <p:nvPr/>
          </p:nvSpPr>
          <p:spPr>
            <a:xfrm>
              <a:off x="0" y="-19050"/>
              <a:ext cx="2072639" cy="759595"/>
            </a:xfrm>
            <a:prstGeom prst="rect">
              <a:avLst/>
            </a:prstGeom>
          </p:spPr>
          <p:txBody>
            <a:bodyPr lIns="50800" tIns="50800" rIns="50800" bIns="50800" rtlCol="0" anchor="ctr"/>
            <a:lstStyle/>
            <a:p>
              <a:pPr algn="ctr">
                <a:lnSpc>
                  <a:spcPts val="2040"/>
                </a:lnSpc>
              </a:pPr>
              <a:endParaRPr/>
            </a:p>
          </p:txBody>
        </p:sp>
      </p:grpSp>
      <p:sp>
        <p:nvSpPr>
          <p:cNvPr id="33" name="Freeform 33"/>
          <p:cNvSpPr/>
          <p:nvPr/>
        </p:nvSpPr>
        <p:spPr>
          <a:xfrm>
            <a:off x="10511469" y="5523071"/>
            <a:ext cx="5698507" cy="2811758"/>
          </a:xfrm>
          <a:custGeom>
            <a:avLst/>
            <a:gdLst/>
            <a:ahLst/>
            <a:cxnLst/>
            <a:rect l="l" t="t" r="r" b="b"/>
            <a:pathLst>
              <a:path w="5698507" h="2811758">
                <a:moveTo>
                  <a:pt x="0" y="0"/>
                </a:moveTo>
                <a:lnTo>
                  <a:pt x="5698507" y="0"/>
                </a:lnTo>
                <a:lnTo>
                  <a:pt x="5698507" y="2811758"/>
                </a:lnTo>
                <a:lnTo>
                  <a:pt x="0" y="2811758"/>
                </a:lnTo>
                <a:lnTo>
                  <a:pt x="0" y="0"/>
                </a:lnTo>
                <a:close/>
              </a:path>
            </a:pathLst>
          </a:custGeom>
          <a:blipFill>
            <a:blip r:embed="rId7"/>
            <a:stretch>
              <a:fillRect t="-11293" r="-1147" b="-4015"/>
            </a:stretch>
          </a:blipFill>
        </p:spPr>
        <p:txBody>
          <a:bodyPr/>
          <a:lstStyle/>
          <a:p>
            <a:endParaRPr lang="en-US"/>
          </a:p>
        </p:txBody>
      </p:sp>
      <p:sp>
        <p:nvSpPr>
          <p:cNvPr id="34" name="TextBox 34"/>
          <p:cNvSpPr txBox="1"/>
          <p:nvPr/>
        </p:nvSpPr>
        <p:spPr>
          <a:xfrm>
            <a:off x="15166343" y="802005"/>
            <a:ext cx="2034540"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10 / 12 · VALIDATION</a:t>
            </a:r>
          </a:p>
        </p:txBody>
      </p:sp>
      <p:sp>
        <p:nvSpPr>
          <p:cNvPr id="35" name="TextBox 35"/>
          <p:cNvSpPr txBox="1"/>
          <p:nvPr/>
        </p:nvSpPr>
        <p:spPr>
          <a:xfrm>
            <a:off x="977903" y="1720853"/>
            <a:ext cx="16823693" cy="28575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VALIDATION &amp; FEASIBILITY</a:t>
            </a:r>
          </a:p>
        </p:txBody>
      </p:sp>
      <p:sp>
        <p:nvSpPr>
          <p:cNvPr id="36" name="TextBox 36"/>
          <p:cNvSpPr txBox="1"/>
          <p:nvPr/>
        </p:nvSpPr>
        <p:spPr>
          <a:xfrm>
            <a:off x="977903" y="2314575"/>
            <a:ext cx="14665328" cy="6407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Real pain. Real users. Realistic path.</a:t>
            </a:r>
          </a:p>
        </p:txBody>
      </p:sp>
      <p:sp>
        <p:nvSpPr>
          <p:cNvPr id="37" name="TextBox 37"/>
          <p:cNvSpPr txBox="1"/>
          <p:nvPr/>
        </p:nvSpPr>
        <p:spPr>
          <a:xfrm>
            <a:off x="977903" y="3329940"/>
            <a:ext cx="7994018" cy="306705"/>
          </a:xfrm>
          <a:prstGeom prst="rect">
            <a:avLst/>
          </a:prstGeom>
        </p:spPr>
        <p:txBody>
          <a:bodyPr lIns="0" tIns="0" rIns="0" bIns="0" rtlCol="0" anchor="t">
            <a:spAutoFit/>
          </a:bodyPr>
          <a:lstStyle/>
          <a:p>
            <a:pPr algn="l">
              <a:lnSpc>
                <a:spcPts val="2160"/>
              </a:lnSpc>
            </a:pPr>
            <a:r>
              <a:rPr lang="en-US" sz="1800" b="1" spc="107">
                <a:solidFill>
                  <a:srgbClr val="0F766E"/>
                </a:solidFill>
                <a:latin typeface="Arial Bold"/>
                <a:ea typeface="Arial Bold"/>
                <a:cs typeface="Arial Bold"/>
                <a:sym typeface="Arial Bold"/>
              </a:rPr>
              <a:t>PROBLEM-SOLUTION FIT</a:t>
            </a:r>
          </a:p>
        </p:txBody>
      </p:sp>
      <p:sp>
        <p:nvSpPr>
          <p:cNvPr id="38" name="TextBox 38"/>
          <p:cNvSpPr txBox="1"/>
          <p:nvPr/>
        </p:nvSpPr>
        <p:spPr>
          <a:xfrm>
            <a:off x="1251585" y="5394960"/>
            <a:ext cx="2834640" cy="247650"/>
          </a:xfrm>
          <a:prstGeom prst="rect">
            <a:avLst/>
          </a:prstGeom>
        </p:spPr>
        <p:txBody>
          <a:bodyPr lIns="0" tIns="0" rIns="0" bIns="0" rtlCol="0" anchor="t">
            <a:spAutoFit/>
          </a:bodyPr>
          <a:lstStyle/>
          <a:p>
            <a:pPr algn="l">
              <a:lnSpc>
                <a:spcPts val="1800"/>
              </a:lnSpc>
            </a:pPr>
            <a:r>
              <a:rPr lang="en-US" sz="1500">
                <a:solidFill>
                  <a:srgbClr val="8AA19C"/>
                </a:solidFill>
                <a:latin typeface="Arial"/>
                <a:ea typeface="Arial"/>
                <a:cs typeface="Arial"/>
                <a:sym typeface="Arial"/>
              </a:rPr>
              <a:t>— INTERVIEWED SME SELLER</a:t>
            </a:r>
          </a:p>
        </p:txBody>
      </p:sp>
      <p:sp>
        <p:nvSpPr>
          <p:cNvPr id="39" name="TextBox 39"/>
          <p:cNvSpPr txBox="1"/>
          <p:nvPr/>
        </p:nvSpPr>
        <p:spPr>
          <a:xfrm>
            <a:off x="977903" y="6470647"/>
            <a:ext cx="976908" cy="27432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SURVEY</a:t>
            </a:r>
          </a:p>
        </p:txBody>
      </p:sp>
      <p:sp>
        <p:nvSpPr>
          <p:cNvPr id="40" name="TextBox 40"/>
          <p:cNvSpPr txBox="1"/>
          <p:nvPr/>
        </p:nvSpPr>
        <p:spPr>
          <a:xfrm>
            <a:off x="977903" y="6892928"/>
            <a:ext cx="7994018"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Validation data</a:t>
            </a:r>
          </a:p>
        </p:txBody>
      </p:sp>
      <p:sp>
        <p:nvSpPr>
          <p:cNvPr id="41" name="TextBox 41"/>
          <p:cNvSpPr txBox="1"/>
          <p:nvPr/>
        </p:nvSpPr>
        <p:spPr>
          <a:xfrm>
            <a:off x="977903" y="7320277"/>
            <a:ext cx="7994018" cy="354308"/>
          </a:xfrm>
          <a:prstGeom prst="rect">
            <a:avLst/>
          </a:prstGeom>
        </p:spPr>
        <p:txBody>
          <a:bodyPr lIns="0" tIns="0" rIns="0" bIns="0" rtlCol="0" anchor="t">
            <a:spAutoFit/>
          </a:bodyPr>
          <a:lstStyle/>
          <a:p>
            <a:pPr algn="l">
              <a:lnSpc>
                <a:spcPts val="2824"/>
              </a:lnSpc>
            </a:pPr>
            <a:r>
              <a:rPr lang="en-US" sz="1803">
                <a:solidFill>
                  <a:srgbClr val="526664"/>
                </a:solidFill>
                <a:latin typeface="Arial"/>
                <a:ea typeface="Arial"/>
                <a:cs typeface="Arial"/>
                <a:sym typeface="Arial"/>
              </a:rPr>
              <a:t>SME sellers surveyed · top pain ranked: response time and consistency.</a:t>
            </a:r>
          </a:p>
        </p:txBody>
      </p:sp>
      <p:sp>
        <p:nvSpPr>
          <p:cNvPr id="42" name="TextBox 42"/>
          <p:cNvSpPr txBox="1"/>
          <p:nvPr/>
        </p:nvSpPr>
        <p:spPr>
          <a:xfrm>
            <a:off x="9363713" y="3323587"/>
            <a:ext cx="7994018" cy="306705"/>
          </a:xfrm>
          <a:prstGeom prst="rect">
            <a:avLst/>
          </a:prstGeom>
        </p:spPr>
        <p:txBody>
          <a:bodyPr lIns="0" tIns="0" rIns="0" bIns="0" rtlCol="0" anchor="t">
            <a:spAutoFit/>
          </a:bodyPr>
          <a:lstStyle/>
          <a:p>
            <a:pPr algn="l">
              <a:lnSpc>
                <a:spcPts val="2160"/>
              </a:lnSpc>
            </a:pPr>
            <a:r>
              <a:rPr lang="en-US" sz="1800" b="1" spc="107">
                <a:solidFill>
                  <a:srgbClr val="0F766E"/>
                </a:solidFill>
                <a:latin typeface="Arial Bold"/>
                <a:ea typeface="Arial Bold"/>
                <a:cs typeface="Arial Bold"/>
                <a:sym typeface="Arial Bold"/>
              </a:rPr>
              <a:t>TECHNICAL FEASIBILITY · TODAY</a:t>
            </a:r>
          </a:p>
        </p:txBody>
      </p:sp>
      <p:sp>
        <p:nvSpPr>
          <p:cNvPr id="43" name="TextBox 43"/>
          <p:cNvSpPr txBox="1"/>
          <p:nvPr/>
        </p:nvSpPr>
        <p:spPr>
          <a:xfrm>
            <a:off x="9363713" y="3633025"/>
            <a:ext cx="8437883" cy="1799082"/>
          </a:xfrm>
          <a:prstGeom prst="rect">
            <a:avLst/>
          </a:prstGeom>
        </p:spPr>
        <p:txBody>
          <a:bodyPr lIns="0" tIns="0" rIns="0" bIns="0" rtlCol="0" anchor="t">
            <a:spAutoFit/>
          </a:bodyPr>
          <a:lstStyle/>
          <a:p>
            <a:pPr algn="l">
              <a:lnSpc>
                <a:spcPts val="3654"/>
              </a:lnSpc>
            </a:pPr>
            <a:r>
              <a:rPr lang="en-US" sz="2100">
                <a:solidFill>
                  <a:srgbClr val="0B1F23"/>
                </a:solidFill>
                <a:latin typeface="Arial"/>
                <a:ea typeface="Arial"/>
                <a:cs typeface="Arial"/>
                <a:sym typeface="Arial"/>
              </a:rPr>
              <a:t>Frontend &amp; backend deployed on free-tier infrastructure six-agent pipeline runs end-to-end with telemetry 55 pytest tests + Postman collection green in CI Per-complaint cost measured at sub-RM-0.006</a:t>
            </a:r>
          </a:p>
          <a:p>
            <a:pPr algn="l">
              <a:lnSpc>
                <a:spcPts val="3654"/>
              </a:lnSpc>
            </a:pPr>
            <a:r>
              <a:rPr lang="en-US" sz="2100">
                <a:solidFill>
                  <a:srgbClr val="0B1F23"/>
                </a:solidFill>
                <a:latin typeface="Arial"/>
                <a:ea typeface="Arial"/>
                <a:cs typeface="Arial"/>
                <a:sym typeface="Arial"/>
              </a:rPr>
              <a:t>Provider-agnostic — not locked to a single LLM vendor</a:t>
            </a:r>
          </a:p>
        </p:txBody>
      </p:sp>
      <p:sp>
        <p:nvSpPr>
          <p:cNvPr id="44" name="TextBox 44"/>
          <p:cNvSpPr txBox="1"/>
          <p:nvPr/>
        </p:nvSpPr>
        <p:spPr>
          <a:xfrm>
            <a:off x="977903" y="7979385"/>
            <a:ext cx="16823693" cy="306705"/>
          </a:xfrm>
          <a:prstGeom prst="rect">
            <a:avLst/>
          </a:prstGeom>
        </p:spPr>
        <p:txBody>
          <a:bodyPr lIns="0" tIns="0" rIns="0" bIns="0" rtlCol="0" anchor="t">
            <a:spAutoFit/>
          </a:bodyPr>
          <a:lstStyle/>
          <a:p>
            <a:pPr algn="l">
              <a:lnSpc>
                <a:spcPts val="2160"/>
              </a:lnSpc>
            </a:pPr>
            <a:r>
              <a:rPr lang="en-US" sz="1800" b="1" spc="107">
                <a:solidFill>
                  <a:srgbClr val="0F766E"/>
                </a:solidFill>
                <a:latin typeface="Arial Bold"/>
                <a:ea typeface="Arial Bold"/>
                <a:cs typeface="Arial Bold"/>
                <a:sym typeface="Arial Bold"/>
              </a:rPr>
              <a:t>MVP → PRODUCTION ROADMAP</a:t>
            </a:r>
          </a:p>
        </p:txBody>
      </p:sp>
      <p:sp>
        <p:nvSpPr>
          <p:cNvPr id="45" name="TextBox 45"/>
          <p:cNvSpPr txBox="1"/>
          <p:nvPr/>
        </p:nvSpPr>
        <p:spPr>
          <a:xfrm>
            <a:off x="1187453" y="8639153"/>
            <a:ext cx="3728952" cy="192405"/>
          </a:xfrm>
          <a:prstGeom prst="rect">
            <a:avLst/>
          </a:prstGeom>
        </p:spPr>
        <p:txBody>
          <a:bodyPr lIns="0" tIns="0" rIns="0" bIns="0" rtlCol="0" anchor="t">
            <a:spAutoFit/>
          </a:bodyPr>
          <a:lstStyle/>
          <a:p>
            <a:pPr algn="l">
              <a:lnSpc>
                <a:spcPts val="1498"/>
              </a:lnSpc>
            </a:pPr>
            <a:r>
              <a:rPr lang="en-US" sz="1248" spc="107">
                <a:solidFill>
                  <a:srgbClr val="0F766E"/>
                </a:solidFill>
                <a:latin typeface="Arial"/>
                <a:ea typeface="Arial"/>
                <a:cs typeface="Arial"/>
                <a:sym typeface="Arial"/>
              </a:rPr>
              <a:t>MONTH 1</a:t>
            </a:r>
          </a:p>
        </p:txBody>
      </p:sp>
      <p:sp>
        <p:nvSpPr>
          <p:cNvPr id="46" name="TextBox 46"/>
          <p:cNvSpPr txBox="1"/>
          <p:nvPr/>
        </p:nvSpPr>
        <p:spPr>
          <a:xfrm>
            <a:off x="1187453" y="8901405"/>
            <a:ext cx="3728952" cy="285750"/>
          </a:xfrm>
          <a:prstGeom prst="rect">
            <a:avLst/>
          </a:prstGeom>
        </p:spPr>
        <p:txBody>
          <a:bodyPr lIns="0" tIns="0" rIns="0" bIns="0" rtlCol="0" anchor="t">
            <a:spAutoFit/>
          </a:bodyPr>
          <a:lstStyle/>
          <a:p>
            <a:pPr algn="l">
              <a:lnSpc>
                <a:spcPts val="2160"/>
              </a:lnSpc>
            </a:pPr>
            <a:r>
              <a:rPr lang="en-US" sz="1800" b="1">
                <a:solidFill>
                  <a:srgbClr val="0B1F23"/>
                </a:solidFill>
                <a:latin typeface="Arial Bold"/>
                <a:ea typeface="Arial Bold"/>
                <a:cs typeface="Arial Bold"/>
                <a:sym typeface="Arial Bold"/>
              </a:rPr>
              <a:t>Postgres + auth</a:t>
            </a:r>
          </a:p>
        </p:txBody>
      </p:sp>
      <p:sp>
        <p:nvSpPr>
          <p:cNvPr id="47" name="TextBox 47"/>
          <p:cNvSpPr txBox="1"/>
          <p:nvPr/>
        </p:nvSpPr>
        <p:spPr>
          <a:xfrm>
            <a:off x="1187453" y="9209377"/>
            <a:ext cx="3728952" cy="524513"/>
          </a:xfrm>
          <a:prstGeom prst="rect">
            <a:avLst/>
          </a:prstGeom>
        </p:spPr>
        <p:txBody>
          <a:bodyPr lIns="0" tIns="0" rIns="0" bIns="0" rtlCol="0" anchor="t">
            <a:spAutoFit/>
          </a:bodyPr>
          <a:lstStyle/>
          <a:p>
            <a:pPr algn="l">
              <a:lnSpc>
                <a:spcPts val="2056"/>
              </a:lnSpc>
            </a:pPr>
            <a:r>
              <a:rPr lang="en-US" sz="1318">
                <a:solidFill>
                  <a:srgbClr val="526664"/>
                </a:solidFill>
                <a:latin typeface="Arial"/>
                <a:ea typeface="Arial"/>
                <a:cs typeface="Arial"/>
                <a:sym typeface="Arial"/>
              </a:rPr>
              <a:t>JSON → Postgres, Supabase Auth, multi-tenant.</a:t>
            </a:r>
          </a:p>
        </p:txBody>
      </p:sp>
      <p:sp>
        <p:nvSpPr>
          <p:cNvPr id="48" name="TextBox 48"/>
          <p:cNvSpPr txBox="1"/>
          <p:nvPr/>
        </p:nvSpPr>
        <p:spPr>
          <a:xfrm>
            <a:off x="5283203" y="8639153"/>
            <a:ext cx="3728952" cy="192405"/>
          </a:xfrm>
          <a:prstGeom prst="rect">
            <a:avLst/>
          </a:prstGeom>
        </p:spPr>
        <p:txBody>
          <a:bodyPr lIns="0" tIns="0" rIns="0" bIns="0" rtlCol="0" anchor="t">
            <a:spAutoFit/>
          </a:bodyPr>
          <a:lstStyle/>
          <a:p>
            <a:pPr algn="l">
              <a:lnSpc>
                <a:spcPts val="1498"/>
              </a:lnSpc>
            </a:pPr>
            <a:r>
              <a:rPr lang="en-US" sz="1248" spc="107">
                <a:solidFill>
                  <a:srgbClr val="0F766E"/>
                </a:solidFill>
                <a:latin typeface="Arial"/>
                <a:ea typeface="Arial"/>
                <a:cs typeface="Arial"/>
                <a:sym typeface="Arial"/>
              </a:rPr>
              <a:t>MONTH 2</a:t>
            </a:r>
          </a:p>
        </p:txBody>
      </p:sp>
      <p:sp>
        <p:nvSpPr>
          <p:cNvPr id="49" name="TextBox 49"/>
          <p:cNvSpPr txBox="1"/>
          <p:nvPr/>
        </p:nvSpPr>
        <p:spPr>
          <a:xfrm>
            <a:off x="5283203" y="8901405"/>
            <a:ext cx="3728952" cy="285750"/>
          </a:xfrm>
          <a:prstGeom prst="rect">
            <a:avLst/>
          </a:prstGeom>
        </p:spPr>
        <p:txBody>
          <a:bodyPr lIns="0" tIns="0" rIns="0" bIns="0" rtlCol="0" anchor="t">
            <a:spAutoFit/>
          </a:bodyPr>
          <a:lstStyle/>
          <a:p>
            <a:pPr algn="l">
              <a:lnSpc>
                <a:spcPts val="2160"/>
              </a:lnSpc>
            </a:pPr>
            <a:r>
              <a:rPr lang="en-US" sz="1800" b="1">
                <a:solidFill>
                  <a:srgbClr val="0B1F23"/>
                </a:solidFill>
                <a:latin typeface="Arial Bold"/>
                <a:ea typeface="Arial Bold"/>
                <a:cs typeface="Arial Bold"/>
                <a:sym typeface="Arial Bold"/>
              </a:rPr>
              <a:t>Marketplace ingest</a:t>
            </a:r>
          </a:p>
        </p:txBody>
      </p:sp>
      <p:sp>
        <p:nvSpPr>
          <p:cNvPr id="50" name="TextBox 50"/>
          <p:cNvSpPr txBox="1"/>
          <p:nvPr/>
        </p:nvSpPr>
        <p:spPr>
          <a:xfrm>
            <a:off x="5283203" y="9228427"/>
            <a:ext cx="3728952" cy="270196"/>
          </a:xfrm>
          <a:prstGeom prst="rect">
            <a:avLst/>
          </a:prstGeom>
        </p:spPr>
        <p:txBody>
          <a:bodyPr lIns="0" tIns="0" rIns="0" bIns="0" rtlCol="0" anchor="t">
            <a:spAutoFit/>
          </a:bodyPr>
          <a:lstStyle/>
          <a:p>
            <a:pPr algn="l">
              <a:lnSpc>
                <a:spcPts val="1850"/>
              </a:lnSpc>
            </a:pPr>
            <a:r>
              <a:rPr lang="en-US" sz="1318">
                <a:solidFill>
                  <a:srgbClr val="526664"/>
                </a:solidFill>
                <a:latin typeface="Arial"/>
                <a:ea typeface="Arial"/>
                <a:cs typeface="Arial"/>
                <a:sym typeface="Arial"/>
              </a:rPr>
              <a:t>Shopee, Lazada, WhatsApp webhooks.</a:t>
            </a:r>
          </a:p>
        </p:txBody>
      </p:sp>
      <p:sp>
        <p:nvSpPr>
          <p:cNvPr id="51" name="TextBox 51"/>
          <p:cNvSpPr txBox="1"/>
          <p:nvPr/>
        </p:nvSpPr>
        <p:spPr>
          <a:xfrm>
            <a:off x="9378953" y="8639153"/>
            <a:ext cx="3728952" cy="192405"/>
          </a:xfrm>
          <a:prstGeom prst="rect">
            <a:avLst/>
          </a:prstGeom>
        </p:spPr>
        <p:txBody>
          <a:bodyPr lIns="0" tIns="0" rIns="0" bIns="0" rtlCol="0" anchor="t">
            <a:spAutoFit/>
          </a:bodyPr>
          <a:lstStyle/>
          <a:p>
            <a:pPr algn="l">
              <a:lnSpc>
                <a:spcPts val="1498"/>
              </a:lnSpc>
            </a:pPr>
            <a:r>
              <a:rPr lang="en-US" sz="1248" spc="107">
                <a:solidFill>
                  <a:srgbClr val="0F766E"/>
                </a:solidFill>
                <a:latin typeface="Arial"/>
                <a:ea typeface="Arial"/>
                <a:cs typeface="Arial"/>
                <a:sym typeface="Arial"/>
              </a:rPr>
              <a:t>MONTH 3</a:t>
            </a:r>
          </a:p>
        </p:txBody>
      </p:sp>
      <p:sp>
        <p:nvSpPr>
          <p:cNvPr id="52" name="TextBox 52"/>
          <p:cNvSpPr txBox="1"/>
          <p:nvPr/>
        </p:nvSpPr>
        <p:spPr>
          <a:xfrm>
            <a:off x="9378953" y="8901405"/>
            <a:ext cx="3728952" cy="285750"/>
          </a:xfrm>
          <a:prstGeom prst="rect">
            <a:avLst/>
          </a:prstGeom>
        </p:spPr>
        <p:txBody>
          <a:bodyPr lIns="0" tIns="0" rIns="0" bIns="0" rtlCol="0" anchor="t">
            <a:spAutoFit/>
          </a:bodyPr>
          <a:lstStyle/>
          <a:p>
            <a:pPr algn="l">
              <a:lnSpc>
                <a:spcPts val="2160"/>
              </a:lnSpc>
            </a:pPr>
            <a:r>
              <a:rPr lang="en-US" sz="1800" b="1">
                <a:solidFill>
                  <a:srgbClr val="0B1F23"/>
                </a:solidFill>
                <a:latin typeface="Arial Bold"/>
                <a:ea typeface="Arial Bold"/>
                <a:cs typeface="Arial Bold"/>
                <a:sym typeface="Arial Bold"/>
              </a:rPr>
              <a:t>Hardening</a:t>
            </a:r>
          </a:p>
        </p:txBody>
      </p:sp>
      <p:sp>
        <p:nvSpPr>
          <p:cNvPr id="53" name="TextBox 53"/>
          <p:cNvSpPr txBox="1"/>
          <p:nvPr/>
        </p:nvSpPr>
        <p:spPr>
          <a:xfrm>
            <a:off x="9378953" y="9228427"/>
            <a:ext cx="3728952" cy="270196"/>
          </a:xfrm>
          <a:prstGeom prst="rect">
            <a:avLst/>
          </a:prstGeom>
        </p:spPr>
        <p:txBody>
          <a:bodyPr lIns="0" tIns="0" rIns="0" bIns="0" rtlCol="0" anchor="t">
            <a:spAutoFit/>
          </a:bodyPr>
          <a:lstStyle/>
          <a:p>
            <a:pPr algn="l">
              <a:lnSpc>
                <a:spcPts val="1850"/>
              </a:lnSpc>
            </a:pPr>
            <a:r>
              <a:rPr lang="en-US" sz="1318">
                <a:solidFill>
                  <a:srgbClr val="526664"/>
                </a:solidFill>
                <a:latin typeface="Arial"/>
                <a:ea typeface="Arial"/>
                <a:cs typeface="Arial"/>
                <a:sym typeface="Arial"/>
              </a:rPr>
              <a:t>Rate limiting, Playwright, security gate.</a:t>
            </a:r>
          </a:p>
        </p:txBody>
      </p:sp>
      <p:sp>
        <p:nvSpPr>
          <p:cNvPr id="54" name="TextBox 54"/>
          <p:cNvSpPr txBox="1"/>
          <p:nvPr/>
        </p:nvSpPr>
        <p:spPr>
          <a:xfrm>
            <a:off x="13474703" y="8639153"/>
            <a:ext cx="3736153" cy="192405"/>
          </a:xfrm>
          <a:prstGeom prst="rect">
            <a:avLst/>
          </a:prstGeom>
        </p:spPr>
        <p:txBody>
          <a:bodyPr lIns="0" tIns="0" rIns="0" bIns="0" rtlCol="0" anchor="t">
            <a:spAutoFit/>
          </a:bodyPr>
          <a:lstStyle/>
          <a:p>
            <a:pPr algn="l">
              <a:lnSpc>
                <a:spcPts val="1498"/>
              </a:lnSpc>
            </a:pPr>
            <a:r>
              <a:rPr lang="en-US" sz="1248" spc="107">
                <a:solidFill>
                  <a:srgbClr val="0F766E"/>
                </a:solidFill>
                <a:latin typeface="Arial"/>
                <a:ea typeface="Arial"/>
                <a:cs typeface="Arial"/>
                <a:sym typeface="Arial"/>
              </a:rPr>
              <a:t>MONTH 4+</a:t>
            </a:r>
          </a:p>
        </p:txBody>
      </p:sp>
      <p:sp>
        <p:nvSpPr>
          <p:cNvPr id="55" name="TextBox 55"/>
          <p:cNvSpPr txBox="1"/>
          <p:nvPr/>
        </p:nvSpPr>
        <p:spPr>
          <a:xfrm>
            <a:off x="13474703" y="8901405"/>
            <a:ext cx="3736153" cy="285750"/>
          </a:xfrm>
          <a:prstGeom prst="rect">
            <a:avLst/>
          </a:prstGeom>
        </p:spPr>
        <p:txBody>
          <a:bodyPr lIns="0" tIns="0" rIns="0" bIns="0" rtlCol="0" anchor="t">
            <a:spAutoFit/>
          </a:bodyPr>
          <a:lstStyle/>
          <a:p>
            <a:pPr algn="l">
              <a:lnSpc>
                <a:spcPts val="2160"/>
              </a:lnSpc>
            </a:pPr>
            <a:r>
              <a:rPr lang="en-US" sz="1800" b="1">
                <a:solidFill>
                  <a:srgbClr val="0B1F23"/>
                </a:solidFill>
                <a:latin typeface="Arial Bold"/>
                <a:ea typeface="Arial Bold"/>
                <a:cs typeface="Arial Bold"/>
                <a:sym typeface="Arial Bold"/>
              </a:rPr>
              <a:t>Pilot &amp; price</a:t>
            </a:r>
          </a:p>
        </p:txBody>
      </p:sp>
      <p:sp>
        <p:nvSpPr>
          <p:cNvPr id="56" name="TextBox 56"/>
          <p:cNvSpPr txBox="1"/>
          <p:nvPr/>
        </p:nvSpPr>
        <p:spPr>
          <a:xfrm>
            <a:off x="13474703" y="9228427"/>
            <a:ext cx="3736153" cy="270196"/>
          </a:xfrm>
          <a:prstGeom prst="rect">
            <a:avLst/>
          </a:prstGeom>
        </p:spPr>
        <p:txBody>
          <a:bodyPr lIns="0" tIns="0" rIns="0" bIns="0" rtlCol="0" anchor="t">
            <a:spAutoFit/>
          </a:bodyPr>
          <a:lstStyle/>
          <a:p>
            <a:pPr algn="l">
              <a:lnSpc>
                <a:spcPts val="1850"/>
              </a:lnSpc>
            </a:pPr>
            <a:r>
              <a:rPr lang="en-US" sz="1318">
                <a:solidFill>
                  <a:srgbClr val="526664"/>
                </a:solidFill>
                <a:latin typeface="Arial"/>
                <a:ea typeface="Arial"/>
                <a:cs typeface="Arial"/>
                <a:sym typeface="Arial"/>
              </a:rPr>
              <a:t>10 paid SME pilots; validate unit economics.</a:t>
            </a:r>
          </a:p>
        </p:txBody>
      </p:sp>
      <p:sp>
        <p:nvSpPr>
          <p:cNvPr id="57" name="TextBox 57"/>
          <p:cNvSpPr txBox="1"/>
          <p:nvPr/>
        </p:nvSpPr>
        <p:spPr>
          <a:xfrm>
            <a:off x="1222686" y="4057818"/>
            <a:ext cx="7270118" cy="1270467"/>
          </a:xfrm>
          <a:prstGeom prst="rect">
            <a:avLst/>
          </a:prstGeom>
        </p:spPr>
        <p:txBody>
          <a:bodyPr lIns="0" tIns="0" rIns="0" bIns="0" rtlCol="0" anchor="t">
            <a:spAutoFit/>
          </a:bodyPr>
          <a:lstStyle/>
          <a:p>
            <a:pPr algn="l">
              <a:lnSpc>
                <a:spcPts val="2510"/>
              </a:lnSpc>
              <a:spcBef>
                <a:spcPct val="0"/>
              </a:spcBef>
            </a:pPr>
            <a:r>
              <a:rPr lang="en-US" sz="1803">
                <a:solidFill>
                  <a:srgbClr val="000000"/>
                </a:solidFill>
                <a:latin typeface="Arial"/>
                <a:ea typeface="Arial"/>
                <a:cs typeface="Arial"/>
                <a:sym typeface="Arial"/>
              </a:rPr>
              <a:t>Would you be interested in trying that kind of product later in the future and give us your feedback?</a:t>
            </a:r>
          </a:p>
          <a:p>
            <a:pPr algn="ctr">
              <a:lnSpc>
                <a:spcPts val="2510"/>
              </a:lnSpc>
              <a:spcBef>
                <a:spcPct val="0"/>
              </a:spcBef>
            </a:pPr>
            <a:endParaRPr lang="en-US" sz="1803">
              <a:solidFill>
                <a:srgbClr val="000000"/>
              </a:solidFill>
              <a:latin typeface="Arial"/>
              <a:ea typeface="Arial"/>
              <a:cs typeface="Arial"/>
              <a:sym typeface="Arial"/>
            </a:endParaRPr>
          </a:p>
          <a:p>
            <a:pPr algn="r">
              <a:lnSpc>
                <a:spcPts val="2510"/>
              </a:lnSpc>
              <a:spcBef>
                <a:spcPct val="0"/>
              </a:spcBef>
            </a:pPr>
            <a:r>
              <a:rPr lang="en-US" sz="1803" b="1">
                <a:solidFill>
                  <a:srgbClr val="EA580C"/>
                </a:solidFill>
                <a:latin typeface="Arial Bold"/>
                <a:ea typeface="Arial Bold"/>
                <a:cs typeface="Arial Bold"/>
                <a:sym typeface="Arial Bold"/>
              </a:rPr>
              <a:t>“Yes, sure”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0" y="1319980"/>
            <a:ext cx="18288000" cy="8967020"/>
            <a:chOff x="0" y="0"/>
            <a:chExt cx="24384000" cy="11956026"/>
          </a:xfrm>
        </p:grpSpPr>
        <p:sp>
          <p:nvSpPr>
            <p:cNvPr id="6" name="Freeform 6"/>
            <p:cNvSpPr/>
            <p:nvPr/>
          </p:nvSpPr>
          <p:spPr>
            <a:xfrm>
              <a:off x="0" y="0"/>
              <a:ext cx="24384000" cy="11956026"/>
            </a:xfrm>
            <a:custGeom>
              <a:avLst/>
              <a:gdLst/>
              <a:ahLst/>
              <a:cxnLst/>
              <a:rect l="l" t="t" r="r" b="b"/>
              <a:pathLst>
                <a:path w="24384000" h="11956026">
                  <a:moveTo>
                    <a:pt x="0" y="0"/>
                  </a:moveTo>
                  <a:lnTo>
                    <a:pt x="24384000" y="0"/>
                  </a:lnTo>
                  <a:lnTo>
                    <a:pt x="24384000" y="11956026"/>
                  </a:lnTo>
                  <a:lnTo>
                    <a:pt x="0" y="11956026"/>
                  </a:lnTo>
                  <a:close/>
                </a:path>
              </a:pathLst>
            </a:custGeom>
            <a:solidFill>
              <a:srgbClr val="F5F8F7"/>
            </a:solidFill>
          </p:spPr>
          <p:txBody>
            <a:bodyPr/>
            <a:lstStyle/>
            <a:p>
              <a:endParaRPr lang="en-US"/>
            </a:p>
          </p:txBody>
        </p:sp>
      </p:grpSp>
      <p:grpSp>
        <p:nvGrpSpPr>
          <p:cNvPr id="7" name="Group 7"/>
          <p:cNvGrpSpPr/>
          <p:nvPr/>
        </p:nvGrpSpPr>
        <p:grpSpPr>
          <a:xfrm>
            <a:off x="952500" y="1333500"/>
            <a:ext cx="16383000" cy="9525"/>
            <a:chOff x="0" y="0"/>
            <a:chExt cx="21844000" cy="12700"/>
          </a:xfrm>
        </p:grpSpPr>
        <p:sp>
          <p:nvSpPr>
            <p:cNvPr id="8" name="Freeform 8"/>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1961"/>
              </a:srgbClr>
            </a:solidFill>
          </p:spPr>
          <p:txBody>
            <a:bodyPr/>
            <a:lstStyle/>
            <a:p>
              <a:endParaRPr lang="en-US"/>
            </a:p>
          </p:txBody>
        </p:sp>
      </p:grpSp>
      <p:grpSp>
        <p:nvGrpSpPr>
          <p:cNvPr id="9" name="Group 9"/>
          <p:cNvGrpSpPr/>
          <p:nvPr/>
        </p:nvGrpSpPr>
        <p:grpSpPr>
          <a:xfrm>
            <a:off x="952500" y="7628887"/>
            <a:ext cx="16383000" cy="9525"/>
            <a:chOff x="0" y="0"/>
            <a:chExt cx="21844000" cy="12700"/>
          </a:xfrm>
        </p:grpSpPr>
        <p:sp>
          <p:nvSpPr>
            <p:cNvPr id="10" name="Freeform 10"/>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F5F8F7">
                <a:alpha val="3137"/>
              </a:srgbClr>
            </a:solidFill>
          </p:spPr>
          <p:txBody>
            <a:bodyPr/>
            <a:lstStyle/>
            <a:p>
              <a:endParaRPr lang="en-US"/>
            </a:p>
          </p:txBody>
        </p:sp>
      </p:grpSp>
      <p:grpSp>
        <p:nvGrpSpPr>
          <p:cNvPr id="11" name="Group 11"/>
          <p:cNvGrpSpPr/>
          <p:nvPr/>
        </p:nvGrpSpPr>
        <p:grpSpPr>
          <a:xfrm>
            <a:off x="0" y="3671254"/>
            <a:ext cx="18288000" cy="3086100"/>
            <a:chOff x="0" y="0"/>
            <a:chExt cx="4816593" cy="812800"/>
          </a:xfrm>
        </p:grpSpPr>
        <p:sp>
          <p:nvSpPr>
            <p:cNvPr id="12" name="Freeform 12"/>
            <p:cNvSpPr/>
            <p:nvPr/>
          </p:nvSpPr>
          <p:spPr>
            <a:xfrm>
              <a:off x="0" y="0"/>
              <a:ext cx="4816592" cy="812800"/>
            </a:xfrm>
            <a:custGeom>
              <a:avLst/>
              <a:gdLst/>
              <a:ahLst/>
              <a:cxnLst/>
              <a:rect l="l" t="t" r="r" b="b"/>
              <a:pathLst>
                <a:path w="4816592" h="812800">
                  <a:moveTo>
                    <a:pt x="0" y="0"/>
                  </a:moveTo>
                  <a:lnTo>
                    <a:pt x="4816592" y="0"/>
                  </a:lnTo>
                  <a:lnTo>
                    <a:pt x="4816592" y="812800"/>
                  </a:lnTo>
                  <a:lnTo>
                    <a:pt x="0" y="812800"/>
                  </a:lnTo>
                  <a:close/>
                </a:path>
              </a:pathLst>
            </a:custGeom>
            <a:solidFill>
              <a:srgbClr val="FFFFFF"/>
            </a:solidFill>
          </p:spPr>
          <p:txBody>
            <a:bodyPr/>
            <a:lstStyle/>
            <a:p>
              <a:endParaRPr lang="en-US"/>
            </a:p>
          </p:txBody>
        </p:sp>
        <p:sp>
          <p:nvSpPr>
            <p:cNvPr id="13" name="TextBox 13"/>
            <p:cNvSpPr txBox="1"/>
            <p:nvPr/>
          </p:nvSpPr>
          <p:spPr>
            <a:xfrm>
              <a:off x="0" y="-57150"/>
              <a:ext cx="4816593" cy="869950"/>
            </a:xfrm>
            <a:prstGeom prst="rect">
              <a:avLst/>
            </a:prstGeom>
          </p:spPr>
          <p:txBody>
            <a:bodyPr lIns="50800" tIns="50800" rIns="50800" bIns="50800" rtlCol="0" anchor="ctr"/>
            <a:lstStyle/>
            <a:p>
              <a:pPr algn="ctr">
                <a:lnSpc>
                  <a:spcPts val="2510"/>
                </a:lnSpc>
              </a:pPr>
              <a:endParaRPr/>
            </a:p>
          </p:txBody>
        </p:sp>
      </p:grpSp>
      <p:sp>
        <p:nvSpPr>
          <p:cNvPr id="14" name="TextBox 14"/>
          <p:cNvSpPr txBox="1"/>
          <p:nvPr/>
        </p:nvSpPr>
        <p:spPr>
          <a:xfrm>
            <a:off x="15447483" y="802005"/>
            <a:ext cx="1742837"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11 / 12 · CLOSING</a:t>
            </a:r>
          </a:p>
        </p:txBody>
      </p:sp>
      <p:sp>
        <p:nvSpPr>
          <p:cNvPr id="15" name="TextBox 15"/>
          <p:cNvSpPr txBox="1"/>
          <p:nvPr/>
        </p:nvSpPr>
        <p:spPr>
          <a:xfrm>
            <a:off x="1028700" y="2010047"/>
            <a:ext cx="2878931" cy="847725"/>
          </a:xfrm>
          <a:prstGeom prst="rect">
            <a:avLst/>
          </a:prstGeom>
        </p:spPr>
        <p:txBody>
          <a:bodyPr lIns="0" tIns="0" rIns="0" bIns="0" rtlCol="0" anchor="t">
            <a:spAutoFit/>
          </a:bodyPr>
          <a:lstStyle/>
          <a:p>
            <a:pPr algn="l">
              <a:lnSpc>
                <a:spcPts val="6659"/>
              </a:lnSpc>
            </a:pPr>
            <a:r>
              <a:rPr lang="en-US" sz="5549" spc="443">
                <a:solidFill>
                  <a:srgbClr val="EA580C"/>
                </a:solidFill>
                <a:latin typeface="Glacial Indifference"/>
                <a:ea typeface="Glacial Indifference"/>
                <a:cs typeface="Glacial Indifference"/>
                <a:sym typeface="Glacial Indifference"/>
              </a:rPr>
              <a:t>THE ASK</a:t>
            </a:r>
          </a:p>
        </p:txBody>
      </p:sp>
      <p:sp>
        <p:nvSpPr>
          <p:cNvPr id="16" name="TextBox 16"/>
          <p:cNvSpPr txBox="1"/>
          <p:nvPr/>
        </p:nvSpPr>
        <p:spPr>
          <a:xfrm>
            <a:off x="977903" y="4077176"/>
            <a:ext cx="14665328" cy="2171688"/>
          </a:xfrm>
          <a:prstGeom prst="rect">
            <a:avLst/>
          </a:prstGeom>
        </p:spPr>
        <p:txBody>
          <a:bodyPr lIns="0" tIns="0" rIns="0" bIns="0" rtlCol="0" anchor="t">
            <a:spAutoFit/>
          </a:bodyPr>
          <a:lstStyle/>
          <a:p>
            <a:pPr algn="l">
              <a:lnSpc>
                <a:spcPts val="5658"/>
              </a:lnSpc>
            </a:pPr>
            <a:r>
              <a:rPr lang="en-US" sz="4440" b="1" i="1" spc="-96">
                <a:solidFill>
                  <a:srgbClr val="0B1F23"/>
                </a:solidFill>
                <a:latin typeface="Arial Bold Italics"/>
                <a:ea typeface="Arial Bold Italics"/>
                <a:cs typeface="Arial Bold Italics"/>
                <a:sym typeface="Arial Bold Italics"/>
              </a:rPr>
              <a:t>We are not replacing sellers. We are giving them a reliable AI copilot to resolve complaints faster, fairer, and with evidence</a:t>
            </a:r>
            <a:r>
              <a:rPr lang="en-US" sz="4440" b="1" i="1" spc="-96">
                <a:solidFill>
                  <a:srgbClr val="E9570B"/>
                </a:solidFill>
                <a:latin typeface="Arial Bold Italics"/>
                <a:ea typeface="Arial Bold Italics"/>
                <a:cs typeface="Arial Bold Italics"/>
                <a:sym typeface="Arial Bold Italics"/>
              </a:rPr>
              <a:t>.</a:t>
            </a:r>
          </a:p>
        </p:txBody>
      </p:sp>
      <p:sp>
        <p:nvSpPr>
          <p:cNvPr id="17" name="TextBox 17"/>
          <p:cNvSpPr txBox="1"/>
          <p:nvPr/>
        </p:nvSpPr>
        <p:spPr>
          <a:xfrm>
            <a:off x="977903" y="7992113"/>
            <a:ext cx="1292423" cy="27432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DEPLOYED</a:t>
            </a:r>
          </a:p>
        </p:txBody>
      </p:sp>
      <p:sp>
        <p:nvSpPr>
          <p:cNvPr id="18" name="TextBox 18"/>
          <p:cNvSpPr txBox="1"/>
          <p:nvPr/>
        </p:nvSpPr>
        <p:spPr>
          <a:xfrm>
            <a:off x="977903" y="8414385"/>
            <a:ext cx="3343751" cy="371475"/>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Live on Vercel + Render</a:t>
            </a:r>
          </a:p>
        </p:txBody>
      </p:sp>
      <p:sp>
        <p:nvSpPr>
          <p:cNvPr id="19" name="TextBox 19"/>
          <p:cNvSpPr txBox="1"/>
          <p:nvPr/>
        </p:nvSpPr>
        <p:spPr>
          <a:xfrm>
            <a:off x="977903" y="8870318"/>
            <a:ext cx="5207765" cy="762638"/>
          </a:xfrm>
          <a:prstGeom prst="rect">
            <a:avLst/>
          </a:prstGeom>
        </p:spPr>
        <p:txBody>
          <a:bodyPr lIns="0" tIns="0" rIns="0" bIns="0" rtlCol="0" anchor="t">
            <a:spAutoFit/>
          </a:bodyPr>
          <a:lstStyle/>
          <a:p>
            <a:pPr algn="l">
              <a:lnSpc>
                <a:spcPts val="2510"/>
              </a:lnSpc>
            </a:pPr>
            <a:r>
              <a:rPr lang="en-US" sz="1803">
                <a:solidFill>
                  <a:srgbClr val="0B1F23"/>
                </a:solidFill>
                <a:latin typeface="Arial"/>
                <a:ea typeface="Arial"/>
                <a:cs typeface="Arial"/>
                <a:sym typeface="Arial"/>
              </a:rPr>
              <a:t>komplain-ai.netlify.app · works in your browser today.</a:t>
            </a:r>
          </a:p>
        </p:txBody>
      </p:sp>
      <p:sp>
        <p:nvSpPr>
          <p:cNvPr id="20" name="TextBox 20"/>
          <p:cNvSpPr txBox="1"/>
          <p:nvPr/>
        </p:nvSpPr>
        <p:spPr>
          <a:xfrm>
            <a:off x="6616703" y="7992113"/>
            <a:ext cx="961668" cy="27432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TESTED</a:t>
            </a:r>
          </a:p>
        </p:txBody>
      </p:sp>
      <p:sp>
        <p:nvSpPr>
          <p:cNvPr id="21" name="TextBox 21"/>
          <p:cNvSpPr txBox="1"/>
          <p:nvPr/>
        </p:nvSpPr>
        <p:spPr>
          <a:xfrm>
            <a:off x="6616703" y="8414385"/>
            <a:ext cx="2705219" cy="371475"/>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55 pytest · CI green</a:t>
            </a:r>
          </a:p>
        </p:txBody>
      </p:sp>
      <p:sp>
        <p:nvSpPr>
          <p:cNvPr id="22" name="TextBox 22"/>
          <p:cNvSpPr txBox="1"/>
          <p:nvPr/>
        </p:nvSpPr>
        <p:spPr>
          <a:xfrm>
            <a:off x="6616703" y="8841743"/>
            <a:ext cx="5207765" cy="432121"/>
          </a:xfrm>
          <a:prstGeom prst="rect">
            <a:avLst/>
          </a:prstGeom>
        </p:spPr>
        <p:txBody>
          <a:bodyPr lIns="0" tIns="0" rIns="0" bIns="0" rtlCol="0" anchor="t">
            <a:spAutoFit/>
          </a:bodyPr>
          <a:lstStyle/>
          <a:p>
            <a:pPr algn="l">
              <a:lnSpc>
                <a:spcPts val="2824"/>
              </a:lnSpc>
            </a:pPr>
            <a:r>
              <a:rPr lang="en-US" sz="1803">
                <a:solidFill>
                  <a:srgbClr val="0B1F23"/>
                </a:solidFill>
                <a:latin typeface="Arial"/>
                <a:ea typeface="Arial"/>
                <a:cs typeface="Arial"/>
                <a:sym typeface="Arial"/>
              </a:rPr>
              <a:t>Lint · tests · security · run on every commit.</a:t>
            </a:r>
          </a:p>
        </p:txBody>
      </p:sp>
      <p:sp>
        <p:nvSpPr>
          <p:cNvPr id="23" name="TextBox 23"/>
          <p:cNvSpPr txBox="1"/>
          <p:nvPr/>
        </p:nvSpPr>
        <p:spPr>
          <a:xfrm>
            <a:off x="12255503" y="7992113"/>
            <a:ext cx="992148" cy="27432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HONEST</a:t>
            </a:r>
          </a:p>
        </p:txBody>
      </p:sp>
      <p:sp>
        <p:nvSpPr>
          <p:cNvPr id="24" name="TextBox 24"/>
          <p:cNvSpPr txBox="1"/>
          <p:nvPr/>
        </p:nvSpPr>
        <p:spPr>
          <a:xfrm>
            <a:off x="12255503" y="8414385"/>
            <a:ext cx="5207765" cy="367027"/>
          </a:xfrm>
          <a:prstGeom prst="rect">
            <a:avLst/>
          </a:prstGeom>
        </p:spPr>
        <p:txBody>
          <a:bodyPr lIns="0" tIns="0" rIns="0" bIns="0" rtlCol="0" anchor="t">
            <a:spAutoFit/>
          </a:bodyPr>
          <a:lstStyle/>
          <a:p>
            <a:pPr algn="l">
              <a:lnSpc>
                <a:spcPts val="2879"/>
              </a:lnSpc>
            </a:pPr>
            <a:r>
              <a:rPr lang="en-US" sz="2400" b="1" spc="-24">
                <a:solidFill>
                  <a:srgbClr val="0B1F23"/>
                </a:solidFill>
                <a:latin typeface="Arial Bold"/>
                <a:ea typeface="Arial Bold"/>
                <a:cs typeface="Arial Bold"/>
                <a:sym typeface="Arial Bold"/>
              </a:rPr>
              <a:t>Defect log on the table</a:t>
            </a:r>
          </a:p>
        </p:txBody>
      </p:sp>
      <p:sp>
        <p:nvSpPr>
          <p:cNvPr id="25" name="TextBox 25"/>
          <p:cNvSpPr txBox="1"/>
          <p:nvPr/>
        </p:nvSpPr>
        <p:spPr>
          <a:xfrm>
            <a:off x="12255503" y="8813168"/>
            <a:ext cx="5207765" cy="819788"/>
          </a:xfrm>
          <a:prstGeom prst="rect">
            <a:avLst/>
          </a:prstGeom>
        </p:spPr>
        <p:txBody>
          <a:bodyPr lIns="0" tIns="0" rIns="0" bIns="0" rtlCol="0" anchor="t">
            <a:spAutoFit/>
          </a:bodyPr>
          <a:lstStyle/>
          <a:p>
            <a:pPr algn="l">
              <a:lnSpc>
                <a:spcPts val="3138"/>
              </a:lnSpc>
            </a:pPr>
            <a:r>
              <a:rPr lang="en-US" sz="1803">
                <a:solidFill>
                  <a:srgbClr val="0B1F23"/>
                </a:solidFill>
                <a:latin typeface="Arial"/>
                <a:ea typeface="Arial"/>
                <a:cs typeface="Arial"/>
                <a:sym typeface="Arial"/>
              </a:rPr>
              <a:t>We tell you what's MVP and what we'd ship next.</a:t>
            </a:r>
          </a:p>
        </p:txBody>
      </p:sp>
      <p:grpSp>
        <p:nvGrpSpPr>
          <p:cNvPr id="26" name="Group 26"/>
          <p:cNvGrpSpPr/>
          <p:nvPr/>
        </p:nvGrpSpPr>
        <p:grpSpPr>
          <a:xfrm>
            <a:off x="0" y="3534047"/>
            <a:ext cx="18288000" cy="165144"/>
            <a:chOff x="0" y="0"/>
            <a:chExt cx="4124960" cy="37249"/>
          </a:xfrm>
        </p:grpSpPr>
        <p:sp>
          <p:nvSpPr>
            <p:cNvPr id="27" name="Freeform 27"/>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28" name="Group 28"/>
          <p:cNvGrpSpPr/>
          <p:nvPr/>
        </p:nvGrpSpPr>
        <p:grpSpPr>
          <a:xfrm>
            <a:off x="0" y="6785929"/>
            <a:ext cx="18288000" cy="165144"/>
            <a:chOff x="0" y="0"/>
            <a:chExt cx="4124960" cy="37249"/>
          </a:xfrm>
        </p:grpSpPr>
        <p:sp>
          <p:nvSpPr>
            <p:cNvPr id="29" name="Freeform 29"/>
            <p:cNvSpPr/>
            <p:nvPr/>
          </p:nvSpPr>
          <p:spPr>
            <a:xfrm>
              <a:off x="0" y="0"/>
              <a:ext cx="4124960" cy="37211"/>
            </a:xfrm>
            <a:custGeom>
              <a:avLst/>
              <a:gdLst/>
              <a:ahLst/>
              <a:cxnLst/>
              <a:rect l="l" t="t" r="r" b="b"/>
              <a:pathLst>
                <a:path w="4124960" h="37211">
                  <a:moveTo>
                    <a:pt x="0" y="0"/>
                  </a:moveTo>
                  <a:lnTo>
                    <a:pt x="4124960" y="0"/>
                  </a:lnTo>
                  <a:lnTo>
                    <a:pt x="4124960" y="37211"/>
                  </a:lnTo>
                  <a:lnTo>
                    <a:pt x="0" y="37211"/>
                  </a:lnTo>
                  <a:close/>
                </a:path>
              </a:pathLst>
            </a:custGeom>
            <a:solidFill>
              <a:srgbClr val="0F766E"/>
            </a:solidFill>
          </p:spPr>
          <p:txBody>
            <a:bodyPr/>
            <a:lstStyle/>
            <a:p>
              <a:endParaRPr lang="en-US"/>
            </a:p>
          </p:txBody>
        </p:sp>
      </p:grpSp>
      <p:grpSp>
        <p:nvGrpSpPr>
          <p:cNvPr id="30" name="Group 30"/>
          <p:cNvGrpSpPr/>
          <p:nvPr/>
        </p:nvGrpSpPr>
        <p:grpSpPr>
          <a:xfrm>
            <a:off x="787403" y="617597"/>
            <a:ext cx="2111216" cy="631706"/>
            <a:chOff x="0" y="0"/>
            <a:chExt cx="2814955" cy="842275"/>
          </a:xfrm>
        </p:grpSpPr>
        <p:sp>
          <p:nvSpPr>
            <p:cNvPr id="31" name="Freeform 31"/>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3"/>
              <a:stretch>
                <a:fillRect/>
              </a:stretch>
            </a:blipFill>
          </p:spPr>
          <p:txBody>
            <a:bodyPr/>
            <a:lstStyle/>
            <a:p>
              <a:endParaRPr lang="en-US"/>
            </a:p>
          </p:txBody>
        </p:sp>
        <p:sp>
          <p:nvSpPr>
            <p:cNvPr id="32" name="TextBox 32"/>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33" name="Group 33"/>
          <p:cNvGrpSpPr/>
          <p:nvPr/>
        </p:nvGrpSpPr>
        <p:grpSpPr>
          <a:xfrm>
            <a:off x="0" y="0"/>
            <a:ext cx="18288000" cy="550922"/>
            <a:chOff x="0" y="0"/>
            <a:chExt cx="24384000" cy="734563"/>
          </a:xfrm>
        </p:grpSpPr>
        <p:grpSp>
          <p:nvGrpSpPr>
            <p:cNvPr id="34" name="Group 34"/>
            <p:cNvGrpSpPr/>
            <p:nvPr/>
          </p:nvGrpSpPr>
          <p:grpSpPr>
            <a:xfrm>
              <a:off x="0" y="0"/>
              <a:ext cx="24384000" cy="734563"/>
              <a:chOff x="0" y="0"/>
              <a:chExt cx="4816593" cy="145099"/>
            </a:xfrm>
          </p:grpSpPr>
          <p:sp>
            <p:nvSpPr>
              <p:cNvPr id="35" name="Freeform 35"/>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36" name="TextBox 36"/>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37" name="Freeform 37"/>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4"/>
              <a:stretch>
                <a:fillRect t="-8011" b="-8011"/>
              </a:stretch>
            </a:blipFill>
          </p:spPr>
          <p:txBody>
            <a:bodyPr/>
            <a:lstStyle/>
            <a:p>
              <a:endParaRPr lang="en-US"/>
            </a:p>
          </p:txBody>
        </p:sp>
        <p:sp>
          <p:nvSpPr>
            <p:cNvPr id="38" name="Freeform 38"/>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5"/>
              <a:stretch>
                <a:fillRect t="-8011" b="-8011"/>
              </a:stretch>
            </a:blipFill>
          </p:spPr>
          <p:txBody>
            <a:bodyPr/>
            <a:lstStyle/>
            <a:p>
              <a:endParaRPr lang="en-US"/>
            </a:p>
          </p:txBody>
        </p:sp>
        <p:sp>
          <p:nvSpPr>
            <p:cNvPr id="39" name="Freeform 39"/>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6"/>
              <a:stretch>
                <a:fillRect t="-185025" r="-497" b="-182852"/>
              </a:stretch>
            </a:blipFill>
          </p:spPr>
          <p:txBody>
            <a:bodyPr/>
            <a:lstStyle/>
            <a:p>
              <a:endParaRPr lang="en-US"/>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grpSp>
        <p:nvGrpSpPr>
          <p:cNvPr id="2" name="Group 2"/>
          <p:cNvGrpSpPr/>
          <p:nvPr/>
        </p:nvGrpSpPr>
        <p:grpSpPr>
          <a:xfrm>
            <a:off x="0" y="508820"/>
            <a:ext cx="18288000" cy="811161"/>
            <a:chOff x="0" y="0"/>
            <a:chExt cx="4816593" cy="213639"/>
          </a:xfrm>
        </p:grpSpPr>
        <p:sp>
          <p:nvSpPr>
            <p:cNvPr id="3" name="Freeform 3"/>
            <p:cNvSpPr/>
            <p:nvPr/>
          </p:nvSpPr>
          <p:spPr>
            <a:xfrm>
              <a:off x="0" y="0"/>
              <a:ext cx="4816592" cy="213639"/>
            </a:xfrm>
            <a:custGeom>
              <a:avLst/>
              <a:gdLst/>
              <a:ahLst/>
              <a:cxnLst/>
              <a:rect l="l" t="t" r="r" b="b"/>
              <a:pathLst>
                <a:path w="4816592" h="213639">
                  <a:moveTo>
                    <a:pt x="0" y="0"/>
                  </a:moveTo>
                  <a:lnTo>
                    <a:pt x="4816592" y="0"/>
                  </a:lnTo>
                  <a:lnTo>
                    <a:pt x="4816592" y="213639"/>
                  </a:lnTo>
                  <a:lnTo>
                    <a:pt x="0" y="213639"/>
                  </a:lnTo>
                  <a:close/>
                </a:path>
              </a:pathLst>
            </a:custGeom>
            <a:gradFill rotWithShape="1">
              <a:gsLst>
                <a:gs pos="0">
                  <a:srgbClr val="0B615B">
                    <a:alpha val="85000"/>
                  </a:srgbClr>
                </a:gs>
                <a:gs pos="54000">
                  <a:srgbClr val="5D775D">
                    <a:alpha val="85000"/>
                  </a:srgbClr>
                </a:gs>
                <a:gs pos="100000">
                  <a:srgbClr val="8E7045">
                    <a:alpha val="85000"/>
                  </a:srgbClr>
                </a:gs>
              </a:gsLst>
              <a:lin ang="0"/>
            </a:gradFill>
          </p:spPr>
          <p:txBody>
            <a:bodyPr/>
            <a:lstStyle/>
            <a:p>
              <a:endParaRPr lang="en-US"/>
            </a:p>
          </p:txBody>
        </p:sp>
        <p:sp>
          <p:nvSpPr>
            <p:cNvPr id="4" name="TextBox 4"/>
            <p:cNvSpPr txBox="1"/>
            <p:nvPr/>
          </p:nvSpPr>
          <p:spPr>
            <a:xfrm>
              <a:off x="0" y="-57150"/>
              <a:ext cx="4816593" cy="270789"/>
            </a:xfrm>
            <a:prstGeom prst="rect">
              <a:avLst/>
            </a:prstGeom>
          </p:spPr>
          <p:txBody>
            <a:bodyPr lIns="50800" tIns="50800" rIns="50800" bIns="50800" rtlCol="0" anchor="ctr"/>
            <a:lstStyle/>
            <a:p>
              <a:pPr algn="ctr">
                <a:lnSpc>
                  <a:spcPts val="2510"/>
                </a:lnSpc>
              </a:pPr>
              <a:endParaRPr/>
            </a:p>
          </p:txBody>
        </p:sp>
      </p:grpSp>
      <p:grpSp>
        <p:nvGrpSpPr>
          <p:cNvPr id="5" name="Group 5"/>
          <p:cNvGrpSpPr/>
          <p:nvPr/>
        </p:nvGrpSpPr>
        <p:grpSpPr>
          <a:xfrm>
            <a:off x="952500" y="1333500"/>
            <a:ext cx="16383000" cy="9525"/>
            <a:chOff x="0" y="0"/>
            <a:chExt cx="21844000" cy="12700"/>
          </a:xfrm>
        </p:grpSpPr>
        <p:sp>
          <p:nvSpPr>
            <p:cNvPr id="6" name="Freeform 6"/>
            <p:cNvSpPr/>
            <p:nvPr/>
          </p:nvSpPr>
          <p:spPr>
            <a:xfrm>
              <a:off x="0" y="0"/>
              <a:ext cx="21844000" cy="12700"/>
            </a:xfrm>
            <a:custGeom>
              <a:avLst/>
              <a:gdLst/>
              <a:ahLst/>
              <a:cxnLst/>
              <a:rect l="l" t="t" r="r" b="b"/>
              <a:pathLst>
                <a:path w="21844000" h="12700">
                  <a:moveTo>
                    <a:pt x="0" y="0"/>
                  </a:moveTo>
                  <a:lnTo>
                    <a:pt x="21844000" y="0"/>
                  </a:lnTo>
                  <a:lnTo>
                    <a:pt x="21844000" y="12700"/>
                  </a:lnTo>
                  <a:lnTo>
                    <a:pt x="0" y="12700"/>
                  </a:lnTo>
                  <a:close/>
                </a:path>
              </a:pathLst>
            </a:custGeom>
            <a:solidFill>
              <a:srgbClr val="D9E5E1"/>
            </a:solidFill>
          </p:spPr>
          <p:txBody>
            <a:bodyPr/>
            <a:lstStyle/>
            <a:p>
              <a:endParaRPr lang="en-US"/>
            </a:p>
          </p:txBody>
        </p:sp>
      </p:grpSp>
      <p:grpSp>
        <p:nvGrpSpPr>
          <p:cNvPr id="7" name="Group 7"/>
          <p:cNvGrpSpPr/>
          <p:nvPr/>
        </p:nvGrpSpPr>
        <p:grpSpPr>
          <a:xfrm>
            <a:off x="0" y="3377443"/>
            <a:ext cx="6262008" cy="3157223"/>
            <a:chOff x="0" y="0"/>
            <a:chExt cx="8349344" cy="4209631"/>
          </a:xfrm>
        </p:grpSpPr>
        <p:sp>
          <p:nvSpPr>
            <p:cNvPr id="8" name="Freeform 8"/>
            <p:cNvSpPr/>
            <p:nvPr/>
          </p:nvSpPr>
          <p:spPr>
            <a:xfrm>
              <a:off x="0" y="0"/>
              <a:ext cx="8349383" cy="4209669"/>
            </a:xfrm>
            <a:custGeom>
              <a:avLst/>
              <a:gdLst/>
              <a:ahLst/>
              <a:cxnLst/>
              <a:rect l="l" t="t" r="r" b="b"/>
              <a:pathLst>
                <a:path w="8349383" h="4209669">
                  <a:moveTo>
                    <a:pt x="0" y="0"/>
                  </a:moveTo>
                  <a:lnTo>
                    <a:pt x="8349383" y="0"/>
                  </a:lnTo>
                  <a:lnTo>
                    <a:pt x="8349383" y="4209669"/>
                  </a:lnTo>
                  <a:lnTo>
                    <a:pt x="0" y="4209669"/>
                  </a:lnTo>
                  <a:lnTo>
                    <a:pt x="0" y="0"/>
                  </a:lnTo>
                  <a:close/>
                </a:path>
              </a:pathLst>
            </a:custGeom>
            <a:blipFill>
              <a:blip r:embed="rId3"/>
              <a:stretch>
                <a:fillRect r="-8746"/>
              </a:stretch>
            </a:blipFill>
          </p:spPr>
          <p:txBody>
            <a:bodyPr/>
            <a:lstStyle/>
            <a:p>
              <a:endParaRPr lang="en-US"/>
            </a:p>
          </p:txBody>
        </p:sp>
      </p:grpSp>
      <p:grpSp>
        <p:nvGrpSpPr>
          <p:cNvPr id="9" name="Group 9"/>
          <p:cNvGrpSpPr/>
          <p:nvPr/>
        </p:nvGrpSpPr>
        <p:grpSpPr>
          <a:xfrm>
            <a:off x="10696261" y="3329626"/>
            <a:ext cx="3229613" cy="1984372"/>
            <a:chOff x="0" y="0"/>
            <a:chExt cx="4306151" cy="2645829"/>
          </a:xfrm>
        </p:grpSpPr>
        <p:sp>
          <p:nvSpPr>
            <p:cNvPr id="10" name="Freeform 10"/>
            <p:cNvSpPr/>
            <p:nvPr/>
          </p:nvSpPr>
          <p:spPr>
            <a:xfrm>
              <a:off x="4699" y="4699"/>
              <a:ext cx="4296791" cy="2636520"/>
            </a:xfrm>
            <a:custGeom>
              <a:avLst/>
              <a:gdLst/>
              <a:ahLst/>
              <a:cxnLst/>
              <a:rect l="l" t="t" r="r" b="b"/>
              <a:pathLst>
                <a:path w="4296791" h="2636520">
                  <a:moveTo>
                    <a:pt x="0" y="0"/>
                  </a:moveTo>
                  <a:lnTo>
                    <a:pt x="4296791" y="0"/>
                  </a:lnTo>
                  <a:lnTo>
                    <a:pt x="4296791" y="2636520"/>
                  </a:lnTo>
                  <a:lnTo>
                    <a:pt x="0" y="2636520"/>
                  </a:lnTo>
                  <a:close/>
                </a:path>
              </a:pathLst>
            </a:custGeom>
            <a:solidFill>
              <a:srgbClr val="FFFFFF"/>
            </a:solidFill>
          </p:spPr>
          <p:txBody>
            <a:bodyPr/>
            <a:lstStyle/>
            <a:p>
              <a:endParaRPr lang="en-US"/>
            </a:p>
          </p:txBody>
        </p:sp>
        <p:sp>
          <p:nvSpPr>
            <p:cNvPr id="11" name="Freeform 11"/>
            <p:cNvSpPr/>
            <p:nvPr/>
          </p:nvSpPr>
          <p:spPr>
            <a:xfrm>
              <a:off x="0" y="0"/>
              <a:ext cx="4306189" cy="2645918"/>
            </a:xfrm>
            <a:custGeom>
              <a:avLst/>
              <a:gdLst/>
              <a:ahLst/>
              <a:cxnLst/>
              <a:rect l="l" t="t" r="r" b="b"/>
              <a:pathLst>
                <a:path w="4306189" h="2645918">
                  <a:moveTo>
                    <a:pt x="4699" y="0"/>
                  </a:moveTo>
                  <a:lnTo>
                    <a:pt x="4301490" y="0"/>
                  </a:lnTo>
                  <a:cubicBezTo>
                    <a:pt x="4304030" y="0"/>
                    <a:pt x="4306189" y="2032"/>
                    <a:pt x="4306189" y="4699"/>
                  </a:cubicBezTo>
                  <a:lnTo>
                    <a:pt x="4306189" y="2641219"/>
                  </a:lnTo>
                  <a:cubicBezTo>
                    <a:pt x="4306189" y="2643759"/>
                    <a:pt x="4304157" y="2645918"/>
                    <a:pt x="4301490" y="2645918"/>
                  </a:cubicBezTo>
                  <a:lnTo>
                    <a:pt x="4699" y="2645918"/>
                  </a:lnTo>
                  <a:cubicBezTo>
                    <a:pt x="2159" y="2645918"/>
                    <a:pt x="0" y="2643886"/>
                    <a:pt x="0" y="2641219"/>
                  </a:cubicBezTo>
                  <a:lnTo>
                    <a:pt x="0" y="4699"/>
                  </a:lnTo>
                  <a:cubicBezTo>
                    <a:pt x="0" y="2032"/>
                    <a:pt x="2032" y="0"/>
                    <a:pt x="4699" y="0"/>
                  </a:cubicBezTo>
                  <a:moveTo>
                    <a:pt x="4699" y="9271"/>
                  </a:moveTo>
                  <a:lnTo>
                    <a:pt x="4699" y="4699"/>
                  </a:lnTo>
                  <a:lnTo>
                    <a:pt x="9271" y="4699"/>
                  </a:lnTo>
                  <a:lnTo>
                    <a:pt x="9271" y="2641219"/>
                  </a:lnTo>
                  <a:lnTo>
                    <a:pt x="4699" y="2641219"/>
                  </a:lnTo>
                  <a:lnTo>
                    <a:pt x="4699" y="2636520"/>
                  </a:lnTo>
                  <a:lnTo>
                    <a:pt x="4301490" y="2636520"/>
                  </a:lnTo>
                  <a:lnTo>
                    <a:pt x="4301490" y="2641219"/>
                  </a:lnTo>
                  <a:lnTo>
                    <a:pt x="4296791" y="2641219"/>
                  </a:lnTo>
                  <a:lnTo>
                    <a:pt x="4296791" y="4699"/>
                  </a:lnTo>
                  <a:lnTo>
                    <a:pt x="4301490" y="4699"/>
                  </a:lnTo>
                  <a:lnTo>
                    <a:pt x="4301490" y="9271"/>
                  </a:lnTo>
                  <a:lnTo>
                    <a:pt x="4699" y="9271"/>
                  </a:lnTo>
                  <a:close/>
                </a:path>
              </a:pathLst>
            </a:custGeom>
            <a:solidFill>
              <a:srgbClr val="D9E5E1"/>
            </a:solidFill>
          </p:spPr>
          <p:txBody>
            <a:bodyPr/>
            <a:lstStyle/>
            <a:p>
              <a:endParaRPr lang="en-US"/>
            </a:p>
          </p:txBody>
        </p:sp>
      </p:grpSp>
      <p:grpSp>
        <p:nvGrpSpPr>
          <p:cNvPr id="12" name="Group 12"/>
          <p:cNvGrpSpPr/>
          <p:nvPr/>
        </p:nvGrpSpPr>
        <p:grpSpPr>
          <a:xfrm>
            <a:off x="14140815" y="3329626"/>
            <a:ext cx="3222622" cy="1977390"/>
            <a:chOff x="0" y="0"/>
            <a:chExt cx="4296829" cy="2636520"/>
          </a:xfrm>
        </p:grpSpPr>
        <p:sp>
          <p:nvSpPr>
            <p:cNvPr id="13" name="Freeform 13"/>
            <p:cNvSpPr/>
            <p:nvPr/>
          </p:nvSpPr>
          <p:spPr>
            <a:xfrm>
              <a:off x="0" y="0"/>
              <a:ext cx="4296791" cy="2636520"/>
            </a:xfrm>
            <a:custGeom>
              <a:avLst/>
              <a:gdLst/>
              <a:ahLst/>
              <a:cxnLst/>
              <a:rect l="l" t="t" r="r" b="b"/>
              <a:pathLst>
                <a:path w="4296791" h="2636520">
                  <a:moveTo>
                    <a:pt x="0" y="0"/>
                  </a:moveTo>
                  <a:lnTo>
                    <a:pt x="4296791" y="0"/>
                  </a:lnTo>
                  <a:lnTo>
                    <a:pt x="4296791" y="2636520"/>
                  </a:lnTo>
                  <a:lnTo>
                    <a:pt x="0" y="2636520"/>
                  </a:lnTo>
                  <a:close/>
                </a:path>
              </a:pathLst>
            </a:custGeom>
            <a:solidFill>
              <a:srgbClr val="FFFFFF"/>
            </a:solidFill>
          </p:spPr>
          <p:txBody>
            <a:bodyPr/>
            <a:lstStyle/>
            <a:p>
              <a:endParaRPr lang="en-US"/>
            </a:p>
          </p:txBody>
        </p:sp>
      </p:grpSp>
      <p:grpSp>
        <p:nvGrpSpPr>
          <p:cNvPr id="14" name="Group 14"/>
          <p:cNvGrpSpPr/>
          <p:nvPr/>
        </p:nvGrpSpPr>
        <p:grpSpPr>
          <a:xfrm>
            <a:off x="14109382" y="3333117"/>
            <a:ext cx="27937" cy="1977390"/>
            <a:chOff x="0" y="0"/>
            <a:chExt cx="37249" cy="2636520"/>
          </a:xfrm>
        </p:grpSpPr>
        <p:sp>
          <p:nvSpPr>
            <p:cNvPr id="15" name="Freeform 15"/>
            <p:cNvSpPr/>
            <p:nvPr/>
          </p:nvSpPr>
          <p:spPr>
            <a:xfrm>
              <a:off x="0" y="0"/>
              <a:ext cx="37211" cy="2636520"/>
            </a:xfrm>
            <a:custGeom>
              <a:avLst/>
              <a:gdLst/>
              <a:ahLst/>
              <a:cxnLst/>
              <a:rect l="l" t="t" r="r" b="b"/>
              <a:pathLst>
                <a:path w="37211" h="2636520">
                  <a:moveTo>
                    <a:pt x="0" y="0"/>
                  </a:moveTo>
                  <a:lnTo>
                    <a:pt x="37211" y="0"/>
                  </a:lnTo>
                  <a:lnTo>
                    <a:pt x="37211" y="2636520"/>
                  </a:lnTo>
                  <a:lnTo>
                    <a:pt x="0" y="2636520"/>
                  </a:lnTo>
                  <a:close/>
                </a:path>
              </a:pathLst>
            </a:custGeom>
            <a:solidFill>
              <a:srgbClr val="EA580C"/>
            </a:solidFill>
          </p:spPr>
          <p:txBody>
            <a:bodyPr/>
            <a:lstStyle/>
            <a:p>
              <a:endParaRPr lang="en-US"/>
            </a:p>
          </p:txBody>
        </p:sp>
      </p:grpSp>
      <p:grpSp>
        <p:nvGrpSpPr>
          <p:cNvPr id="16" name="Group 16"/>
          <p:cNvGrpSpPr/>
          <p:nvPr/>
        </p:nvGrpSpPr>
        <p:grpSpPr>
          <a:xfrm>
            <a:off x="10675571" y="5497516"/>
            <a:ext cx="3229613" cy="1984372"/>
            <a:chOff x="0" y="0"/>
            <a:chExt cx="4306151" cy="2645829"/>
          </a:xfrm>
        </p:grpSpPr>
        <p:sp>
          <p:nvSpPr>
            <p:cNvPr id="17" name="Freeform 17"/>
            <p:cNvSpPr/>
            <p:nvPr/>
          </p:nvSpPr>
          <p:spPr>
            <a:xfrm>
              <a:off x="4699" y="4699"/>
              <a:ext cx="4296791" cy="2636520"/>
            </a:xfrm>
            <a:custGeom>
              <a:avLst/>
              <a:gdLst/>
              <a:ahLst/>
              <a:cxnLst/>
              <a:rect l="l" t="t" r="r" b="b"/>
              <a:pathLst>
                <a:path w="4296791" h="2636520">
                  <a:moveTo>
                    <a:pt x="0" y="0"/>
                  </a:moveTo>
                  <a:lnTo>
                    <a:pt x="4296791" y="0"/>
                  </a:lnTo>
                  <a:lnTo>
                    <a:pt x="4296791" y="2636520"/>
                  </a:lnTo>
                  <a:lnTo>
                    <a:pt x="0" y="2636520"/>
                  </a:lnTo>
                  <a:close/>
                </a:path>
              </a:pathLst>
            </a:custGeom>
            <a:solidFill>
              <a:srgbClr val="FFFFFF"/>
            </a:solidFill>
          </p:spPr>
          <p:txBody>
            <a:bodyPr/>
            <a:lstStyle/>
            <a:p>
              <a:endParaRPr lang="en-US"/>
            </a:p>
          </p:txBody>
        </p:sp>
        <p:sp>
          <p:nvSpPr>
            <p:cNvPr id="18" name="Freeform 18"/>
            <p:cNvSpPr/>
            <p:nvPr/>
          </p:nvSpPr>
          <p:spPr>
            <a:xfrm>
              <a:off x="0" y="0"/>
              <a:ext cx="4306189" cy="2645918"/>
            </a:xfrm>
            <a:custGeom>
              <a:avLst/>
              <a:gdLst/>
              <a:ahLst/>
              <a:cxnLst/>
              <a:rect l="l" t="t" r="r" b="b"/>
              <a:pathLst>
                <a:path w="4306189" h="2645918">
                  <a:moveTo>
                    <a:pt x="4699" y="0"/>
                  </a:moveTo>
                  <a:lnTo>
                    <a:pt x="4301490" y="0"/>
                  </a:lnTo>
                  <a:cubicBezTo>
                    <a:pt x="4304030" y="0"/>
                    <a:pt x="4306189" y="2032"/>
                    <a:pt x="4306189" y="4699"/>
                  </a:cubicBezTo>
                  <a:lnTo>
                    <a:pt x="4306189" y="2641219"/>
                  </a:lnTo>
                  <a:cubicBezTo>
                    <a:pt x="4306189" y="2643759"/>
                    <a:pt x="4304157" y="2645918"/>
                    <a:pt x="4301490" y="2645918"/>
                  </a:cubicBezTo>
                  <a:lnTo>
                    <a:pt x="4699" y="2645918"/>
                  </a:lnTo>
                  <a:cubicBezTo>
                    <a:pt x="2159" y="2645918"/>
                    <a:pt x="0" y="2643886"/>
                    <a:pt x="0" y="2641219"/>
                  </a:cubicBezTo>
                  <a:lnTo>
                    <a:pt x="0" y="4699"/>
                  </a:lnTo>
                  <a:cubicBezTo>
                    <a:pt x="0" y="2032"/>
                    <a:pt x="2032" y="0"/>
                    <a:pt x="4699" y="0"/>
                  </a:cubicBezTo>
                  <a:moveTo>
                    <a:pt x="4699" y="9271"/>
                  </a:moveTo>
                  <a:lnTo>
                    <a:pt x="4699" y="4699"/>
                  </a:lnTo>
                  <a:lnTo>
                    <a:pt x="9271" y="4699"/>
                  </a:lnTo>
                  <a:lnTo>
                    <a:pt x="9271" y="2641219"/>
                  </a:lnTo>
                  <a:lnTo>
                    <a:pt x="4699" y="2641219"/>
                  </a:lnTo>
                  <a:lnTo>
                    <a:pt x="4699" y="2636520"/>
                  </a:lnTo>
                  <a:lnTo>
                    <a:pt x="4301490" y="2636520"/>
                  </a:lnTo>
                  <a:lnTo>
                    <a:pt x="4301490" y="2641219"/>
                  </a:lnTo>
                  <a:lnTo>
                    <a:pt x="4296791" y="2641219"/>
                  </a:lnTo>
                  <a:lnTo>
                    <a:pt x="4296791" y="4699"/>
                  </a:lnTo>
                  <a:lnTo>
                    <a:pt x="4301490" y="4699"/>
                  </a:lnTo>
                  <a:lnTo>
                    <a:pt x="4301490" y="9271"/>
                  </a:lnTo>
                  <a:lnTo>
                    <a:pt x="4699" y="9271"/>
                  </a:lnTo>
                  <a:close/>
                </a:path>
              </a:pathLst>
            </a:custGeom>
            <a:solidFill>
              <a:srgbClr val="D9E5E1"/>
            </a:solidFill>
          </p:spPr>
          <p:txBody>
            <a:bodyPr/>
            <a:lstStyle/>
            <a:p>
              <a:endParaRPr lang="en-US"/>
            </a:p>
          </p:txBody>
        </p:sp>
      </p:grpSp>
      <p:grpSp>
        <p:nvGrpSpPr>
          <p:cNvPr id="19" name="Group 19"/>
          <p:cNvGrpSpPr/>
          <p:nvPr/>
        </p:nvGrpSpPr>
        <p:grpSpPr>
          <a:xfrm>
            <a:off x="14109382" y="5497516"/>
            <a:ext cx="3229613" cy="1984372"/>
            <a:chOff x="0" y="0"/>
            <a:chExt cx="4306151" cy="2645829"/>
          </a:xfrm>
        </p:grpSpPr>
        <p:sp>
          <p:nvSpPr>
            <p:cNvPr id="20" name="Freeform 20"/>
            <p:cNvSpPr/>
            <p:nvPr/>
          </p:nvSpPr>
          <p:spPr>
            <a:xfrm>
              <a:off x="4699" y="4699"/>
              <a:ext cx="4296791" cy="2636520"/>
            </a:xfrm>
            <a:custGeom>
              <a:avLst/>
              <a:gdLst/>
              <a:ahLst/>
              <a:cxnLst/>
              <a:rect l="l" t="t" r="r" b="b"/>
              <a:pathLst>
                <a:path w="4296791" h="2636520">
                  <a:moveTo>
                    <a:pt x="0" y="0"/>
                  </a:moveTo>
                  <a:lnTo>
                    <a:pt x="4296791" y="0"/>
                  </a:lnTo>
                  <a:lnTo>
                    <a:pt x="4296791" y="2636520"/>
                  </a:lnTo>
                  <a:lnTo>
                    <a:pt x="0" y="2636520"/>
                  </a:lnTo>
                  <a:close/>
                </a:path>
              </a:pathLst>
            </a:custGeom>
            <a:solidFill>
              <a:srgbClr val="FFFFFF"/>
            </a:solidFill>
          </p:spPr>
          <p:txBody>
            <a:bodyPr/>
            <a:lstStyle/>
            <a:p>
              <a:endParaRPr lang="en-US"/>
            </a:p>
          </p:txBody>
        </p:sp>
        <p:sp>
          <p:nvSpPr>
            <p:cNvPr id="21" name="Freeform 21"/>
            <p:cNvSpPr/>
            <p:nvPr/>
          </p:nvSpPr>
          <p:spPr>
            <a:xfrm>
              <a:off x="0" y="0"/>
              <a:ext cx="4306189" cy="2645918"/>
            </a:xfrm>
            <a:custGeom>
              <a:avLst/>
              <a:gdLst/>
              <a:ahLst/>
              <a:cxnLst/>
              <a:rect l="l" t="t" r="r" b="b"/>
              <a:pathLst>
                <a:path w="4306189" h="2645918">
                  <a:moveTo>
                    <a:pt x="4699" y="0"/>
                  </a:moveTo>
                  <a:lnTo>
                    <a:pt x="4301490" y="0"/>
                  </a:lnTo>
                  <a:cubicBezTo>
                    <a:pt x="4304030" y="0"/>
                    <a:pt x="4306189" y="2032"/>
                    <a:pt x="4306189" y="4699"/>
                  </a:cubicBezTo>
                  <a:lnTo>
                    <a:pt x="4306189" y="2641219"/>
                  </a:lnTo>
                  <a:cubicBezTo>
                    <a:pt x="4306189" y="2643759"/>
                    <a:pt x="4304157" y="2645918"/>
                    <a:pt x="4301490" y="2645918"/>
                  </a:cubicBezTo>
                  <a:lnTo>
                    <a:pt x="4699" y="2645918"/>
                  </a:lnTo>
                  <a:cubicBezTo>
                    <a:pt x="2159" y="2645918"/>
                    <a:pt x="0" y="2643886"/>
                    <a:pt x="0" y="2641219"/>
                  </a:cubicBezTo>
                  <a:lnTo>
                    <a:pt x="0" y="4699"/>
                  </a:lnTo>
                  <a:cubicBezTo>
                    <a:pt x="0" y="2032"/>
                    <a:pt x="2032" y="0"/>
                    <a:pt x="4699" y="0"/>
                  </a:cubicBezTo>
                  <a:moveTo>
                    <a:pt x="4699" y="9271"/>
                  </a:moveTo>
                  <a:lnTo>
                    <a:pt x="4699" y="4699"/>
                  </a:lnTo>
                  <a:lnTo>
                    <a:pt x="9271" y="4699"/>
                  </a:lnTo>
                  <a:lnTo>
                    <a:pt x="9271" y="2641219"/>
                  </a:lnTo>
                  <a:lnTo>
                    <a:pt x="4699" y="2641219"/>
                  </a:lnTo>
                  <a:lnTo>
                    <a:pt x="4699" y="2636520"/>
                  </a:lnTo>
                  <a:lnTo>
                    <a:pt x="4301490" y="2636520"/>
                  </a:lnTo>
                  <a:lnTo>
                    <a:pt x="4301490" y="2641219"/>
                  </a:lnTo>
                  <a:lnTo>
                    <a:pt x="4296791" y="2641219"/>
                  </a:lnTo>
                  <a:lnTo>
                    <a:pt x="4296791" y="4699"/>
                  </a:lnTo>
                  <a:lnTo>
                    <a:pt x="4301490" y="4699"/>
                  </a:lnTo>
                  <a:lnTo>
                    <a:pt x="4301490" y="9271"/>
                  </a:lnTo>
                  <a:lnTo>
                    <a:pt x="4699" y="9271"/>
                  </a:lnTo>
                  <a:close/>
                </a:path>
              </a:pathLst>
            </a:custGeom>
            <a:solidFill>
              <a:srgbClr val="D9E5E1"/>
            </a:solidFill>
          </p:spPr>
          <p:txBody>
            <a:bodyPr/>
            <a:lstStyle/>
            <a:p>
              <a:endParaRPr lang="en-US"/>
            </a:p>
          </p:txBody>
        </p:sp>
      </p:grpSp>
      <p:grpSp>
        <p:nvGrpSpPr>
          <p:cNvPr id="22" name="Group 22"/>
          <p:cNvGrpSpPr/>
          <p:nvPr/>
        </p:nvGrpSpPr>
        <p:grpSpPr>
          <a:xfrm>
            <a:off x="14112744" y="5494977"/>
            <a:ext cx="28071" cy="1986910"/>
            <a:chOff x="0" y="0"/>
            <a:chExt cx="37249" cy="2636520"/>
          </a:xfrm>
        </p:grpSpPr>
        <p:sp>
          <p:nvSpPr>
            <p:cNvPr id="23" name="Freeform 23"/>
            <p:cNvSpPr/>
            <p:nvPr/>
          </p:nvSpPr>
          <p:spPr>
            <a:xfrm>
              <a:off x="0" y="0"/>
              <a:ext cx="37211" cy="2636520"/>
            </a:xfrm>
            <a:custGeom>
              <a:avLst/>
              <a:gdLst/>
              <a:ahLst/>
              <a:cxnLst/>
              <a:rect l="l" t="t" r="r" b="b"/>
              <a:pathLst>
                <a:path w="37211" h="2636520">
                  <a:moveTo>
                    <a:pt x="0" y="0"/>
                  </a:moveTo>
                  <a:lnTo>
                    <a:pt x="37211" y="0"/>
                  </a:lnTo>
                  <a:lnTo>
                    <a:pt x="37211" y="2636520"/>
                  </a:lnTo>
                  <a:lnTo>
                    <a:pt x="0" y="2636520"/>
                  </a:lnTo>
                  <a:close/>
                </a:path>
              </a:pathLst>
            </a:custGeom>
            <a:solidFill>
              <a:srgbClr val="EA580C"/>
            </a:solidFill>
          </p:spPr>
          <p:txBody>
            <a:bodyPr/>
            <a:lstStyle/>
            <a:p>
              <a:endParaRPr lang="en-US"/>
            </a:p>
          </p:txBody>
        </p:sp>
      </p:grpSp>
      <p:grpSp>
        <p:nvGrpSpPr>
          <p:cNvPr id="24" name="Group 24"/>
          <p:cNvGrpSpPr/>
          <p:nvPr/>
        </p:nvGrpSpPr>
        <p:grpSpPr>
          <a:xfrm>
            <a:off x="10675571" y="3333117"/>
            <a:ext cx="27986" cy="1980881"/>
            <a:chOff x="0" y="0"/>
            <a:chExt cx="37249" cy="2636520"/>
          </a:xfrm>
        </p:grpSpPr>
        <p:sp>
          <p:nvSpPr>
            <p:cNvPr id="25" name="Freeform 25"/>
            <p:cNvSpPr/>
            <p:nvPr/>
          </p:nvSpPr>
          <p:spPr>
            <a:xfrm>
              <a:off x="0" y="0"/>
              <a:ext cx="37211" cy="2636520"/>
            </a:xfrm>
            <a:custGeom>
              <a:avLst/>
              <a:gdLst/>
              <a:ahLst/>
              <a:cxnLst/>
              <a:rect l="l" t="t" r="r" b="b"/>
              <a:pathLst>
                <a:path w="37211" h="2636520">
                  <a:moveTo>
                    <a:pt x="0" y="0"/>
                  </a:moveTo>
                  <a:lnTo>
                    <a:pt x="37211" y="0"/>
                  </a:lnTo>
                  <a:lnTo>
                    <a:pt x="37211" y="2636520"/>
                  </a:lnTo>
                  <a:lnTo>
                    <a:pt x="0" y="2636520"/>
                  </a:lnTo>
                  <a:close/>
                </a:path>
              </a:pathLst>
            </a:custGeom>
            <a:solidFill>
              <a:srgbClr val="EA580C"/>
            </a:solidFill>
          </p:spPr>
          <p:txBody>
            <a:bodyPr/>
            <a:lstStyle/>
            <a:p>
              <a:endParaRPr lang="en-US"/>
            </a:p>
          </p:txBody>
        </p:sp>
      </p:grpSp>
      <p:grpSp>
        <p:nvGrpSpPr>
          <p:cNvPr id="26" name="Group 26"/>
          <p:cNvGrpSpPr/>
          <p:nvPr/>
        </p:nvGrpSpPr>
        <p:grpSpPr>
          <a:xfrm>
            <a:off x="10675571" y="5497516"/>
            <a:ext cx="28035" cy="1984372"/>
            <a:chOff x="0" y="0"/>
            <a:chExt cx="37249" cy="2636520"/>
          </a:xfrm>
        </p:grpSpPr>
        <p:sp>
          <p:nvSpPr>
            <p:cNvPr id="27" name="Freeform 27"/>
            <p:cNvSpPr/>
            <p:nvPr/>
          </p:nvSpPr>
          <p:spPr>
            <a:xfrm>
              <a:off x="0" y="0"/>
              <a:ext cx="37211" cy="2636520"/>
            </a:xfrm>
            <a:custGeom>
              <a:avLst/>
              <a:gdLst/>
              <a:ahLst/>
              <a:cxnLst/>
              <a:rect l="l" t="t" r="r" b="b"/>
              <a:pathLst>
                <a:path w="37211" h="2636520">
                  <a:moveTo>
                    <a:pt x="0" y="0"/>
                  </a:moveTo>
                  <a:lnTo>
                    <a:pt x="37211" y="0"/>
                  </a:lnTo>
                  <a:lnTo>
                    <a:pt x="37211" y="2636520"/>
                  </a:lnTo>
                  <a:lnTo>
                    <a:pt x="0" y="2636520"/>
                  </a:lnTo>
                  <a:close/>
                </a:path>
              </a:pathLst>
            </a:custGeom>
            <a:solidFill>
              <a:srgbClr val="EA580C"/>
            </a:solidFill>
          </p:spPr>
          <p:txBody>
            <a:bodyPr/>
            <a:lstStyle/>
            <a:p>
              <a:endParaRPr lang="en-US"/>
            </a:p>
          </p:txBody>
        </p:sp>
      </p:grpSp>
      <p:grpSp>
        <p:nvGrpSpPr>
          <p:cNvPr id="28" name="Group 28"/>
          <p:cNvGrpSpPr/>
          <p:nvPr/>
        </p:nvGrpSpPr>
        <p:grpSpPr>
          <a:xfrm>
            <a:off x="10742603" y="8062912"/>
            <a:ext cx="6516697" cy="1564329"/>
            <a:chOff x="0" y="0"/>
            <a:chExt cx="1716332" cy="412004"/>
          </a:xfrm>
        </p:grpSpPr>
        <p:sp>
          <p:nvSpPr>
            <p:cNvPr id="29" name="Freeform 29"/>
            <p:cNvSpPr/>
            <p:nvPr/>
          </p:nvSpPr>
          <p:spPr>
            <a:xfrm>
              <a:off x="0" y="0"/>
              <a:ext cx="1716332" cy="412004"/>
            </a:xfrm>
            <a:custGeom>
              <a:avLst/>
              <a:gdLst/>
              <a:ahLst/>
              <a:cxnLst/>
              <a:rect l="l" t="t" r="r" b="b"/>
              <a:pathLst>
                <a:path w="1716332" h="412004">
                  <a:moveTo>
                    <a:pt x="0" y="0"/>
                  </a:moveTo>
                  <a:lnTo>
                    <a:pt x="1716332" y="0"/>
                  </a:lnTo>
                  <a:lnTo>
                    <a:pt x="1716332" y="412004"/>
                  </a:lnTo>
                  <a:lnTo>
                    <a:pt x="0" y="412004"/>
                  </a:lnTo>
                  <a:close/>
                </a:path>
              </a:pathLst>
            </a:custGeom>
            <a:solidFill>
              <a:srgbClr val="FFFFFF"/>
            </a:solidFill>
          </p:spPr>
          <p:txBody>
            <a:bodyPr/>
            <a:lstStyle/>
            <a:p>
              <a:endParaRPr lang="en-US"/>
            </a:p>
          </p:txBody>
        </p:sp>
        <p:sp>
          <p:nvSpPr>
            <p:cNvPr id="30" name="TextBox 30"/>
            <p:cNvSpPr txBox="1"/>
            <p:nvPr/>
          </p:nvSpPr>
          <p:spPr>
            <a:xfrm>
              <a:off x="0" y="-57150"/>
              <a:ext cx="1716332" cy="469154"/>
            </a:xfrm>
            <a:prstGeom prst="rect">
              <a:avLst/>
            </a:prstGeom>
          </p:spPr>
          <p:txBody>
            <a:bodyPr lIns="50800" tIns="50800" rIns="50800" bIns="50800" rtlCol="0" anchor="ctr"/>
            <a:lstStyle/>
            <a:p>
              <a:pPr algn="ctr">
                <a:lnSpc>
                  <a:spcPts val="2510"/>
                </a:lnSpc>
              </a:pPr>
              <a:endParaRPr/>
            </a:p>
          </p:txBody>
        </p:sp>
      </p:grpSp>
      <p:sp>
        <p:nvSpPr>
          <p:cNvPr id="31" name="Freeform 31"/>
          <p:cNvSpPr/>
          <p:nvPr/>
        </p:nvSpPr>
        <p:spPr>
          <a:xfrm>
            <a:off x="10675571" y="7964269"/>
            <a:ext cx="1659579" cy="1659579"/>
          </a:xfrm>
          <a:custGeom>
            <a:avLst/>
            <a:gdLst/>
            <a:ahLst/>
            <a:cxnLst/>
            <a:rect l="l" t="t" r="r" b="b"/>
            <a:pathLst>
              <a:path w="1659579" h="1659579">
                <a:moveTo>
                  <a:pt x="0" y="0"/>
                </a:moveTo>
                <a:lnTo>
                  <a:pt x="1659579" y="0"/>
                </a:lnTo>
                <a:lnTo>
                  <a:pt x="1659579" y="1659579"/>
                </a:lnTo>
                <a:lnTo>
                  <a:pt x="0" y="1659579"/>
                </a:lnTo>
                <a:lnTo>
                  <a:pt x="0" y="0"/>
                </a:lnTo>
                <a:close/>
              </a:path>
            </a:pathLst>
          </a:custGeom>
          <a:blipFill>
            <a:blip r:embed="rId4"/>
            <a:stretch>
              <a:fillRect/>
            </a:stretch>
          </a:blipFill>
        </p:spPr>
        <p:txBody>
          <a:bodyPr/>
          <a:lstStyle/>
          <a:p>
            <a:endParaRPr lang="en-US"/>
          </a:p>
        </p:txBody>
      </p:sp>
      <p:grpSp>
        <p:nvGrpSpPr>
          <p:cNvPr id="32" name="Group 32"/>
          <p:cNvGrpSpPr/>
          <p:nvPr/>
        </p:nvGrpSpPr>
        <p:grpSpPr>
          <a:xfrm>
            <a:off x="787403" y="617597"/>
            <a:ext cx="2111216" cy="631706"/>
            <a:chOff x="0" y="0"/>
            <a:chExt cx="2814955" cy="842275"/>
          </a:xfrm>
        </p:grpSpPr>
        <p:sp>
          <p:nvSpPr>
            <p:cNvPr id="33" name="Freeform 33"/>
            <p:cNvSpPr/>
            <p:nvPr/>
          </p:nvSpPr>
          <p:spPr>
            <a:xfrm>
              <a:off x="0" y="0"/>
              <a:ext cx="842275" cy="842275"/>
            </a:xfrm>
            <a:custGeom>
              <a:avLst/>
              <a:gdLst/>
              <a:ahLst/>
              <a:cxnLst/>
              <a:rect l="l" t="t" r="r" b="b"/>
              <a:pathLst>
                <a:path w="842275" h="842275">
                  <a:moveTo>
                    <a:pt x="0" y="0"/>
                  </a:moveTo>
                  <a:lnTo>
                    <a:pt x="842275" y="0"/>
                  </a:lnTo>
                  <a:lnTo>
                    <a:pt x="842275" y="842275"/>
                  </a:lnTo>
                  <a:lnTo>
                    <a:pt x="0" y="842275"/>
                  </a:lnTo>
                  <a:lnTo>
                    <a:pt x="0" y="0"/>
                  </a:lnTo>
                  <a:close/>
                </a:path>
              </a:pathLst>
            </a:custGeom>
            <a:blipFill>
              <a:blip r:embed="rId5"/>
              <a:stretch>
                <a:fillRect/>
              </a:stretch>
            </a:blipFill>
          </p:spPr>
          <p:txBody>
            <a:bodyPr/>
            <a:lstStyle/>
            <a:p>
              <a:endParaRPr lang="en-US"/>
            </a:p>
          </p:txBody>
        </p:sp>
        <p:sp>
          <p:nvSpPr>
            <p:cNvPr id="34" name="TextBox 34"/>
            <p:cNvSpPr txBox="1"/>
            <p:nvPr/>
          </p:nvSpPr>
          <p:spPr>
            <a:xfrm>
              <a:off x="1056005" y="224287"/>
              <a:ext cx="1758950" cy="359410"/>
            </a:xfrm>
            <a:prstGeom prst="rect">
              <a:avLst/>
            </a:prstGeom>
          </p:spPr>
          <p:txBody>
            <a:bodyPr lIns="0" tIns="0" rIns="0" bIns="0" rtlCol="0" anchor="t">
              <a:spAutoFit/>
            </a:bodyPr>
            <a:lstStyle/>
            <a:p>
              <a:pPr algn="l">
                <a:lnSpc>
                  <a:spcPts val="1980"/>
                </a:lnSpc>
              </a:pPr>
              <a:r>
                <a:rPr lang="en-US" sz="1650" b="1" spc="66">
                  <a:solidFill>
                    <a:srgbClr val="0B1F23"/>
                  </a:solidFill>
                  <a:latin typeface="Arial Bold"/>
                  <a:ea typeface="Arial Bold"/>
                  <a:cs typeface="Arial Bold"/>
                  <a:sym typeface="Arial Bold"/>
                </a:rPr>
                <a:t>Komplain</a:t>
              </a:r>
              <a:r>
                <a:rPr lang="en-US" sz="1650" b="1" spc="66">
                  <a:solidFill>
                    <a:srgbClr val="FFFFFF"/>
                  </a:solidFill>
                  <a:latin typeface="Arial Bold"/>
                  <a:ea typeface="Arial Bold"/>
                  <a:cs typeface="Arial Bold"/>
                  <a:sym typeface="Arial Bold"/>
                </a:rPr>
                <a:t>.</a:t>
              </a:r>
              <a:r>
                <a:rPr lang="en-US" sz="1650" b="1" spc="66">
                  <a:solidFill>
                    <a:srgbClr val="E9570B"/>
                  </a:solidFill>
                  <a:latin typeface="Arial Bold"/>
                  <a:ea typeface="Arial Bold"/>
                  <a:cs typeface="Arial Bold"/>
                  <a:sym typeface="Arial Bold"/>
                </a:rPr>
                <a:t>ai</a:t>
              </a:r>
            </a:p>
          </p:txBody>
        </p:sp>
      </p:grpSp>
      <p:grpSp>
        <p:nvGrpSpPr>
          <p:cNvPr id="35" name="Group 35"/>
          <p:cNvGrpSpPr/>
          <p:nvPr/>
        </p:nvGrpSpPr>
        <p:grpSpPr>
          <a:xfrm>
            <a:off x="0" y="0"/>
            <a:ext cx="18288000" cy="550922"/>
            <a:chOff x="0" y="0"/>
            <a:chExt cx="24384000" cy="734563"/>
          </a:xfrm>
        </p:grpSpPr>
        <p:grpSp>
          <p:nvGrpSpPr>
            <p:cNvPr id="36" name="Group 36"/>
            <p:cNvGrpSpPr/>
            <p:nvPr/>
          </p:nvGrpSpPr>
          <p:grpSpPr>
            <a:xfrm>
              <a:off x="0" y="0"/>
              <a:ext cx="24384000" cy="734563"/>
              <a:chOff x="0" y="0"/>
              <a:chExt cx="4816593" cy="145099"/>
            </a:xfrm>
          </p:grpSpPr>
          <p:sp>
            <p:nvSpPr>
              <p:cNvPr id="37" name="Freeform 37"/>
              <p:cNvSpPr/>
              <p:nvPr/>
            </p:nvSpPr>
            <p:spPr>
              <a:xfrm>
                <a:off x="0" y="0"/>
                <a:ext cx="4816592" cy="145099"/>
              </a:xfrm>
              <a:custGeom>
                <a:avLst/>
                <a:gdLst/>
                <a:ahLst/>
                <a:cxnLst/>
                <a:rect l="l" t="t" r="r" b="b"/>
                <a:pathLst>
                  <a:path w="4816592" h="145099">
                    <a:moveTo>
                      <a:pt x="0" y="0"/>
                    </a:moveTo>
                    <a:lnTo>
                      <a:pt x="4816592" y="0"/>
                    </a:lnTo>
                    <a:lnTo>
                      <a:pt x="4816592" y="145099"/>
                    </a:lnTo>
                    <a:lnTo>
                      <a:pt x="0" y="145099"/>
                    </a:lnTo>
                    <a:close/>
                  </a:path>
                </a:pathLst>
              </a:custGeom>
              <a:solidFill>
                <a:srgbClr val="FFFFFF"/>
              </a:solidFill>
            </p:spPr>
            <p:txBody>
              <a:bodyPr/>
              <a:lstStyle/>
              <a:p>
                <a:endParaRPr lang="en-US"/>
              </a:p>
            </p:txBody>
          </p:sp>
          <p:sp>
            <p:nvSpPr>
              <p:cNvPr id="38" name="TextBox 38"/>
              <p:cNvSpPr txBox="1"/>
              <p:nvPr/>
            </p:nvSpPr>
            <p:spPr>
              <a:xfrm>
                <a:off x="0" y="-57150"/>
                <a:ext cx="4816593" cy="202249"/>
              </a:xfrm>
              <a:prstGeom prst="rect">
                <a:avLst/>
              </a:prstGeom>
            </p:spPr>
            <p:txBody>
              <a:bodyPr lIns="50800" tIns="50800" rIns="50800" bIns="50800" rtlCol="0" anchor="ctr"/>
              <a:lstStyle/>
              <a:p>
                <a:pPr algn="ctr">
                  <a:lnSpc>
                    <a:spcPts val="2510"/>
                  </a:lnSpc>
                </a:pPr>
                <a:endParaRPr/>
              </a:p>
            </p:txBody>
          </p:sp>
        </p:grpSp>
        <p:sp>
          <p:nvSpPr>
            <p:cNvPr id="39" name="Freeform 39"/>
            <p:cNvSpPr/>
            <p:nvPr/>
          </p:nvSpPr>
          <p:spPr>
            <a:xfrm>
              <a:off x="16685546" y="206129"/>
              <a:ext cx="1109782" cy="325178"/>
            </a:xfrm>
            <a:custGeom>
              <a:avLst/>
              <a:gdLst/>
              <a:ahLst/>
              <a:cxnLst/>
              <a:rect l="l" t="t" r="r" b="b"/>
              <a:pathLst>
                <a:path w="1109782" h="325178">
                  <a:moveTo>
                    <a:pt x="0" y="0"/>
                  </a:moveTo>
                  <a:lnTo>
                    <a:pt x="1109782" y="0"/>
                  </a:lnTo>
                  <a:lnTo>
                    <a:pt x="1109782" y="325179"/>
                  </a:lnTo>
                  <a:lnTo>
                    <a:pt x="0" y="325179"/>
                  </a:lnTo>
                  <a:lnTo>
                    <a:pt x="0" y="0"/>
                  </a:lnTo>
                  <a:close/>
                </a:path>
              </a:pathLst>
            </a:custGeom>
            <a:blipFill>
              <a:blip r:embed="rId6"/>
              <a:stretch>
                <a:fillRect t="-8011" b="-8011"/>
              </a:stretch>
            </a:blipFill>
          </p:spPr>
          <p:txBody>
            <a:bodyPr/>
            <a:lstStyle/>
            <a:p>
              <a:endParaRPr lang="en-US"/>
            </a:p>
          </p:txBody>
        </p:sp>
        <p:sp>
          <p:nvSpPr>
            <p:cNvPr id="40" name="Freeform 40"/>
            <p:cNvSpPr/>
            <p:nvPr/>
          </p:nvSpPr>
          <p:spPr>
            <a:xfrm>
              <a:off x="18238446" y="88092"/>
              <a:ext cx="2752113" cy="561252"/>
            </a:xfrm>
            <a:custGeom>
              <a:avLst/>
              <a:gdLst/>
              <a:ahLst/>
              <a:cxnLst/>
              <a:rect l="l" t="t" r="r" b="b"/>
              <a:pathLst>
                <a:path w="2752113" h="561252">
                  <a:moveTo>
                    <a:pt x="0" y="0"/>
                  </a:moveTo>
                  <a:lnTo>
                    <a:pt x="2752113" y="0"/>
                  </a:lnTo>
                  <a:lnTo>
                    <a:pt x="2752113" y="561252"/>
                  </a:lnTo>
                  <a:lnTo>
                    <a:pt x="0" y="561252"/>
                  </a:lnTo>
                  <a:lnTo>
                    <a:pt x="0" y="0"/>
                  </a:lnTo>
                  <a:close/>
                </a:path>
              </a:pathLst>
            </a:custGeom>
            <a:blipFill>
              <a:blip r:embed="rId7"/>
              <a:stretch>
                <a:fillRect t="-8011" b="-8011"/>
              </a:stretch>
            </a:blipFill>
          </p:spPr>
          <p:txBody>
            <a:bodyPr/>
            <a:lstStyle/>
            <a:p>
              <a:endParaRPr lang="en-US"/>
            </a:p>
          </p:txBody>
        </p:sp>
        <p:sp>
          <p:nvSpPr>
            <p:cNvPr id="41" name="Freeform 41"/>
            <p:cNvSpPr/>
            <p:nvPr/>
          </p:nvSpPr>
          <p:spPr>
            <a:xfrm>
              <a:off x="21183636" y="38234"/>
              <a:ext cx="2845090" cy="611110"/>
            </a:xfrm>
            <a:custGeom>
              <a:avLst/>
              <a:gdLst/>
              <a:ahLst/>
              <a:cxnLst/>
              <a:rect l="l" t="t" r="r" b="b"/>
              <a:pathLst>
                <a:path w="2845090" h="611110">
                  <a:moveTo>
                    <a:pt x="0" y="0"/>
                  </a:moveTo>
                  <a:lnTo>
                    <a:pt x="2845090" y="0"/>
                  </a:lnTo>
                  <a:lnTo>
                    <a:pt x="2845090" y="611110"/>
                  </a:lnTo>
                  <a:lnTo>
                    <a:pt x="0" y="611110"/>
                  </a:lnTo>
                  <a:lnTo>
                    <a:pt x="0" y="0"/>
                  </a:lnTo>
                  <a:close/>
                </a:path>
              </a:pathLst>
            </a:custGeom>
            <a:blipFill>
              <a:blip r:embed="rId8"/>
              <a:stretch>
                <a:fillRect t="-185025" r="-497" b="-182852"/>
              </a:stretch>
            </a:blipFill>
          </p:spPr>
          <p:txBody>
            <a:bodyPr/>
            <a:lstStyle/>
            <a:p>
              <a:endParaRPr lang="en-US"/>
            </a:p>
          </p:txBody>
        </p:sp>
      </p:grpSp>
      <p:grpSp>
        <p:nvGrpSpPr>
          <p:cNvPr id="42" name="Group 42"/>
          <p:cNvGrpSpPr/>
          <p:nvPr/>
        </p:nvGrpSpPr>
        <p:grpSpPr>
          <a:xfrm>
            <a:off x="12682059" y="8989796"/>
            <a:ext cx="4577241" cy="537008"/>
            <a:chOff x="0" y="0"/>
            <a:chExt cx="6102987" cy="716010"/>
          </a:xfrm>
        </p:grpSpPr>
        <p:grpSp>
          <p:nvGrpSpPr>
            <p:cNvPr id="43" name="Group 43"/>
            <p:cNvGrpSpPr/>
            <p:nvPr/>
          </p:nvGrpSpPr>
          <p:grpSpPr>
            <a:xfrm>
              <a:off x="0" y="0"/>
              <a:ext cx="6102987" cy="716010"/>
              <a:chOff x="0" y="0"/>
              <a:chExt cx="1205528" cy="141434"/>
            </a:xfrm>
          </p:grpSpPr>
          <p:sp>
            <p:nvSpPr>
              <p:cNvPr id="44" name="Freeform 44"/>
              <p:cNvSpPr/>
              <p:nvPr/>
            </p:nvSpPr>
            <p:spPr>
              <a:xfrm>
                <a:off x="0" y="0"/>
                <a:ext cx="1205528" cy="141434"/>
              </a:xfrm>
              <a:custGeom>
                <a:avLst/>
                <a:gdLst/>
                <a:ahLst/>
                <a:cxnLst/>
                <a:rect l="l" t="t" r="r" b="b"/>
                <a:pathLst>
                  <a:path w="1205528" h="141434">
                    <a:moveTo>
                      <a:pt x="0" y="0"/>
                    </a:moveTo>
                    <a:lnTo>
                      <a:pt x="1205528" y="0"/>
                    </a:lnTo>
                    <a:lnTo>
                      <a:pt x="1205528" y="141434"/>
                    </a:lnTo>
                    <a:lnTo>
                      <a:pt x="0" y="141434"/>
                    </a:lnTo>
                    <a:close/>
                  </a:path>
                </a:pathLst>
              </a:custGeom>
              <a:solidFill>
                <a:srgbClr val="EA580C"/>
              </a:solidFill>
            </p:spPr>
            <p:txBody>
              <a:bodyPr/>
              <a:lstStyle/>
              <a:p>
                <a:endParaRPr lang="en-US"/>
              </a:p>
            </p:txBody>
          </p:sp>
          <p:sp>
            <p:nvSpPr>
              <p:cNvPr id="45" name="TextBox 45"/>
              <p:cNvSpPr txBox="1"/>
              <p:nvPr/>
            </p:nvSpPr>
            <p:spPr>
              <a:xfrm>
                <a:off x="0" y="-57150"/>
                <a:ext cx="1205528" cy="198584"/>
              </a:xfrm>
              <a:prstGeom prst="rect">
                <a:avLst/>
              </a:prstGeom>
            </p:spPr>
            <p:txBody>
              <a:bodyPr lIns="50800" tIns="50800" rIns="50800" bIns="50800" rtlCol="0" anchor="ctr"/>
              <a:lstStyle/>
              <a:p>
                <a:pPr algn="ctr">
                  <a:lnSpc>
                    <a:spcPts val="2510"/>
                  </a:lnSpc>
                </a:pPr>
                <a:endParaRPr/>
              </a:p>
            </p:txBody>
          </p:sp>
        </p:grpSp>
        <p:sp>
          <p:nvSpPr>
            <p:cNvPr id="46" name="Freeform 46"/>
            <p:cNvSpPr/>
            <p:nvPr/>
          </p:nvSpPr>
          <p:spPr>
            <a:xfrm>
              <a:off x="5542105" y="76200"/>
              <a:ext cx="509929" cy="509929"/>
            </a:xfrm>
            <a:custGeom>
              <a:avLst/>
              <a:gdLst/>
              <a:ahLst/>
              <a:cxnLst/>
              <a:rect l="l" t="t" r="r" b="b"/>
              <a:pathLst>
                <a:path w="509929" h="509929">
                  <a:moveTo>
                    <a:pt x="0" y="0"/>
                  </a:moveTo>
                  <a:lnTo>
                    <a:pt x="509930" y="0"/>
                  </a:lnTo>
                  <a:lnTo>
                    <a:pt x="509930" y="509929"/>
                  </a:lnTo>
                  <a:lnTo>
                    <a:pt x="0" y="509929"/>
                  </a:lnTo>
                  <a:lnTo>
                    <a:pt x="0" y="0"/>
                  </a:lnTo>
                  <a:close/>
                </a:path>
              </a:pathLst>
            </a:custGeom>
            <a:blipFill>
              <a:blip r:embed="rId9"/>
              <a:stretch>
                <a:fillRect/>
              </a:stretch>
            </a:blipFill>
          </p:spPr>
          <p:txBody>
            <a:bodyPr/>
            <a:lstStyle/>
            <a:p>
              <a:endParaRPr lang="en-US"/>
            </a:p>
          </p:txBody>
        </p:sp>
        <p:sp>
          <p:nvSpPr>
            <p:cNvPr id="47" name="TextBox 47"/>
            <p:cNvSpPr txBox="1"/>
            <p:nvPr/>
          </p:nvSpPr>
          <p:spPr>
            <a:xfrm>
              <a:off x="53330" y="168411"/>
              <a:ext cx="4035665" cy="359410"/>
            </a:xfrm>
            <a:prstGeom prst="rect">
              <a:avLst/>
            </a:prstGeom>
          </p:spPr>
          <p:txBody>
            <a:bodyPr lIns="0" tIns="0" rIns="0" bIns="0" rtlCol="0" anchor="t">
              <a:spAutoFit/>
            </a:bodyPr>
            <a:lstStyle/>
            <a:p>
              <a:pPr algn="l">
                <a:lnSpc>
                  <a:spcPts val="1980"/>
                </a:lnSpc>
              </a:pPr>
              <a:r>
                <a:rPr lang="en-US" sz="1650" b="1" spc="132">
                  <a:solidFill>
                    <a:srgbClr val="FFFFFF"/>
                  </a:solidFill>
                  <a:latin typeface="Arial Bold"/>
                  <a:ea typeface="Arial Bold"/>
                  <a:cs typeface="Arial Bold"/>
                  <a:sym typeface="Arial Bold"/>
                </a:rPr>
                <a:t>LIVE DEMO</a:t>
              </a:r>
            </a:p>
          </p:txBody>
        </p:sp>
      </p:grpSp>
      <p:grpSp>
        <p:nvGrpSpPr>
          <p:cNvPr id="48" name="Group 48"/>
          <p:cNvGrpSpPr/>
          <p:nvPr/>
        </p:nvGrpSpPr>
        <p:grpSpPr>
          <a:xfrm>
            <a:off x="0" y="6534666"/>
            <a:ext cx="6223908" cy="3143569"/>
            <a:chOff x="0" y="0"/>
            <a:chExt cx="8298544" cy="4191425"/>
          </a:xfrm>
        </p:grpSpPr>
        <p:sp>
          <p:nvSpPr>
            <p:cNvPr id="49" name="Freeform 49"/>
            <p:cNvSpPr/>
            <p:nvPr/>
          </p:nvSpPr>
          <p:spPr>
            <a:xfrm>
              <a:off x="0" y="0"/>
              <a:ext cx="8298583" cy="4191464"/>
            </a:xfrm>
            <a:custGeom>
              <a:avLst/>
              <a:gdLst/>
              <a:ahLst/>
              <a:cxnLst/>
              <a:rect l="l" t="t" r="r" b="b"/>
              <a:pathLst>
                <a:path w="8298583" h="4191464">
                  <a:moveTo>
                    <a:pt x="0" y="0"/>
                  </a:moveTo>
                  <a:lnTo>
                    <a:pt x="8298583" y="0"/>
                  </a:lnTo>
                  <a:lnTo>
                    <a:pt x="8298583" y="4191464"/>
                  </a:lnTo>
                  <a:lnTo>
                    <a:pt x="0" y="4191464"/>
                  </a:lnTo>
                  <a:lnTo>
                    <a:pt x="0" y="0"/>
                  </a:lnTo>
                  <a:close/>
                </a:path>
              </a:pathLst>
            </a:custGeom>
            <a:blipFill>
              <a:blip r:embed="rId10"/>
              <a:stretch>
                <a:fillRect t="-1020" r="-8788" b="-1020"/>
              </a:stretch>
            </a:blipFill>
          </p:spPr>
          <p:txBody>
            <a:bodyPr/>
            <a:lstStyle/>
            <a:p>
              <a:endParaRPr lang="en-US"/>
            </a:p>
          </p:txBody>
        </p:sp>
      </p:grpSp>
      <p:sp>
        <p:nvSpPr>
          <p:cNvPr id="50" name="Freeform 50"/>
          <p:cNvSpPr/>
          <p:nvPr/>
        </p:nvSpPr>
        <p:spPr>
          <a:xfrm>
            <a:off x="6262008" y="3418969"/>
            <a:ext cx="2881992" cy="6259267"/>
          </a:xfrm>
          <a:custGeom>
            <a:avLst/>
            <a:gdLst/>
            <a:ahLst/>
            <a:cxnLst/>
            <a:rect l="l" t="t" r="r" b="b"/>
            <a:pathLst>
              <a:path w="2881992" h="6259267">
                <a:moveTo>
                  <a:pt x="0" y="0"/>
                </a:moveTo>
                <a:lnTo>
                  <a:pt x="2881992" y="0"/>
                </a:lnTo>
                <a:lnTo>
                  <a:pt x="2881992" y="6259266"/>
                </a:lnTo>
                <a:lnTo>
                  <a:pt x="0" y="6259266"/>
                </a:lnTo>
                <a:lnTo>
                  <a:pt x="0" y="0"/>
                </a:lnTo>
                <a:close/>
              </a:path>
            </a:pathLst>
          </a:custGeom>
          <a:blipFill>
            <a:blip r:embed="rId11"/>
            <a:stretch>
              <a:fillRect l="-1291" r="-4030"/>
            </a:stretch>
          </a:blipFill>
        </p:spPr>
        <p:txBody>
          <a:bodyPr/>
          <a:lstStyle/>
          <a:p>
            <a:endParaRPr lang="en-US"/>
          </a:p>
        </p:txBody>
      </p:sp>
      <p:sp>
        <p:nvSpPr>
          <p:cNvPr id="51" name="TextBox 51"/>
          <p:cNvSpPr txBox="1"/>
          <p:nvPr/>
        </p:nvSpPr>
        <p:spPr>
          <a:xfrm>
            <a:off x="15787211" y="802005"/>
            <a:ext cx="1443395" cy="247650"/>
          </a:xfrm>
          <a:prstGeom prst="rect">
            <a:avLst/>
          </a:prstGeom>
        </p:spPr>
        <p:txBody>
          <a:bodyPr lIns="0" tIns="0" rIns="0" bIns="0" rtlCol="0" anchor="t">
            <a:spAutoFit/>
          </a:bodyPr>
          <a:lstStyle/>
          <a:p>
            <a:pPr algn="l">
              <a:lnSpc>
                <a:spcPts val="1831"/>
              </a:lnSpc>
            </a:pPr>
            <a:r>
              <a:rPr lang="en-US" sz="1526" spc="66">
                <a:solidFill>
                  <a:srgbClr val="FFFFFF"/>
                </a:solidFill>
                <a:latin typeface="Arial"/>
                <a:ea typeface="Arial"/>
                <a:cs typeface="Arial"/>
                <a:sym typeface="Arial"/>
              </a:rPr>
              <a:t>12 / 12 · DEMO</a:t>
            </a:r>
          </a:p>
        </p:txBody>
      </p:sp>
      <p:sp>
        <p:nvSpPr>
          <p:cNvPr id="52" name="TextBox 52"/>
          <p:cNvSpPr txBox="1"/>
          <p:nvPr/>
        </p:nvSpPr>
        <p:spPr>
          <a:xfrm>
            <a:off x="977903" y="2324100"/>
            <a:ext cx="9982829" cy="700918"/>
          </a:xfrm>
          <a:prstGeom prst="rect">
            <a:avLst/>
          </a:prstGeom>
        </p:spPr>
        <p:txBody>
          <a:bodyPr lIns="0" tIns="0" rIns="0" bIns="0" rtlCol="0" anchor="t">
            <a:spAutoFit/>
          </a:bodyPr>
          <a:lstStyle/>
          <a:p>
            <a:pPr algn="l">
              <a:lnSpc>
                <a:spcPts val="5034"/>
              </a:lnSpc>
            </a:pPr>
            <a:r>
              <a:rPr lang="en-US" sz="4995" b="1" spc="-107">
                <a:solidFill>
                  <a:srgbClr val="0B1F23"/>
                </a:solidFill>
                <a:latin typeface="Arial Bold"/>
                <a:ea typeface="Arial Bold"/>
                <a:cs typeface="Arial Bold"/>
                <a:sym typeface="Arial Bold"/>
              </a:rPr>
              <a:t>Let the system speak for itself.</a:t>
            </a:r>
          </a:p>
        </p:txBody>
      </p:sp>
      <p:sp>
        <p:nvSpPr>
          <p:cNvPr id="53" name="TextBox 53"/>
          <p:cNvSpPr txBox="1"/>
          <p:nvPr/>
        </p:nvSpPr>
        <p:spPr>
          <a:xfrm>
            <a:off x="10960732" y="3613147"/>
            <a:ext cx="2783195"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STEP 01</a:t>
            </a:r>
          </a:p>
        </p:txBody>
      </p:sp>
      <p:sp>
        <p:nvSpPr>
          <p:cNvPr id="54" name="TextBox 54"/>
          <p:cNvSpPr txBox="1"/>
          <p:nvPr/>
        </p:nvSpPr>
        <p:spPr>
          <a:xfrm>
            <a:off x="10960732" y="4035428"/>
            <a:ext cx="2783195" cy="294008"/>
          </a:xfrm>
          <a:prstGeom prst="rect">
            <a:avLst/>
          </a:prstGeom>
        </p:spPr>
        <p:txBody>
          <a:bodyPr lIns="0" tIns="0" rIns="0" bIns="0" rtlCol="0" anchor="t">
            <a:spAutoFit/>
          </a:bodyPr>
          <a:lstStyle/>
          <a:p>
            <a:pPr algn="l">
              <a:lnSpc>
                <a:spcPts val="2077"/>
              </a:lnSpc>
            </a:pPr>
            <a:r>
              <a:rPr lang="en-US" sz="1803" b="1">
                <a:solidFill>
                  <a:srgbClr val="0B1F23"/>
                </a:solidFill>
                <a:latin typeface="Arial Bold"/>
                <a:ea typeface="Arial Bold"/>
                <a:cs typeface="Arial Bold"/>
                <a:sym typeface="Arial Bold"/>
              </a:rPr>
              <a:t>Paste</a:t>
            </a:r>
          </a:p>
        </p:txBody>
      </p:sp>
      <p:sp>
        <p:nvSpPr>
          <p:cNvPr id="55" name="TextBox 55"/>
          <p:cNvSpPr txBox="1"/>
          <p:nvPr/>
        </p:nvSpPr>
        <p:spPr>
          <a:xfrm>
            <a:off x="10960732" y="4408808"/>
            <a:ext cx="2783195" cy="577699"/>
          </a:xfrm>
          <a:prstGeom prst="rect">
            <a:avLst/>
          </a:prstGeom>
        </p:spPr>
        <p:txBody>
          <a:bodyPr lIns="0" tIns="0" rIns="0" bIns="0" rtlCol="0" anchor="t">
            <a:spAutoFit/>
          </a:bodyPr>
          <a:lstStyle/>
          <a:p>
            <a:pPr algn="l">
              <a:lnSpc>
                <a:spcPts val="2307"/>
              </a:lnSpc>
            </a:pPr>
            <a:r>
              <a:rPr lang="en-US" sz="1526">
                <a:solidFill>
                  <a:srgbClr val="526664"/>
                </a:solidFill>
                <a:latin typeface="Arial"/>
                <a:ea typeface="Arial"/>
                <a:cs typeface="Arial"/>
                <a:sym typeface="Arial"/>
              </a:rPr>
              <a:t>Paste complaint + optional image</a:t>
            </a:r>
          </a:p>
        </p:txBody>
      </p:sp>
      <p:sp>
        <p:nvSpPr>
          <p:cNvPr id="56" name="TextBox 56"/>
          <p:cNvSpPr txBox="1"/>
          <p:nvPr/>
        </p:nvSpPr>
        <p:spPr>
          <a:xfrm>
            <a:off x="14394818" y="3613147"/>
            <a:ext cx="2761612"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STEP 02</a:t>
            </a:r>
          </a:p>
        </p:txBody>
      </p:sp>
      <p:sp>
        <p:nvSpPr>
          <p:cNvPr id="57" name="TextBox 57"/>
          <p:cNvSpPr txBox="1"/>
          <p:nvPr/>
        </p:nvSpPr>
        <p:spPr>
          <a:xfrm>
            <a:off x="14394818" y="4035428"/>
            <a:ext cx="2761612" cy="294008"/>
          </a:xfrm>
          <a:prstGeom prst="rect">
            <a:avLst/>
          </a:prstGeom>
        </p:spPr>
        <p:txBody>
          <a:bodyPr lIns="0" tIns="0" rIns="0" bIns="0" rtlCol="0" anchor="t">
            <a:spAutoFit/>
          </a:bodyPr>
          <a:lstStyle/>
          <a:p>
            <a:pPr algn="l">
              <a:lnSpc>
                <a:spcPts val="2077"/>
              </a:lnSpc>
            </a:pPr>
            <a:r>
              <a:rPr lang="en-US" sz="1803" b="1">
                <a:solidFill>
                  <a:srgbClr val="0B1F23"/>
                </a:solidFill>
                <a:latin typeface="Arial Bold"/>
                <a:ea typeface="Arial Bold"/>
                <a:cs typeface="Arial Bold"/>
                <a:sym typeface="Arial Bold"/>
              </a:rPr>
              <a:t>Watch</a:t>
            </a:r>
          </a:p>
        </p:txBody>
      </p:sp>
      <p:sp>
        <p:nvSpPr>
          <p:cNvPr id="58" name="TextBox 58"/>
          <p:cNvSpPr txBox="1"/>
          <p:nvPr/>
        </p:nvSpPr>
        <p:spPr>
          <a:xfrm>
            <a:off x="14384655" y="4408808"/>
            <a:ext cx="2761612" cy="577699"/>
          </a:xfrm>
          <a:prstGeom prst="rect">
            <a:avLst/>
          </a:prstGeom>
        </p:spPr>
        <p:txBody>
          <a:bodyPr lIns="0" tIns="0" rIns="0" bIns="0" rtlCol="0" anchor="t">
            <a:spAutoFit/>
          </a:bodyPr>
          <a:lstStyle/>
          <a:p>
            <a:pPr algn="l">
              <a:lnSpc>
                <a:spcPts val="2307"/>
              </a:lnSpc>
            </a:pPr>
            <a:r>
              <a:rPr lang="en-US" sz="1526">
                <a:solidFill>
                  <a:srgbClr val="526664"/>
                </a:solidFill>
                <a:latin typeface="Arial"/>
                <a:ea typeface="Arial"/>
                <a:cs typeface="Arial"/>
                <a:sym typeface="Arial"/>
              </a:rPr>
              <a:t>Watch text + visual evidence agents</a:t>
            </a:r>
          </a:p>
        </p:txBody>
      </p:sp>
      <p:sp>
        <p:nvSpPr>
          <p:cNvPr id="59" name="TextBox 59"/>
          <p:cNvSpPr txBox="1"/>
          <p:nvPr/>
        </p:nvSpPr>
        <p:spPr>
          <a:xfrm>
            <a:off x="10960732" y="5781037"/>
            <a:ext cx="2783195"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STEP 03</a:t>
            </a:r>
          </a:p>
        </p:txBody>
      </p:sp>
      <p:sp>
        <p:nvSpPr>
          <p:cNvPr id="60" name="TextBox 60"/>
          <p:cNvSpPr txBox="1"/>
          <p:nvPr/>
        </p:nvSpPr>
        <p:spPr>
          <a:xfrm>
            <a:off x="10960732" y="6203318"/>
            <a:ext cx="2783195" cy="294008"/>
          </a:xfrm>
          <a:prstGeom prst="rect">
            <a:avLst/>
          </a:prstGeom>
        </p:spPr>
        <p:txBody>
          <a:bodyPr lIns="0" tIns="0" rIns="0" bIns="0" rtlCol="0" anchor="t">
            <a:spAutoFit/>
          </a:bodyPr>
          <a:lstStyle/>
          <a:p>
            <a:pPr algn="l">
              <a:lnSpc>
                <a:spcPts val="2077"/>
              </a:lnSpc>
            </a:pPr>
            <a:r>
              <a:rPr lang="en-US" sz="1803" b="1">
                <a:solidFill>
                  <a:srgbClr val="0B1F23"/>
                </a:solidFill>
                <a:latin typeface="Arial Bold"/>
                <a:ea typeface="Arial Bold"/>
                <a:cs typeface="Arial Bold"/>
                <a:sym typeface="Arial Bold"/>
              </a:rPr>
              <a:t>Review</a:t>
            </a:r>
          </a:p>
        </p:txBody>
      </p:sp>
      <p:sp>
        <p:nvSpPr>
          <p:cNvPr id="61" name="TextBox 61"/>
          <p:cNvSpPr txBox="1"/>
          <p:nvPr/>
        </p:nvSpPr>
        <p:spPr>
          <a:xfrm>
            <a:off x="10960732" y="6576698"/>
            <a:ext cx="2783195" cy="863449"/>
          </a:xfrm>
          <a:prstGeom prst="rect">
            <a:avLst/>
          </a:prstGeom>
        </p:spPr>
        <p:txBody>
          <a:bodyPr lIns="0" tIns="0" rIns="0" bIns="0" rtlCol="0" anchor="t">
            <a:spAutoFit/>
          </a:bodyPr>
          <a:lstStyle/>
          <a:p>
            <a:pPr algn="l">
              <a:lnSpc>
                <a:spcPts val="2307"/>
              </a:lnSpc>
            </a:pPr>
            <a:r>
              <a:rPr lang="en-US" sz="1526">
                <a:solidFill>
                  <a:srgbClr val="526664"/>
                </a:solidFill>
                <a:latin typeface="Arial"/>
                <a:ea typeface="Arial"/>
                <a:cs typeface="Arial"/>
                <a:sym typeface="Arial"/>
              </a:rPr>
              <a:t>Review decision, visual evidence, bilingual reply, confidence</a:t>
            </a:r>
          </a:p>
        </p:txBody>
      </p:sp>
      <p:sp>
        <p:nvSpPr>
          <p:cNvPr id="62" name="TextBox 62"/>
          <p:cNvSpPr txBox="1"/>
          <p:nvPr/>
        </p:nvSpPr>
        <p:spPr>
          <a:xfrm>
            <a:off x="14373863" y="5781037"/>
            <a:ext cx="2783195" cy="285750"/>
          </a:xfrm>
          <a:prstGeom prst="rect">
            <a:avLst/>
          </a:prstGeom>
        </p:spPr>
        <p:txBody>
          <a:bodyPr lIns="0" tIns="0" rIns="0" bIns="0" rtlCol="0" anchor="t">
            <a:spAutoFit/>
          </a:bodyPr>
          <a:lstStyle/>
          <a:p>
            <a:pPr algn="l">
              <a:lnSpc>
                <a:spcPts val="1980"/>
              </a:lnSpc>
            </a:pPr>
            <a:r>
              <a:rPr lang="en-US" sz="1650" b="1" spc="132">
                <a:solidFill>
                  <a:srgbClr val="EA580C"/>
                </a:solidFill>
                <a:latin typeface="Arial Bold"/>
                <a:ea typeface="Arial Bold"/>
                <a:cs typeface="Arial Bold"/>
                <a:sym typeface="Arial Bold"/>
              </a:rPr>
              <a:t>STEP 04</a:t>
            </a:r>
          </a:p>
        </p:txBody>
      </p:sp>
      <p:sp>
        <p:nvSpPr>
          <p:cNvPr id="63" name="TextBox 63"/>
          <p:cNvSpPr txBox="1"/>
          <p:nvPr/>
        </p:nvSpPr>
        <p:spPr>
          <a:xfrm>
            <a:off x="14373863" y="6203318"/>
            <a:ext cx="2783195" cy="294008"/>
          </a:xfrm>
          <a:prstGeom prst="rect">
            <a:avLst/>
          </a:prstGeom>
        </p:spPr>
        <p:txBody>
          <a:bodyPr lIns="0" tIns="0" rIns="0" bIns="0" rtlCol="0" anchor="t">
            <a:spAutoFit/>
          </a:bodyPr>
          <a:lstStyle/>
          <a:p>
            <a:pPr algn="l">
              <a:lnSpc>
                <a:spcPts val="2077"/>
              </a:lnSpc>
            </a:pPr>
            <a:r>
              <a:rPr lang="en-US" sz="1803" b="1">
                <a:solidFill>
                  <a:srgbClr val="0B1F23"/>
                </a:solidFill>
                <a:latin typeface="Arial Bold"/>
                <a:ea typeface="Arial Bold"/>
                <a:cs typeface="Arial Bold"/>
                <a:sym typeface="Arial Bold"/>
              </a:rPr>
              <a:t>Approve</a:t>
            </a:r>
          </a:p>
        </p:txBody>
      </p:sp>
      <p:sp>
        <p:nvSpPr>
          <p:cNvPr id="64" name="TextBox 64"/>
          <p:cNvSpPr txBox="1"/>
          <p:nvPr/>
        </p:nvSpPr>
        <p:spPr>
          <a:xfrm>
            <a:off x="14373863" y="6576698"/>
            <a:ext cx="2783195" cy="291949"/>
          </a:xfrm>
          <a:prstGeom prst="rect">
            <a:avLst/>
          </a:prstGeom>
        </p:spPr>
        <p:txBody>
          <a:bodyPr lIns="0" tIns="0" rIns="0" bIns="0" rtlCol="0" anchor="t">
            <a:spAutoFit/>
          </a:bodyPr>
          <a:lstStyle/>
          <a:p>
            <a:pPr algn="l">
              <a:lnSpc>
                <a:spcPts val="2307"/>
              </a:lnSpc>
            </a:pPr>
            <a:r>
              <a:rPr lang="en-US" sz="1526">
                <a:solidFill>
                  <a:srgbClr val="526664"/>
                </a:solidFill>
                <a:latin typeface="Arial"/>
                <a:ea typeface="Arial"/>
                <a:cs typeface="Arial"/>
                <a:sym typeface="Arial"/>
              </a:rPr>
              <a:t>Approve or request clarification</a:t>
            </a:r>
          </a:p>
        </p:txBody>
      </p:sp>
      <p:sp>
        <p:nvSpPr>
          <p:cNvPr id="65" name="TextBox 65"/>
          <p:cNvSpPr txBox="1"/>
          <p:nvPr/>
        </p:nvSpPr>
        <p:spPr>
          <a:xfrm>
            <a:off x="1028700" y="1678305"/>
            <a:ext cx="3026749" cy="274320"/>
          </a:xfrm>
          <a:prstGeom prst="rect">
            <a:avLst/>
          </a:prstGeom>
        </p:spPr>
        <p:txBody>
          <a:bodyPr lIns="0" tIns="0" rIns="0" bIns="0" rtlCol="0" anchor="t">
            <a:spAutoFit/>
          </a:bodyPr>
          <a:lstStyle/>
          <a:p>
            <a:pPr algn="l">
              <a:lnSpc>
                <a:spcPts val="1980"/>
              </a:lnSpc>
            </a:pPr>
            <a:r>
              <a:rPr lang="en-US" sz="1650" b="1" spc="132">
                <a:solidFill>
                  <a:srgbClr val="0F766E"/>
                </a:solidFill>
                <a:latin typeface="Arial Bold"/>
                <a:ea typeface="Arial Bold"/>
                <a:cs typeface="Arial Bold"/>
                <a:sym typeface="Arial Bold"/>
              </a:rPr>
              <a:t>PRODUCT DEMO FLOW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403F53"/>
      </a:dk1>
      <a:lt1>
        <a:sysClr val="window" lastClr="F6F6F6"/>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403F53"/>
      </a:dk1>
      <a:lt1>
        <a:sysClr val="window" lastClr="F6F6F6"/>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2161</Words>
  <Application>Microsoft Office PowerPoint</Application>
  <PresentationFormat>Custom</PresentationFormat>
  <Paragraphs>338</Paragraphs>
  <Slides>12</Slides>
  <Notes>12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Glacial Indifference</vt:lpstr>
      <vt:lpstr>Calibri</vt:lpstr>
      <vt:lpstr>Arial Bold Italics</vt:lpstr>
      <vt:lpstr>Arial Bold</vt:lpstr>
      <vt:lpstr>Arial Italics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Komplain_ai.pptx</dc:title>
  <cp:lastModifiedBy>MOHAMED HEMDAN ABDELAZIZ ABDELSALAM SAFAAN</cp:lastModifiedBy>
  <cp:revision>2</cp:revision>
  <dcterms:created xsi:type="dcterms:W3CDTF">2006-08-16T00:00:00Z</dcterms:created>
  <dcterms:modified xsi:type="dcterms:W3CDTF">2026-05-02T22:31:39Z</dcterms:modified>
  <dc:identifier>DAHIexbv5D0</dc:identifier>
</cp:coreProperties>
</file>